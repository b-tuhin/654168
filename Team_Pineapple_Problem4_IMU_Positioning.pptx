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Team Pineapple, presenting our work on Problem 4: IMU-based indoor positioning for drones and robots. Our goal was to estimate 2D and 3D position using only a 60 Hz accelerometer and gyroscope, building our pipeline in stages so we could measure what each stage adds. We tested every stage on a 9.36 m smartphone square walk and on the 58.58 m EuRoC V1_01 drone dataset, and we report both what worked and which performance tiers were not met.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Indoors we have no GPS, and an inertial measurement unit on its own drifts quickly because we rotate accelerometer samples into the room frame, subtract gravity, and integrate twice. Under double integration, any small accelerometer bias or gravity leaking through a tilt error grows with time squared. The problem statement sets three tiers: under 1 m in the first 30 seconds for Core, 3% of a 50 m path—about 1.5 m—for Main, and under 0.3 m with a low-cost aid or a fixed-point microcontroller port for Bonus.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02 shows our complete pipeline in one picture. Resampled 60 Hz IMU readings pass through offline calibration into a 15-state error-state Kalman filter tracking position, velocity, orientation, and both sensor biases. Two corrections come purely from the IMU itself: a gravity update when not accelerating much, and a zero-velocity still update at stops. The dashed cream boxes mark what goes beyond real-time IMU-only operation: optional position fixes from declared aids, and a leg de-drift step that runs only after the next stop is detected and is therefore not real-time.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problem statement requires stating all aiding explicitly, this table separates every run family. All plain runs, Mahony, ZUPT, and the unaided ESKF use zero outside information—gravity direction and stop detection come strictly from the IMU. Leg de-drift also uses no outside sensors, though it waits for the next stop and is not real-time. For the phone corner-mark runs, we gave taped coordinates at corners 1, 2, and 3 but left the final stop back at the start un-aided as an honest test. On EuRoC, all aiding is simulated from ground truth plus noise.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01 shows our six-position calibration test where we held the phone still with each axis pointing up and down for about 15 seconds, finding still stretches by low wiggle rather than vector length. Least-squares fitting found a large +0.2462 m/s² bias on the z-axis and a mean gyro bias over all still stretches. Note that the y-up hold lasted only about 2.5 seconds, which slightly limits how well the y-axis is determined.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six static positions determine six unknowns exactly, getting zero residual error after calibration proves nothing by itself. Our real verification is the independent per-axis formula cross-check on the left, which agrees with least squares to about 0.01 m/s² in bias and 0.003 in scale. On the right, we state our calibration gaps openly: we did not calibrate accelerometer misalignment or gyro scale because six static holds cannot observe off-diagonal axis coupling or rotation scale factors.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presenting a black-box filter, we built five stages from plain trapezoid-rule double integration up to leg de-drift. Stage B uses a Mahony filter with gain Kp equal to 0.5 so gravity keeps roll and pitch from drifting. Stage C clamps velocity to zero whenever the gyro is below 0.05 rad/s and acceleration is within 0.3 m/s² of gravity for at least 0.2 seconds. Stage E removes residual end-of-leg velocity error after the next stop is detected, which gives our lowest stop errors but is not real-time.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details the internal design of our 15-state error-state Kalman filter. On the left, the filter updates itself without external aids using gravity direction at most every 0.5 seconds when acceleration is quiet, and still updates at stops where velocity is zeroed with 0.02 m/s uncertainty and gyro bias is updated with 0.01 rad/s uncertainty. On the right, we note two crucial practical details: we inflated white-noise densities by 20 times on the accelerometer and 10 times on the gyro as engineering guesses to handle vibration, and we apply one virtual measurement at startup so the covariance matrix knows initial tilt and accelerometer bias are correlated.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our smartphone experiment, we walked a tape-measured 2.34 m square—9.36 m in total—recording 4,782 samples at 60 Hz over 79.7 seconds. Figure 03 shows the raw accelerometer and gyroscope signals with the five detected corner stops shaded in gray, and the four 90-degree turns clearly visible as four sharp negative spikes in gyro z. We score position error 0.3 seconds after arriving at each corner, and we state openly that fitting the first leg's 71-degree heading from the data makes stop errors slightly flattering.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04 compares the ideal 2.34 m square against our raw run, our ESKF leg de-drift run, and the corner-marks run. While raw integration flies off to 143.92 m at the final stop and 211 m by the end of the file, ESKF leg de-drift returns to within 0.59 m of the start and averages 0.72 m across all four corners. However, even when stop errors look good, individual leg lengths for ESKF leg de-drift are 2.43, 1.67, 1.32, and 2.57 m instead of 2.34 m, forming a rough, wobbly square.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pairs the zoomed overlay of every bounded run in Figure 05 with what each stage contributed. Removing static bias by itself actually made double integration worse—318.44 m mean error—showing how sensitive un-aided integration is to residual tilt. Mahony and ZUPT together cut the final error from 1538% down to 20.9% of the path, online bias learning in the real-time ESKF brought mean stop error down to 1.68 m, and post-stop leg de-drift halved it to 0.72 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Figures 06 and 07 plot stop error against distance walked and time alongside the 1 m Core, 3% Main, and 0.3 m Bonus lines. Why didn't we hit the 3% Main target? Because our test path was 9.36 m rather than 50 m, 3% at the end is only 0.28 m, which our best 0.59 m result misses. We also checked start-time sensitivity: moving the start from 2.0 seconds to 8.0 seconds changed the best mean error by just 0.04 m, confirming that initial handling is not the dominant error source.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9 fits error as distance or time to the power n. An exponent near 2 indicates constant acceleration or tilt leakage under double integration, while n above 2 means tilt error itself is growing. On both the phone and EuRoC, adding Mahony drops n from above 2.5 down to about 1.85 to 2.10—the clearest evidence in our data that holding tilt matters. On the phone walk, adding ZUPT and ESKF drives n to between -0.67 and +0.29 because every stop resets velocity error, leaving about 0.7 m from misalignment, turn yaw drift, and hand motion.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Figures 10 and 11 show what happens when we re-run the exact same phone recording with offline calibration switched off. The raw run becomes 25 times worse—ending 3,627 m away—because the uncalibrated z-axis reads 9.995 m/s² at rest. By contrast, the filtered runs hardly move because they estimate gyro bias and gravity from the startup window, learn accelerometer bias online, and zero velocity at every stop. However, without calibration, leg de-drift ESKF reaches 1.01 m at Stop 1, missing Core by 1 cm and proving its Core pass is marginal.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next evaluated our pipeline on the 58.58 m, 145-second EuRoC V1_01 drone flight with real ground truth. Even with best-case heading alignment over the first 30 seconds, every unaided run fails all tiers, with Mahony ending 287 m away. Why is the unaided ESKF worse than Mahony on the drone—80.5 m versus 12.0 m at 30 seconds? Because a flying drone never stops: the stop test passed on only 1% of samples and applied just 101 still-updates, so zero-velocity updates do nothing 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Figures 14 and 15 show the aided EuRoC runs, where we state clearly that all position fixes, UWB ranges, and barometer readings are simulated from ground truth plus noise. With simulated 5-second position fixes, the ESKF passes Core at 0.34 m and Main at 0.36 m or 0.6% of the path, though error grows in a saw-tooth pattern up to 1.95 m between fixes. With gated simulated UWB ranges, mean error drops to 0.12 m and end error to 0.16 m, but the maximum error of 0.43 m still misses the 0.3 m Bonus target by 0.13 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16 demonstrates two key filter properties on EuRoC. First, the black dashed curve shows what the ESKF believes its own 1-sigma position error is during the 5-second position-fix run; it rises between fixes, drops at each update, and mostly stays above the actual error, showing the covariance is well calibrated. Second, the 99% chi-square outlier gate rejected 297 corrupted simulated UWB range readings, reducing the maximum error from 0.80 m without gating down to 0.43 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serves as our demonstration anchor and covers Section 10 on embedded considerations. In Google Colab, five sequential cells run everything from calibration.json generation to all 18 plots with fixed random seed zero. Regarding the embedded criterion: our ESKF processes one sample at a time at 60 Hz with fixed 15 by 15 matrices, so a microcontroller port is plausible, but we state clearly that we did not implement or test fixed-point hardware—that remains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presents our honest tier scorecard from Section 7 of the report. We passed the 1 m Core target on the phone walk only with non-real-time leg de-drift at 0.74 m and 0.93 m, while our real-time unaided ESKF had 2.88 m error at the first stop. Neither Main nor Bonus was met in hardware: our 9.36 m path meant 3% was just 0.28 m compared to our 0.59 m best final stop, floor marks ended at 0.66 m, simulated UWB had a 0.43 m maximum, and no microcontroller port was built.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maps every deliverable required by the problem statement on the left and states our experimental limitations and next steps on the right. Are our parameters overfit? Possibly—because we chose our noise inflation factors, gates, and stop thresholds by engineering judgement while inspecting this single recording, reported errors may be optimistic for new data, and differences of about 0.1 m are within noise. Calibrating misalignment, testing on a 50 m path with a foot-mounted sensor, and implementing a fixed-point port are our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Appendix A1, Figure 08 checks vertical position Z over the 80-second flat-floor walk. Raw and bias-removed runs drift far off scale and are omitted. Even with Mahony orientation correction, vertical position climbs past 5 m without zero-velocity updates, whereas combining tilt correction with ZUPT in the ESKF and leg de-drift keeps vertical height tightly bounded near zero.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Figures 17 and 18 compare the ESKF's online bias and orientation estimates against the EuRoC truth file during the simulated position-fix run. While all three gyro biases and the x and z accelerometer biases lock onto the truth, the y accelerometer bias is estimated at 0.13 m/s² instead of the 0.55 m/s² supported by the data because tilt and horizontal accelerometer bias are hard to separate at start-up. That leaves a mean tilt error of 2.45 degrees, while heading error grows to about 10 degrees because no sensor constrains yaw.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A3 compiles the complete stop-by-stop error table from Section 6 of our report across all ten configurations, alongside the calibration-off results in the right-hand column. Note the asterisks on Stops 1, 2, and 3 for the corner-mark runs: because those corner coordinates were fed to the filter with 0.05 m uncertainty, only Stop 4 back at the origin is an independent test, where ESKF with marks lands at 1.12 m and leg de-drift with marks lands at 0.66 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A4 provides the complete 12-row EuRoC V1_01 error table and tier scorecard from Section 8 of our report. Note that the unaided ESKF path jumps back to about 70 m from the start in the very last samples after the ground-truth file ends; as stated in the report, the table reads the end error of 2,194.80 m before that post-truth jump. All six aided rows use simulated sensors and show that gated UWB comes within 0.13 m of the 0.3 m Bonus ceiling.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to Team Pineapple's presentation on Problem 4. We have all 18 figures, full numerical tables, and our Google Colab notebook ready, and we welcome any questions from the judges.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4114800"/>
          </a:xfrm>
          <a:prstGeom prst="rect">
            <a:avLst/>
          </a:prstGeom>
          <a:noFill/>
        </p:spPr>
        <p:txBody>
          <a:bodyPr wrap="square">
            <a:spAutoFit/>
          </a:bodyPr>
          <a:lstStyle/>
          <a:p>
            <a:pPr>
              <a:spcAft>
                <a:spcPts val="1800"/>
              </a:spcAft>
            </a:pPr>
            <a:r>
              <a:rPr sz="4000" b="1">
                <a:solidFill>
                  <a:srgbClr val="F8FAFC"/>
                </a:solidFill>
                <a:latin typeface="Liberation Sans"/>
              </a:rPr>
              <a:t>IMU-Only Indoor Positioning: Calibration, ESKF and Zero-Velocity Updates</a:t>
            </a:r>
          </a:p>
          <a:p>
            <a:pPr>
              <a:spcAft>
                <a:spcPts val="2800"/>
              </a:spcAft>
            </a:pPr>
            <a:r>
              <a:rPr sz="2000">
                <a:solidFill>
                  <a:srgbClr val="CBD5E1"/>
                </a:solidFill>
                <a:latin typeface="Liberation Sans"/>
              </a:rPr>
              <a:t>Staged 60 Hz inertial filtering evaluated on a 9.36 m phone walk and 58.58 m EuRoC drone flight</a:t>
            </a:r>
          </a:p>
          <a:p>
            <a:r>
              <a:rPr sz="1600" b="1">
                <a:solidFill>
                  <a:srgbClr val="93C5FD"/>
                </a:solidFill>
                <a:latin typeface="Liberation Sans"/>
              </a:rPr>
              <a:t>Problem 4  |  Team Pineapple  |  25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1. PROBLEM STATEMENT &amp; SCORING CRITERIA</a:t>
            </a:r>
          </a:p>
          <a:p>
            <a:pPr algn="l"/>
            <a:r>
              <a:rPr sz="2600" b="1">
                <a:solidFill>
                  <a:srgbClr val="1E293B"/>
                </a:solidFill>
                <a:latin typeface="Liberation Sans"/>
              </a:rPr>
              <a:t>Double integration makes raw IMU errors grow as t² against strict tier targets</a:t>
            </a:r>
          </a:p>
        </p:txBody>
      </p:sp>
      <p:graphicFrame>
        <p:nvGraphicFramePr>
          <p:cNvPr id="5" name="Table 4"/>
          <p:cNvGraphicFramePr>
            <a:graphicFrameLocks noGrp="1"/>
          </p:cNvGraphicFramePr>
          <p:nvPr/>
        </p:nvGraphicFramePr>
        <p:xfrm>
          <a:off x="594360" y="2057400"/>
          <a:ext cx="11002975" cy="2377440"/>
        </p:xfrm>
        <a:graphic>
          <a:graphicData uri="http://schemas.openxmlformats.org/drawingml/2006/table">
            <a:tbl>
              <a:tblPr firstRow="1" bandRow="1">
                <a:tableStyleId>{5C22544A-7EE6-4342-B048-85BDC9FD1C3A}</a:tableStyleId>
              </a:tblPr>
              <a:tblGrid>
                <a:gridCol w="1920240"/>
                <a:gridCol w="6339535"/>
                <a:gridCol w="2743200"/>
              </a:tblGrid>
              <a:tr h="402336">
                <a:tc>
                  <a:txBody>
                    <a:bodyPr/>
                    <a:lstStyle/>
                    <a:p>
                      <a:pPr algn="l"/>
                      <a:r>
                        <a:rPr sz="1400" b="1">
                          <a:solidFill>
                            <a:srgbClr val="FFFFFF"/>
                          </a:solidFill>
                          <a:latin typeface="Liberation Sans"/>
                        </a:rPr>
                        <a:t>Performance Tier</a:t>
                      </a:r>
                    </a:p>
                  </a:txBody>
                  <a:tcPr anchor="ctr" marL="73152" marR="73152" marT="27432" marB="27432">
                    <a:solidFill>
                      <a:srgbClr val="2F4B7C"/>
                    </a:solidFill>
                  </a:tcPr>
                </a:tc>
                <a:tc>
                  <a:txBody>
                    <a:bodyPr/>
                    <a:lstStyle/>
                    <a:p>
                      <a:pPr algn="l"/>
                      <a:r>
                        <a:rPr sz="1400" b="1">
                          <a:solidFill>
                            <a:srgbClr val="FFFFFF"/>
                          </a:solidFill>
                          <a:latin typeface="Liberation Sans"/>
                        </a:rPr>
                        <a:t>Problem Statement Requirement</a:t>
                      </a:r>
                    </a:p>
                  </a:txBody>
                  <a:tcPr anchor="ctr" marL="73152" marR="73152" marT="27432" marB="27432">
                    <a:solidFill>
                      <a:srgbClr val="2F4B7C"/>
                    </a:solidFill>
                  </a:tcPr>
                </a:tc>
                <a:tc>
                  <a:txBody>
                    <a:bodyPr/>
                    <a:lstStyle/>
                    <a:p>
                      <a:pPr algn="l"/>
                      <a:r>
                        <a:rPr sz="1400" b="1">
                          <a:solidFill>
                            <a:srgbClr val="FFFFFF"/>
                          </a:solidFill>
                          <a:latin typeface="Liberation Sans"/>
                        </a:rPr>
                        <a:t>Evaluation Weights (100 pts)</a:t>
                      </a:r>
                    </a:p>
                  </a:txBody>
                  <a:tcPr anchor="ctr" marL="73152" marR="73152" marT="27432" marB="27432">
                    <a:solidFill>
                      <a:srgbClr val="2F4B7C"/>
                    </a:solidFill>
                  </a:tcPr>
                </a:tc>
              </a:tr>
              <a:tr h="658368">
                <a:tc>
                  <a:txBody>
                    <a:bodyPr/>
                    <a:lstStyle/>
                    <a:p>
                      <a:pPr algn="l"/>
                      <a:r>
                        <a:rPr sz="1400" b="1">
                          <a:solidFill>
                            <a:srgbClr val="1E293B"/>
                          </a:solidFill>
                          <a:latin typeface="Liberation Sans"/>
                        </a:rPr>
                        <a:t>1. Core Tier</a:t>
                      </a:r>
                    </a:p>
                  </a:txBody>
                  <a:tcPr anchor="ctr" marL="73152" marR="73152" marT="27432" marB="27432">
                    <a:solidFill>
                      <a:srgbClr val="EAF1FA"/>
                    </a:solidFill>
                  </a:tcPr>
                </a:tc>
                <a:tc>
                  <a:txBody>
                    <a:bodyPr/>
                    <a:lstStyle/>
                    <a:p>
                      <a:pPr algn="l"/>
                      <a:r>
                        <a:rPr sz="1400" b="0">
                          <a:solidFill>
                            <a:srgbClr val="1E293B"/>
                          </a:solidFill>
                          <a:latin typeface="Liberation Sans"/>
                        </a:rPr>
                        <a:t>Calibrate bias, scale, misalignment; orientation filter (Madgwick, Mahony, or EKF); error &lt; 1 m in first 30 s.</a:t>
                      </a:r>
                    </a:p>
                  </a:txBody>
                  <a:tcPr anchor="ctr" marL="73152" marR="73152" marT="27432" marB="27432">
                    <a:solidFill>
                      <a:srgbClr val="EAF1FA"/>
                    </a:solidFill>
                  </a:tcPr>
                </a:tc>
                <a:tc>
                  <a:txBody>
                    <a:bodyPr/>
                    <a:lstStyle/>
                    <a:p>
                      <a:pPr algn="l"/>
                      <a:r>
                        <a:rPr sz="1400" b="0">
                          <a:solidFill>
                            <a:srgbClr val="1E293B"/>
                          </a:solidFill>
                          <a:latin typeface="Liberation Sans"/>
                        </a:rPr>
                        <a:t>Accuracy: 35 pts | Filter Design: 20 pts</a:t>
                      </a:r>
                    </a:p>
                  </a:txBody>
                  <a:tcPr anchor="ctr" marL="73152" marR="73152" marT="27432" marB="27432">
                    <a:solidFill>
                      <a:srgbClr val="EAF1FA"/>
                    </a:solidFill>
                  </a:tcPr>
                </a:tc>
              </a:tr>
              <a:tr h="658368">
                <a:tc>
                  <a:txBody>
                    <a:bodyPr/>
                    <a:lstStyle/>
                    <a:p>
                      <a:pPr algn="l"/>
                      <a:r>
                        <a:rPr sz="1400" b="1">
                          <a:solidFill>
                            <a:srgbClr val="1E293B"/>
                          </a:solidFill>
                          <a:latin typeface="Liberation Sans"/>
                        </a:rPr>
                        <a:t>2. Main Target</a:t>
                      </a:r>
                    </a:p>
                  </a:txBody>
                  <a:tcPr anchor="ctr" marL="73152" marR="73152" marT="27432" marB="27432">
                    <a:solidFill>
                      <a:srgbClr val="FFFFFF"/>
                    </a:solidFill>
                  </a:tcPr>
                </a:tc>
                <a:tc>
                  <a:txBody>
                    <a:bodyPr/>
                    <a:lstStyle/>
                    <a:p>
                      <a:pPr algn="l"/>
                      <a:r>
                        <a:rPr sz="1400" b="0">
                          <a:solidFill>
                            <a:srgbClr val="1E293B"/>
                          </a:solidFill>
                          <a:latin typeface="Liberation Sans"/>
                        </a:rPr>
                        <a:t>Position error &lt;= 3% of distance on a marked 50 m path (~1.5 m), with return-to-start error reported.</a:t>
                      </a:r>
                    </a:p>
                  </a:txBody>
                  <a:tcPr anchor="ctr" marL="73152" marR="73152" marT="27432" marB="27432">
                    <a:solidFill>
                      <a:srgbClr val="FFFFFF"/>
                    </a:solidFill>
                  </a:tcPr>
                </a:tc>
                <a:tc>
                  <a:txBody>
                    <a:bodyPr/>
                    <a:lstStyle/>
                    <a:p>
                      <a:pPr algn="l"/>
                      <a:r>
                        <a:rPr sz="1400" b="0">
                          <a:solidFill>
                            <a:srgbClr val="1E293B"/>
                          </a:solidFill>
                          <a:latin typeface="Liberation Sans"/>
                        </a:rPr>
                        <a:t>Calibration &amp; Drift: 15 pts | Embedded: 15 pts</a:t>
                      </a:r>
                    </a:p>
                  </a:txBody>
                  <a:tcPr anchor="ctr" marL="73152" marR="73152" marT="27432" marB="27432">
                    <a:solidFill>
                      <a:srgbClr val="FFFFFF"/>
                    </a:solidFill>
                  </a:tcPr>
                </a:tc>
              </a:tr>
              <a:tr h="658368">
                <a:tc>
                  <a:txBody>
                    <a:bodyPr/>
                    <a:lstStyle/>
                    <a:p>
                      <a:pPr algn="l"/>
                      <a:r>
                        <a:rPr sz="1400" b="1">
                          <a:solidFill>
                            <a:srgbClr val="78350F"/>
                          </a:solidFill>
                          <a:latin typeface="Liberation Sans"/>
                        </a:rPr>
                        <a:t>3. Bonus Tier</a:t>
                      </a:r>
                    </a:p>
                  </a:txBody>
                  <a:tcPr anchor="ctr" marL="73152" marR="73152" marT="27432" marB="27432">
                    <a:solidFill>
                      <a:srgbClr val="FFF6E0"/>
                    </a:solidFill>
                  </a:tcPr>
                </a:tc>
                <a:tc>
                  <a:txBody>
                    <a:bodyPr/>
                    <a:lstStyle/>
                    <a:p>
                      <a:pPr algn="l"/>
                      <a:r>
                        <a:rPr sz="1400" b="1">
                          <a:solidFill>
                            <a:srgbClr val="78350F"/>
                          </a:solidFill>
                          <a:latin typeface="Liberation Sans"/>
                        </a:rPr>
                        <a:t>Add low-cost aid to keep error &lt; 0.3 m, or run fixed-point on a microcontroller.</a:t>
                      </a:r>
                    </a:p>
                  </a:txBody>
                  <a:tcPr anchor="ctr" marL="73152" marR="73152" marT="27432" marB="27432">
                    <a:solidFill>
                      <a:srgbClr val="FFF6E0"/>
                    </a:solidFill>
                  </a:tcPr>
                </a:tc>
                <a:tc>
                  <a:txBody>
                    <a:bodyPr/>
                    <a:lstStyle/>
                    <a:p>
                      <a:pPr algn="l"/>
                      <a:r>
                        <a:rPr sz="1400" b="1">
                          <a:solidFill>
                            <a:srgbClr val="78350F"/>
                          </a:solidFill>
                          <a:latin typeface="Liberation Sans"/>
                        </a:rPr>
                        <a:t>Documentation &amp; Demo: 15 pts</a:t>
                      </a:r>
                    </a:p>
                  </a:txBody>
                  <a:tcPr anchor="ctr" marL="73152" marR="73152" marT="27432" marB="27432">
                    <a:solidFill>
                      <a:srgbClr val="FFF6E0"/>
                    </a:solidFill>
                  </a:tcPr>
                </a:tc>
              </a:tr>
            </a:tbl>
          </a:graphicData>
        </a:graphic>
      </p:graphicFrame>
      <p:sp>
        <p:nvSpPr>
          <p:cNvPr id="6" name="TextBox 5"/>
          <p:cNvSpPr txBox="1"/>
          <p:nvPr/>
        </p:nvSpPr>
        <p:spPr>
          <a:xfrm>
            <a:off x="594360" y="4800600"/>
            <a:ext cx="11002975" cy="1280160"/>
          </a:xfrm>
          <a:prstGeom prst="rect">
            <a:avLst/>
          </a:prstGeom>
          <a:noFill/>
        </p:spPr>
        <p:txBody>
          <a:bodyPr wrap="square" anchor="t" lIns="0" tIns="0" rIns="0" bIns="0">
            <a:spAutoFit/>
          </a:bodyPr>
          <a:lstStyle/>
          <a:p>
            <a:pPr algn="l" marL="201168" indent="-201168">
              <a:spcAft>
                <a:spcPts val="600"/>
              </a:spcAft>
              <a:buFont typeface="Liberation Sans"/>
              <a:buChar char="•"/>
            </a:pPr>
            <a:r>
              <a:rPr sz="1500" b="1">
                <a:solidFill>
                  <a:srgbClr val="1E293B"/>
                </a:solidFill>
                <a:latin typeface="Liberation Sans"/>
              </a:rPr>
              <a:t>Why raw IMU drifts without bound: </a:t>
            </a:r>
            <a:r>
              <a:rPr sz="1400" b="0">
                <a:solidFill>
                  <a:srgbClr val="334155"/>
                </a:solidFill>
                <a:latin typeface="Liberation Sans"/>
              </a:rPr>
              <a:t>Rotating 60 Hz accelerometer samples by gyro-integrated orientation and integrating twice causes any bias or tilt leakage to grow as t² (ending 211 m away on our 9.36 m walk).</a:t>
            </a:r>
          </a:p>
          <a:p>
            <a:pPr algn="l" marL="201168" indent="-201168">
              <a:spcAft>
                <a:spcPts val="600"/>
              </a:spcAft>
              <a:buFont typeface="Liberation Sans"/>
              <a:buChar char="•"/>
            </a:pPr>
            <a:r>
              <a:rPr sz="1500" b="1">
                <a:solidFill>
                  <a:srgbClr val="1E293B"/>
                </a:solidFill>
                <a:latin typeface="Liberation Sans"/>
              </a:rPr>
              <a:t>Allowed aiding rule: </a:t>
            </a:r>
            <a:r>
              <a:rPr sz="1400" b="0">
                <a:solidFill>
                  <a:srgbClr val="334155"/>
                </a:solidFill>
                <a:latin typeface="Liberation Sans"/>
              </a:rPr>
              <a:t>Magnetometer, barometer, ZUPT, wheel odometry, optical flow, map constraints, or low-cost anchors — teams must state exactly what was used.</a:t>
            </a:r>
          </a:p>
        </p:txBody>
      </p:sp>
      <p:sp>
        <p:nvSpPr>
          <p:cNvPr id="7" name="TextBox 6"/>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Section 1: Problem Statement &amp; Evaluation Tiers (2/25)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Picture 3" descr="bleed_3.png"/>
          <p:cNvPicPr>
            <a:picLocks noChangeAspect="1"/>
          </p:cNvPicPr>
          <p:nvPr/>
        </p:nvPicPr>
        <p:blipFill>
          <a:blip r:embed="rId2"/>
          <a:stretch>
            <a:fillRect/>
          </a:stretch>
        </p:blipFill>
        <p:spPr>
          <a:xfrm>
            <a:off x="6096304" y="0"/>
            <a:ext cx="6095390" cy="6858000"/>
          </a:xfrm>
          <a:prstGeom prst="rect">
            <a:avLst/>
          </a:prstGeom>
          <a:ln>
            <a:noFill/>
          </a:ln>
        </p:spPr>
      </p:pic>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94360" y="384048"/>
            <a:ext cx="5257800"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2. SYSTEM ARCHITECTURE (FIGURE 02)</a:t>
            </a:r>
          </a:p>
          <a:p>
            <a:pPr algn="l"/>
            <a:r>
              <a:rPr sz="2500" b="1">
                <a:solidFill>
                  <a:srgbClr val="1E293B"/>
                </a:solidFill>
                <a:latin typeface="Liberation Sans"/>
              </a:rPr>
              <a:t>Calibrated 60 Hz IMU feeds a 15-state ESKF with optional leg de-drift</a:t>
            </a:r>
          </a:p>
        </p:txBody>
      </p:sp>
      <p:sp>
        <p:nvSpPr>
          <p:cNvPr id="6" name="TextBox 5"/>
          <p:cNvSpPr txBox="1"/>
          <p:nvPr/>
        </p:nvSpPr>
        <p:spPr>
          <a:xfrm>
            <a:off x="594360" y="2057400"/>
            <a:ext cx="5257800" cy="3977639"/>
          </a:xfrm>
          <a:prstGeom prst="rect">
            <a:avLst/>
          </a:prstGeom>
          <a:noFill/>
        </p:spPr>
        <p:txBody>
          <a:bodyPr wrap="square" anchor="t" lIns="0" tIns="0" rIns="0" bIns="0">
            <a:spAutoFit/>
          </a:bodyPr>
          <a:lstStyle/>
          <a:p>
            <a:pPr algn="l" marL="201168" indent="-201168">
              <a:spcAft>
                <a:spcPts val="600"/>
              </a:spcAft>
              <a:buFont typeface="Liberation Sans"/>
              <a:buChar char="•"/>
            </a:pPr>
            <a:r>
              <a:rPr sz="1500" b="1">
                <a:solidFill>
                  <a:srgbClr val="1E293B"/>
                </a:solidFill>
                <a:latin typeface="Liberation Sans"/>
              </a:rPr>
              <a:t>Primary 60 Hz chain: </a:t>
            </a:r>
            <a:r>
              <a:rPr sz="1400" b="0">
                <a:solidFill>
                  <a:srgbClr val="334155"/>
                </a:solidFill>
                <a:latin typeface="Liberation Sans"/>
              </a:rPr>
              <a:t>IMU (60 Hz) -&gt; 6-position static calibration -&gt; 15-state error-state Kalman filter (ESKF) -&gt; position, velocity, orientation.</a:t>
            </a:r>
          </a:p>
          <a:p>
            <a:pPr algn="l" marL="201168" indent="-201168">
              <a:spcAft>
                <a:spcPts val="600"/>
              </a:spcAft>
              <a:buFont typeface="Liberation Sans"/>
              <a:buChar char="•"/>
            </a:pPr>
            <a:r>
              <a:rPr sz="1500" b="1">
                <a:solidFill>
                  <a:srgbClr val="1E293B"/>
                </a:solidFill>
                <a:latin typeface="Liberation Sans"/>
              </a:rPr>
              <a:t>Gravity update (IMU-only): </a:t>
            </a:r>
            <a:r>
              <a:rPr sz="1400" b="0">
                <a:solidFill>
                  <a:srgbClr val="334155"/>
                </a:solidFill>
                <a:latin typeface="Liberation Sans"/>
              </a:rPr>
              <a:t>Fixes roll/pitch tilt and learns accelerometer bias when not accelerating much (at most every 0.5 s).</a:t>
            </a:r>
          </a:p>
          <a:p>
            <a:pPr algn="l" marL="201168" indent="-201168">
              <a:spcAft>
                <a:spcPts val="600"/>
              </a:spcAft>
              <a:buFont typeface="Liberation Sans"/>
              <a:buChar char="•"/>
            </a:pPr>
            <a:r>
              <a:rPr sz="1500" b="1">
                <a:solidFill>
                  <a:srgbClr val="1E293B"/>
                </a:solidFill>
                <a:latin typeface="Liberation Sans"/>
              </a:rPr>
              <a:t>Still update / ZUPT (IMU-only): </a:t>
            </a:r>
            <a:r>
              <a:rPr sz="1400" b="0">
                <a:solidFill>
                  <a:srgbClr val="334155"/>
                </a:solidFill>
                <a:latin typeface="Liberation Sans"/>
              </a:rPr>
              <a:t>At each detected stop, velocity is forced to zero and the gyro reading updates the gyro bias estimate.</a:t>
            </a:r>
          </a:p>
          <a:p>
            <a:pPr algn="l" marL="201168" indent="-201168">
              <a:spcAft>
                <a:spcPts val="600"/>
              </a:spcAft>
              <a:buFont typeface="Liberation Sans"/>
              <a:buChar char="•"/>
            </a:pPr>
            <a:r>
              <a:rPr sz="1500" b="1">
                <a:solidFill>
                  <a:srgbClr val="1E293B"/>
                </a:solidFill>
                <a:latin typeface="Liberation Sans"/>
              </a:rPr>
              <a:t>Declared position fix (cream): </a:t>
            </a:r>
            <a:r>
              <a:rPr sz="1400" b="0">
                <a:solidFill>
                  <a:srgbClr val="334155"/>
                </a:solidFill>
                <a:latin typeface="Liberation Sans"/>
              </a:rPr>
              <a:t>Used only in declared-aid runs (floor marks or simulated EuRoC anchors/UWB) with a 99% chi-square outlier gate.</a:t>
            </a:r>
          </a:p>
          <a:p>
            <a:pPr algn="l" marL="201168" indent="-201168">
              <a:spcAft>
                <a:spcPts val="600"/>
              </a:spcAft>
              <a:buFont typeface="Liberation Sans"/>
              <a:buChar char="•"/>
            </a:pPr>
            <a:r>
              <a:rPr sz="1500" b="1">
                <a:solidFill>
                  <a:srgbClr val="1E293B"/>
                </a:solidFill>
                <a:latin typeface="Liberation Sans"/>
              </a:rPr>
              <a:t>Leg de-drift (cream, not real-time): </a:t>
            </a:r>
            <a:r>
              <a:rPr sz="1400" b="0">
                <a:solidFill>
                  <a:srgbClr val="334155"/>
                </a:solidFill>
                <a:latin typeface="Liberation Sans"/>
              </a:rPr>
              <a:t>Removes residual leg velocity error after the next stop arrives; effective on stop-and-go walks but delayed.</a:t>
            </a:r>
          </a:p>
        </p:txBody>
      </p:sp>
      <p:sp>
        <p:nvSpPr>
          <p:cNvPr id="7" name="TextBox 6"/>
          <p:cNvSpPr txBox="1"/>
          <p:nvPr/>
        </p:nvSpPr>
        <p:spPr>
          <a:xfrm>
            <a:off x="594360" y="6364224"/>
            <a:ext cx="5257800" cy="310896"/>
          </a:xfrm>
          <a:prstGeom prst="rect">
            <a:avLst/>
          </a:prstGeom>
          <a:noFill/>
        </p:spPr>
        <p:txBody>
          <a:bodyPr wrap="square" anchor="t" lIns="0" tIns="0" rIns="0" bIns="0">
            <a:spAutoFit/>
          </a:bodyPr>
          <a:lstStyle/>
          <a:p>
            <a:pPr algn="l"/>
            <a:r>
              <a:rPr sz="1400">
                <a:solidFill>
                  <a:srgbClr val="334155"/>
                </a:solidFill>
                <a:latin typeface="Liberation Sans"/>
              </a:rPr>
              <a:t>Team Pineapple | Figure 02: Filter Architecture (3/25)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2. EXACT AIDING DECLARATION (PROBLEM STATEMENT REQUIREMENT)</a:t>
            </a:r>
          </a:p>
          <a:p>
            <a:pPr algn="l"/>
            <a:r>
              <a:rPr sz="2600" b="1">
                <a:solidFill>
                  <a:srgbClr val="1E293B"/>
                </a:solidFill>
                <a:latin typeface="Liberation Sans"/>
              </a:rPr>
              <a:t>Only declared floor marks and simulated EuRoC sensors add outside aid</a:t>
            </a:r>
          </a:p>
        </p:txBody>
      </p:sp>
      <p:graphicFrame>
        <p:nvGraphicFramePr>
          <p:cNvPr id="5" name="Table 4"/>
          <p:cNvGraphicFramePr>
            <a:graphicFrameLocks noGrp="1"/>
          </p:cNvGraphicFramePr>
          <p:nvPr/>
        </p:nvGraphicFramePr>
        <p:xfrm>
          <a:off x="594360" y="2057400"/>
          <a:ext cx="11002975" cy="3255264"/>
        </p:xfrm>
        <a:graphic>
          <a:graphicData uri="http://schemas.openxmlformats.org/drawingml/2006/table">
            <a:tbl>
              <a:tblPr firstRow="1" bandRow="1">
                <a:tableStyleId>{5C22544A-7EE6-4342-B048-85BDC9FD1C3A}</a:tableStyleId>
              </a:tblPr>
              <a:tblGrid>
                <a:gridCol w="3291840"/>
                <a:gridCol w="1920240"/>
                <a:gridCol w="5790895"/>
              </a:tblGrid>
              <a:tr h="384048">
                <a:tc>
                  <a:txBody>
                    <a:bodyPr/>
                    <a:lstStyle/>
                    <a:p>
                      <a:pPr algn="l"/>
                      <a:r>
                        <a:rPr sz="1400" b="1">
                          <a:solidFill>
                            <a:srgbClr val="FFFFFF"/>
                          </a:solidFill>
                          <a:latin typeface="Liberation Sans"/>
                        </a:rPr>
                        <a:t>Run Family</a:t>
                      </a:r>
                    </a:p>
                  </a:txBody>
                  <a:tcPr anchor="ctr" marL="73152" marR="73152" marT="27432" marB="27432">
                    <a:solidFill>
                      <a:srgbClr val="2F4B7C"/>
                    </a:solidFill>
                  </a:tcPr>
                </a:tc>
                <a:tc>
                  <a:txBody>
                    <a:bodyPr/>
                    <a:lstStyle/>
                    <a:p>
                      <a:pPr algn="l"/>
                      <a:r>
                        <a:rPr sz="1400" b="1">
                          <a:solidFill>
                            <a:srgbClr val="FFFFFF"/>
                          </a:solidFill>
                          <a:latin typeface="Liberation Sans"/>
                        </a:rPr>
                        <a:t>Mode</a:t>
                      </a:r>
                    </a:p>
                  </a:txBody>
                  <a:tcPr anchor="ctr" marL="73152" marR="73152" marT="27432" marB="27432">
                    <a:solidFill>
                      <a:srgbClr val="2F4B7C"/>
                    </a:solidFill>
                  </a:tcPr>
                </a:tc>
                <a:tc>
                  <a:txBody>
                    <a:bodyPr/>
                    <a:lstStyle/>
                    <a:p>
                      <a:pPr algn="l"/>
                      <a:r>
                        <a:rPr sz="1400" b="1">
                          <a:solidFill>
                            <a:srgbClr val="FFFFFF"/>
                          </a:solidFill>
                          <a:latin typeface="Liberation Sans"/>
                        </a:rPr>
                        <a:t>Outside Information Used (Stated Exactly)</a:t>
                      </a:r>
                    </a:p>
                  </a:txBody>
                  <a:tcPr anchor="ctr" marL="73152" marR="73152" marT="27432" marB="27432">
                    <a:solidFill>
                      <a:srgbClr val="2F4B7C"/>
                    </a:solidFill>
                  </a:tcPr>
                </a:tc>
              </a:tr>
              <a:tr h="512064">
                <a:tc>
                  <a:txBody>
                    <a:bodyPr/>
                    <a:lstStyle/>
                    <a:p>
                      <a:pPr algn="l"/>
                      <a:r>
                        <a:rPr sz="1400" b="1">
                          <a:solidFill>
                            <a:srgbClr val="1E293B"/>
                          </a:solidFill>
                          <a:latin typeface="Liberation Sans"/>
                        </a:rPr>
                        <a:t>raw, bias removed, Mahony, ZUPT, all combined</a:t>
                      </a:r>
                    </a:p>
                  </a:txBody>
                  <a:tcPr anchor="ctr" marL="73152" marR="73152" marT="27432" marB="27432">
                    <a:solidFill>
                      <a:srgbClr val="EAF1FA"/>
                    </a:solidFill>
                  </a:tcPr>
                </a:tc>
                <a:tc>
                  <a:txBody>
                    <a:bodyPr/>
                    <a:lstStyle/>
                    <a:p>
                      <a:pPr algn="l"/>
                      <a:r>
                        <a:rPr sz="1400" b="0">
                          <a:solidFill>
                            <a:srgbClr val="1E293B"/>
                          </a:solidFill>
                          <a:latin typeface="Liberation Sans"/>
                        </a:rPr>
                        <a:t>Real-time</a:t>
                      </a:r>
                    </a:p>
                  </a:txBody>
                  <a:tcPr anchor="ctr" marL="73152" marR="73152" marT="27432" marB="27432">
                    <a:solidFill>
                      <a:srgbClr val="EAF1FA"/>
                    </a:solidFill>
                  </a:tcPr>
                </a:tc>
                <a:tc>
                  <a:txBody>
                    <a:bodyPr/>
                    <a:lstStyle/>
                    <a:p>
                      <a:pPr algn="l"/>
                      <a:r>
                        <a:rPr sz="1400" b="0">
                          <a:solidFill>
                            <a:srgbClr val="1E293B"/>
                          </a:solidFill>
                          <a:latin typeface="Liberation Sans"/>
                        </a:rPr>
                        <a:t>None. Strictly 60 Hz accelerometer and gyroscope only.</a:t>
                      </a:r>
                    </a:p>
                  </a:txBody>
                  <a:tcPr anchor="ctr" marL="73152" marR="73152" marT="27432" marB="27432">
                    <a:solidFill>
                      <a:srgbClr val="EAF1FA"/>
                    </a:solidFill>
                  </a:tcPr>
                </a:tc>
              </a:tr>
              <a:tr h="512064">
                <a:tc>
                  <a:txBody>
                    <a:bodyPr/>
                    <a:lstStyle/>
                    <a:p>
                      <a:pPr algn="l"/>
                      <a:r>
                        <a:rPr sz="1400" b="1">
                          <a:solidFill>
                            <a:srgbClr val="1E293B"/>
                          </a:solidFill>
                          <a:latin typeface="Liberation Sans"/>
                        </a:rPr>
                        <a:t>ESKF (no aiding)</a:t>
                      </a:r>
                    </a:p>
                  </a:txBody>
                  <a:tcPr anchor="ctr" marL="73152" marR="73152" marT="27432" marB="27432">
                    <a:solidFill>
                      <a:srgbClr val="FFFFFF"/>
                    </a:solidFill>
                  </a:tcPr>
                </a:tc>
                <a:tc>
                  <a:txBody>
                    <a:bodyPr/>
                    <a:lstStyle/>
                    <a:p>
                      <a:pPr algn="l"/>
                      <a:r>
                        <a:rPr sz="1400" b="0">
                          <a:solidFill>
                            <a:srgbClr val="1E293B"/>
                          </a:solidFill>
                          <a:latin typeface="Liberation Sans"/>
                        </a:rPr>
                        <a:t>Real-time</a:t>
                      </a:r>
                    </a:p>
                  </a:txBody>
                  <a:tcPr anchor="ctr" marL="73152" marR="73152" marT="27432" marB="27432">
                    <a:solidFill>
                      <a:srgbClr val="FFFFFF"/>
                    </a:solidFill>
                  </a:tcPr>
                </a:tc>
                <a:tc>
                  <a:txBody>
                    <a:bodyPr/>
                    <a:lstStyle/>
                    <a:p>
                      <a:pPr algn="l"/>
                      <a:r>
                        <a:rPr sz="1400" b="0">
                          <a:solidFill>
                            <a:srgbClr val="1E293B"/>
                          </a:solidFill>
                          <a:latin typeface="Liberation Sans"/>
                        </a:rPr>
                        <a:t>None. Gravity direction and zero-velocity at stops come from the IMU itself.</a:t>
                      </a:r>
                    </a:p>
                  </a:txBody>
                  <a:tcPr anchor="ctr" marL="73152" marR="73152" marT="27432" marB="27432">
                    <a:solidFill>
                      <a:srgbClr val="FFFFFF"/>
                    </a:solidFill>
                  </a:tcPr>
                </a:tc>
              </a:tr>
              <a:tr h="530352">
                <a:tc>
                  <a:txBody>
                    <a:bodyPr/>
                    <a:lstStyle/>
                    <a:p>
                      <a:pPr algn="l"/>
                      <a:r>
                        <a:rPr sz="1400" b="1">
                          <a:solidFill>
                            <a:srgbClr val="78350F"/>
                          </a:solidFill>
                          <a:latin typeface="Liberation Sans"/>
                        </a:rPr>
                        <a:t>leg de-drift (Mahony / ESKF)</a:t>
                      </a:r>
                    </a:p>
                  </a:txBody>
                  <a:tcPr anchor="ctr" marL="73152" marR="73152" marT="27432" marB="27432">
                    <a:solidFill>
                      <a:srgbClr val="FFF6E0"/>
                    </a:solidFill>
                  </a:tcPr>
                </a:tc>
                <a:tc>
                  <a:txBody>
                    <a:bodyPr/>
                    <a:lstStyle/>
                    <a:p>
                      <a:pPr algn="l"/>
                      <a:r>
                        <a:rPr sz="1400" b="1">
                          <a:solidFill>
                            <a:srgbClr val="78350F"/>
                          </a:solidFill>
                          <a:latin typeface="Liberation Sans"/>
                        </a:rPr>
                        <a:t>NOT real-time</a:t>
                      </a:r>
                    </a:p>
                  </a:txBody>
                  <a:tcPr anchor="ctr" marL="73152" marR="73152" marT="27432" marB="27432">
                    <a:solidFill>
                      <a:srgbClr val="FFF6E0"/>
                    </a:solidFill>
                  </a:tcPr>
                </a:tc>
                <a:tc>
                  <a:txBody>
                    <a:bodyPr/>
                    <a:lstStyle/>
                    <a:p>
                      <a:pPr algn="l"/>
                      <a:r>
                        <a:rPr sz="1400" b="1">
                          <a:solidFill>
                            <a:srgbClr val="78350F"/>
                          </a:solidFill>
                          <a:latin typeface="Liberation Sans"/>
                        </a:rPr>
                        <a:t>None (IMU only), but corrects each leg after the next stop is detected.</a:t>
                      </a:r>
                    </a:p>
                  </a:txBody>
                  <a:tcPr anchor="ctr" marL="73152" marR="73152" marT="27432" marB="27432">
                    <a:solidFill>
                      <a:srgbClr val="FFF6E0"/>
                    </a:solidFill>
                  </a:tcPr>
                </a:tc>
              </a:tr>
              <a:tr h="658368">
                <a:tc>
                  <a:txBody>
                    <a:bodyPr/>
                    <a:lstStyle/>
                    <a:p>
                      <a:pPr algn="l"/>
                      <a:r>
                        <a:rPr sz="1400" b="1">
                          <a:solidFill>
                            <a:srgbClr val="78350F"/>
                          </a:solidFill>
                          <a:latin typeface="Liberation Sans"/>
                        </a:rPr>
                        <a:t>ESKF + corner marks, leg de-drift + marks</a:t>
                      </a:r>
                    </a:p>
                  </a:txBody>
                  <a:tcPr anchor="ctr" marL="73152" marR="73152" marT="27432" marB="27432">
                    <a:solidFill>
                      <a:srgbClr val="FFF6E0"/>
                    </a:solidFill>
                  </a:tcPr>
                </a:tc>
                <a:tc>
                  <a:txBody>
                    <a:bodyPr/>
                    <a:lstStyle/>
                    <a:p>
                      <a:pPr algn="l"/>
                      <a:r>
                        <a:rPr sz="1400" b="1">
                          <a:solidFill>
                            <a:srgbClr val="78350F"/>
                          </a:solidFill>
                          <a:latin typeface="Liberation Sans"/>
                        </a:rPr>
                        <a:t>Declared aid</a:t>
                      </a:r>
                    </a:p>
                  </a:txBody>
                  <a:tcPr anchor="ctr" marL="73152" marR="73152" marT="27432" marB="27432">
                    <a:solidFill>
                      <a:srgbClr val="FFF6E0"/>
                    </a:solidFill>
                  </a:tcPr>
                </a:tc>
                <a:tc>
                  <a:txBody>
                    <a:bodyPr/>
                    <a:lstStyle/>
                    <a:p>
                      <a:pPr algn="l"/>
                      <a:r>
                        <a:rPr sz="1400" b="1">
                          <a:solidFill>
                            <a:srgbClr val="78350F"/>
                          </a:solidFill>
                          <a:latin typeface="Liberation Sans"/>
                        </a:rPr>
                        <a:t>Taped floor marks at corners 1, 2, 3 (sigma = 0.05 m) + flat floor. Stop 4 left un-aided as independent test.</a:t>
                      </a:r>
                    </a:p>
                  </a:txBody>
                  <a:tcPr anchor="ctr" marL="73152" marR="73152" marT="27432" marB="27432">
                    <a:solidFill>
                      <a:srgbClr val="FFF6E0"/>
                    </a:solidFill>
                  </a:tcPr>
                </a:tc>
              </a:tr>
              <a:tr h="658368">
                <a:tc>
                  <a:txBody>
                    <a:bodyPr/>
                    <a:lstStyle/>
                    <a:p>
                      <a:pPr algn="l"/>
                      <a:r>
                        <a:rPr sz="1400" b="1">
                          <a:solidFill>
                            <a:srgbClr val="78350F"/>
                          </a:solidFill>
                          <a:latin typeface="Liberation Sans"/>
                        </a:rPr>
                        <a:t>EuRoC aided runs (fixes, UWB, baro)</a:t>
                      </a:r>
                    </a:p>
                  </a:txBody>
                  <a:tcPr anchor="ctr" marL="73152" marR="73152" marT="27432" marB="27432">
                    <a:solidFill>
                      <a:srgbClr val="FFF6E0"/>
                    </a:solidFill>
                  </a:tcPr>
                </a:tc>
                <a:tc>
                  <a:txBody>
                    <a:bodyPr/>
                    <a:lstStyle/>
                    <a:p>
                      <a:pPr algn="l"/>
                      <a:r>
                        <a:rPr sz="1400" b="1">
                          <a:solidFill>
                            <a:srgbClr val="78350F"/>
                          </a:solidFill>
                          <a:latin typeface="Liberation Sans"/>
                        </a:rPr>
                        <a:t>SIMULATED aid</a:t>
                      </a:r>
                    </a:p>
                  </a:txBody>
                  <a:tcPr anchor="ctr" marL="73152" marR="73152" marT="27432" marB="27432">
                    <a:solidFill>
                      <a:srgbClr val="FFF6E0"/>
                    </a:solidFill>
                  </a:tcPr>
                </a:tc>
                <a:tc>
                  <a:txBody>
                    <a:bodyPr/>
                    <a:lstStyle/>
                    <a:p>
                      <a:pPr algn="l"/>
                      <a:r>
                        <a:rPr sz="1400" b="1">
                          <a:solidFill>
                            <a:srgbClr val="78350F"/>
                          </a:solidFill>
                          <a:latin typeface="Liberation Sans"/>
                        </a:rPr>
                        <a:t>Simulated sensors only (ground truth + noise, sigma = 0.10 m). Shows filter potential, not real hardware.</a:t>
                      </a:r>
                    </a:p>
                  </a:txBody>
                  <a:tcPr anchor="ctr" marL="73152" marR="73152" marT="27432" marB="27432">
                    <a:solidFill>
                      <a:srgbClr val="FFF6E0"/>
                    </a:solidFill>
                  </a:tcPr>
                </a:tc>
              </a:tr>
            </a:tbl>
          </a:graphicData>
        </a:graphic>
      </p:graphicFrame>
      <p:sp>
        <p:nvSpPr>
          <p:cNvPr id="6" name="TextBox 5"/>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Section 2: Outside Information Used per Run Family (4/25)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Picture 3" descr="bleed_5.png"/>
          <p:cNvPicPr>
            <a:picLocks noChangeAspect="1"/>
          </p:cNvPicPr>
          <p:nvPr/>
        </p:nvPicPr>
        <p:blipFill>
          <a:blip r:embed="rId2"/>
          <a:stretch>
            <a:fillRect/>
          </a:stretch>
        </p:blipFill>
        <p:spPr>
          <a:xfrm>
            <a:off x="6096304" y="0"/>
            <a:ext cx="6095390" cy="6858000"/>
          </a:xfrm>
          <a:prstGeom prst="rect">
            <a:avLst/>
          </a:prstGeom>
          <a:ln>
            <a:noFill/>
          </a:ln>
        </p:spPr>
      </p:pic>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94360" y="384048"/>
            <a:ext cx="5257800"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4. REPRODUCIBLE SIX-POSITION CALIBRATION (FIGURE 01)</a:t>
            </a:r>
          </a:p>
          <a:p>
            <a:pPr algn="l"/>
            <a:r>
              <a:rPr sz="2400" b="1">
                <a:solidFill>
                  <a:srgbClr val="1E293B"/>
                </a:solidFill>
                <a:latin typeface="Liberation Sans"/>
              </a:rPr>
              <a:t>Six-position calibration fits accel bias and scale within 0.01 m/s² of cross-checks</a:t>
            </a:r>
          </a:p>
        </p:txBody>
      </p:sp>
      <p:sp>
        <p:nvSpPr>
          <p:cNvPr id="6" name="TextBox 5"/>
          <p:cNvSpPr txBox="1"/>
          <p:nvPr/>
        </p:nvSpPr>
        <p:spPr>
          <a:xfrm>
            <a:off x="594360" y="2057400"/>
            <a:ext cx="5257800" cy="3977639"/>
          </a:xfrm>
          <a:prstGeom prst="rect">
            <a:avLst/>
          </a:prstGeom>
          <a:noFill/>
        </p:spPr>
        <p:txBody>
          <a:bodyPr wrap="square" anchor="t" lIns="0" tIns="0" rIns="0" bIns="0">
            <a:spAutoFit/>
          </a:bodyPr>
          <a:lstStyle/>
          <a:p>
            <a:pPr algn="l" marL="201168" indent="-201168">
              <a:spcAft>
                <a:spcPts val="600"/>
              </a:spcAft>
              <a:buFont typeface="Liberation Sans"/>
              <a:buChar char="•"/>
            </a:pPr>
            <a:r>
              <a:rPr sz="1500" b="1">
                <a:solidFill>
                  <a:srgbClr val="1E293B"/>
                </a:solidFill>
                <a:latin typeface="Liberation Sans"/>
              </a:rPr>
              <a:t>Six-hold static test (~15 s/axis): </a:t>
            </a:r>
            <a:r>
              <a:rPr sz="1400" b="0">
                <a:solidFill>
                  <a:srgbClr val="334155"/>
                </a:solidFill>
                <a:latin typeface="Liberation Sans"/>
              </a:rPr>
              <a:t>Phone held still with z, x, y axes pointing up and down; resting vector norm must equal 1 g (9.80665 m/s²).</a:t>
            </a:r>
          </a:p>
          <a:p>
            <a:pPr algn="l" marL="201168" indent="-201168">
              <a:spcAft>
                <a:spcPts val="600"/>
              </a:spcAft>
              <a:buFont typeface="Liberation Sans"/>
              <a:buChar char="•"/>
            </a:pPr>
            <a:r>
              <a:rPr sz="1500" b="1">
                <a:solidFill>
                  <a:srgbClr val="1E293B"/>
                </a:solidFill>
                <a:latin typeface="Liberation Sans"/>
              </a:rPr>
              <a:t>Low-wiggle still detector: </a:t>
            </a:r>
            <a:r>
              <a:rPr sz="1400" b="0">
                <a:solidFill>
                  <a:srgbClr val="334155"/>
                </a:solidFill>
                <a:latin typeface="Liberation Sans"/>
              </a:rPr>
              <a:t>Still stretches found by low signal wiggle (not vector length, since an uncalibrated sensor is off by design), trimmed 0.5 s each end.</a:t>
            </a:r>
          </a:p>
          <a:p>
            <a:pPr algn="l" marL="201168" indent="-201168">
              <a:spcAft>
                <a:spcPts val="600"/>
              </a:spcAft>
              <a:buFont typeface="Liberation Sans"/>
              <a:buChar char="•"/>
            </a:pPr>
            <a:r>
              <a:rPr sz="1500" b="1">
                <a:solidFill>
                  <a:srgbClr val="1E293B"/>
                </a:solidFill>
                <a:latin typeface="Liberation Sans"/>
              </a:rPr>
              <a:t>Fitted accel bias &amp; scale (x, y, z): </a:t>
            </a:r>
            <a:r>
              <a:rPr sz="1400" b="0">
                <a:solidFill>
                  <a:srgbClr val="334155"/>
                </a:solidFill>
                <a:latin typeface="Liberation Sans"/>
              </a:rPr>
              <a:t>Bias: +0.0053, -0.0447, +0.2462 m/s² (dominant z bias ~0.25 m/s²). Scale: 0.9985, 0.9966, 0.9952.</a:t>
            </a:r>
          </a:p>
          <a:p>
            <a:pPr algn="l" marL="201168" indent="-201168">
              <a:spcAft>
                <a:spcPts val="600"/>
              </a:spcAft>
              <a:buFont typeface="Liberation Sans"/>
              <a:buChar char="•"/>
            </a:pPr>
            <a:r>
              <a:rPr sz="1500" b="1">
                <a:solidFill>
                  <a:srgbClr val="1E293B"/>
                </a:solidFill>
                <a:latin typeface="Liberation Sans"/>
              </a:rPr>
              <a:t>Fitted gyro bias &amp; noise densities: </a:t>
            </a:r>
            <a:r>
              <a:rPr sz="1400" b="0">
                <a:solidFill>
                  <a:srgbClr val="334155"/>
                </a:solidFill>
                <a:latin typeface="Liberation Sans"/>
              </a:rPr>
              <a:t>Gyro bias (x, y, z): +0.0244, +0.0076, -0.0071 rad/s (varies &lt;= 0.0029 rad/s across holds). Noise: accel 2.24e-3 m/s²/sqrt(Hz), gyro 5.1e-4 rad/s/sqrt(Hz).</a:t>
            </a:r>
          </a:p>
          <a:p>
            <a:pPr algn="l" marL="201168" indent="-201168">
              <a:spcAft>
                <a:spcPts val="600"/>
              </a:spcAft>
              <a:buFont typeface="Liberation Sans"/>
              <a:buChar char="•"/>
            </a:pPr>
            <a:r>
              <a:rPr sz="1500" b="1">
                <a:solidFill>
                  <a:srgbClr val="1E293B"/>
                </a:solidFill>
                <a:latin typeface="Liberation Sans"/>
              </a:rPr>
              <a:t>Duration limit on y-axis: </a:t>
            </a:r>
            <a:r>
              <a:rPr sz="1400" b="0">
                <a:solidFill>
                  <a:srgbClr val="334155"/>
                </a:solidFill>
                <a:latin typeface="Liberation Sans"/>
              </a:rPr>
              <a:t>The y-up hold lasted only ~2.5 s (shortest window in Figure 01), slightly limiting y-axis precision.</a:t>
            </a:r>
          </a:p>
        </p:txBody>
      </p:sp>
      <p:sp>
        <p:nvSpPr>
          <p:cNvPr id="7" name="TextBox 6"/>
          <p:cNvSpPr txBox="1"/>
          <p:nvPr/>
        </p:nvSpPr>
        <p:spPr>
          <a:xfrm>
            <a:off x="594360" y="6364224"/>
            <a:ext cx="5257800" cy="310896"/>
          </a:xfrm>
          <a:prstGeom prst="rect">
            <a:avLst/>
          </a:prstGeom>
          <a:noFill/>
        </p:spPr>
        <p:txBody>
          <a:bodyPr wrap="square" anchor="t" lIns="0" tIns="0" rIns="0" bIns="0">
            <a:spAutoFit/>
          </a:bodyPr>
          <a:lstStyle/>
          <a:p>
            <a:pPr algn="l"/>
            <a:r>
              <a:rPr sz="1400">
                <a:solidFill>
                  <a:srgbClr val="334155"/>
                </a:solidFill>
                <a:latin typeface="Liberation Sans"/>
              </a:rPr>
              <a:t>Team Pineapple | Section 4 &amp; Figure 01: Six-Position Calibration (5/25)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4. CALIBRATION VERIFICATION &amp; OPENLY STATED GAPS</a:t>
            </a:r>
          </a:p>
          <a:p>
            <a:pPr algn="l"/>
            <a:r>
              <a:rPr sz="2600" b="1">
                <a:solidFill>
                  <a:srgbClr val="1E293B"/>
                </a:solidFill>
                <a:latin typeface="Liberation Sans"/>
              </a:rPr>
              <a:t>Independent per-axis formulas confirm least-squares biases within 0.01 m/s²</a:t>
            </a:r>
          </a:p>
        </p:txBody>
      </p:sp>
      <p:graphicFrame>
        <p:nvGraphicFramePr>
          <p:cNvPr id="5" name="Table 4"/>
          <p:cNvGraphicFramePr>
            <a:graphicFrameLocks noGrp="1"/>
          </p:cNvGraphicFramePr>
          <p:nvPr/>
        </p:nvGraphicFramePr>
        <p:xfrm>
          <a:off x="594360" y="2048256"/>
          <a:ext cx="5577840" cy="2798064"/>
        </p:xfrm>
        <a:graphic>
          <a:graphicData uri="http://schemas.openxmlformats.org/drawingml/2006/table">
            <a:tbl>
              <a:tblPr firstRow="1" bandRow="1">
                <a:tableStyleId>{5C22544A-7EE6-4342-B048-85BDC9FD1C3A}</a:tableStyleId>
              </a:tblPr>
              <a:tblGrid>
                <a:gridCol w="2560320"/>
                <a:gridCol w="1005840"/>
                <a:gridCol w="1005840"/>
                <a:gridCol w="1005840"/>
              </a:tblGrid>
              <a:tr h="384048">
                <a:tc>
                  <a:txBody>
                    <a:bodyPr/>
                    <a:lstStyle/>
                    <a:p>
                      <a:pPr algn="l"/>
                      <a:r>
                        <a:rPr sz="1400" b="1">
                          <a:solidFill>
                            <a:srgbClr val="FFFFFF"/>
                          </a:solidFill>
                          <a:latin typeface="Liberation Sans"/>
                        </a:rPr>
                        <a:t>Calibration Check Metric</a:t>
                      </a:r>
                    </a:p>
                  </a:txBody>
                  <a:tcPr anchor="ctr" marL="73152" marR="73152" marT="27432" marB="27432">
                    <a:solidFill>
                      <a:srgbClr val="2F4B7C"/>
                    </a:solidFill>
                  </a:tcPr>
                </a:tc>
                <a:tc>
                  <a:txBody>
                    <a:bodyPr/>
                    <a:lstStyle/>
                    <a:p>
                      <a:pPr algn="l"/>
                      <a:r>
                        <a:rPr sz="1400" b="1">
                          <a:solidFill>
                            <a:srgbClr val="FFFFFF"/>
                          </a:solidFill>
                          <a:latin typeface="Liberation Sans"/>
                        </a:rPr>
                        <a:t>x-axis</a:t>
                      </a:r>
                    </a:p>
                  </a:txBody>
                  <a:tcPr anchor="ctr" marL="73152" marR="73152" marT="27432" marB="27432">
                    <a:solidFill>
                      <a:srgbClr val="2F4B7C"/>
                    </a:solidFill>
                  </a:tcPr>
                </a:tc>
                <a:tc>
                  <a:txBody>
                    <a:bodyPr/>
                    <a:lstStyle/>
                    <a:p>
                      <a:pPr algn="l"/>
                      <a:r>
                        <a:rPr sz="1400" b="1">
                          <a:solidFill>
                            <a:srgbClr val="FFFFFF"/>
                          </a:solidFill>
                          <a:latin typeface="Liberation Sans"/>
                        </a:rPr>
                        <a:t>y-axis</a:t>
                      </a:r>
                    </a:p>
                  </a:txBody>
                  <a:tcPr anchor="ctr" marL="73152" marR="73152" marT="27432" marB="27432">
                    <a:solidFill>
                      <a:srgbClr val="2F4B7C"/>
                    </a:solidFill>
                  </a:tcPr>
                </a:tc>
                <a:tc>
                  <a:txBody>
                    <a:bodyPr/>
                    <a:lstStyle/>
                    <a:p>
                      <a:pPr algn="l"/>
                      <a:r>
                        <a:rPr sz="1400" b="1">
                          <a:solidFill>
                            <a:srgbClr val="FFFFFF"/>
                          </a:solidFill>
                          <a:latin typeface="Liberation Sans"/>
                        </a:rPr>
                        <a:t>z-axis</a:t>
                      </a:r>
                    </a:p>
                  </a:txBody>
                  <a:tcPr anchor="ctr" marL="73152" marR="73152" marT="27432" marB="27432">
                    <a:solidFill>
                      <a:srgbClr val="2F4B7C"/>
                    </a:solidFill>
                  </a:tcPr>
                </a:tc>
              </a:tr>
              <a:tr h="402336">
                <a:tc>
                  <a:txBody>
                    <a:bodyPr/>
                    <a:lstStyle/>
                    <a:p>
                      <a:pPr algn="l"/>
                      <a:r>
                        <a:rPr sz="1400" b="1">
                          <a:solidFill>
                            <a:srgbClr val="1E293B"/>
                          </a:solidFill>
                          <a:latin typeface="Liberation Sans"/>
                        </a:rPr>
                        <a:t>Bias: least-squares fit (m/s²)</a:t>
                      </a:r>
                    </a:p>
                  </a:txBody>
                  <a:tcPr anchor="ctr" marL="73152" marR="73152" marT="27432" marB="27432">
                    <a:solidFill>
                      <a:srgbClr val="EAF1FA"/>
                    </a:solidFill>
                  </a:tcPr>
                </a:tc>
                <a:tc>
                  <a:txBody>
                    <a:bodyPr/>
                    <a:lstStyle/>
                    <a:p>
                      <a:pPr algn="l"/>
                      <a:r>
                        <a:rPr sz="1400" b="0">
                          <a:solidFill>
                            <a:srgbClr val="1E293B"/>
                          </a:solidFill>
                          <a:latin typeface="Liberation Sans"/>
                        </a:rPr>
                        <a:t>0.0053</a:t>
                      </a:r>
                    </a:p>
                  </a:txBody>
                  <a:tcPr anchor="ctr" marL="73152" marR="73152" marT="27432" marB="27432">
                    <a:solidFill>
                      <a:srgbClr val="EAF1FA"/>
                    </a:solidFill>
                  </a:tcPr>
                </a:tc>
                <a:tc>
                  <a:txBody>
                    <a:bodyPr/>
                    <a:lstStyle/>
                    <a:p>
                      <a:pPr algn="l"/>
                      <a:r>
                        <a:rPr sz="1400" b="0">
                          <a:solidFill>
                            <a:srgbClr val="1E293B"/>
                          </a:solidFill>
                          <a:latin typeface="Liberation Sans"/>
                        </a:rPr>
                        <a:t>-0.0447</a:t>
                      </a:r>
                    </a:p>
                  </a:txBody>
                  <a:tcPr anchor="ctr" marL="73152" marR="73152" marT="27432" marB="27432">
                    <a:solidFill>
                      <a:srgbClr val="EAF1FA"/>
                    </a:solidFill>
                  </a:tcPr>
                </a:tc>
                <a:tc>
                  <a:txBody>
                    <a:bodyPr/>
                    <a:lstStyle/>
                    <a:p>
                      <a:pPr algn="l"/>
                      <a:r>
                        <a:rPr sz="1400" b="0">
                          <a:solidFill>
                            <a:srgbClr val="1E293B"/>
                          </a:solidFill>
                          <a:latin typeface="Liberation Sans"/>
                        </a:rPr>
                        <a:t>0.2462</a:t>
                      </a:r>
                    </a:p>
                  </a:txBody>
                  <a:tcPr anchor="ctr" marL="73152" marR="73152" marT="27432" marB="27432">
                    <a:solidFill>
                      <a:srgbClr val="EAF1FA"/>
                    </a:solidFill>
                  </a:tcPr>
                </a:tc>
              </a:tr>
              <a:tr h="402336">
                <a:tc>
                  <a:txBody>
                    <a:bodyPr/>
                    <a:lstStyle/>
                    <a:p>
                      <a:pPr algn="l"/>
                      <a:r>
                        <a:rPr sz="1400" b="1">
                          <a:solidFill>
                            <a:srgbClr val="1E293B"/>
                          </a:solidFill>
                          <a:latin typeface="Liberation Sans"/>
                        </a:rPr>
                        <a:t>Bias: (up + down) / 2 (m/s²)</a:t>
                      </a:r>
                    </a:p>
                  </a:txBody>
                  <a:tcPr anchor="ctr" marL="73152" marR="73152" marT="27432" marB="27432">
                    <a:solidFill>
                      <a:srgbClr val="FFFFFF"/>
                    </a:solidFill>
                  </a:tcPr>
                </a:tc>
                <a:tc>
                  <a:txBody>
                    <a:bodyPr/>
                    <a:lstStyle/>
                    <a:p>
                      <a:pPr algn="l"/>
                      <a:r>
                        <a:rPr sz="1400" b="0">
                          <a:solidFill>
                            <a:srgbClr val="1E293B"/>
                          </a:solidFill>
                          <a:latin typeface="Liberation Sans"/>
                        </a:rPr>
                        <a:t>0.0065</a:t>
                      </a:r>
                    </a:p>
                  </a:txBody>
                  <a:tcPr anchor="ctr" marL="73152" marR="73152" marT="27432" marB="27432">
                    <a:solidFill>
                      <a:srgbClr val="FFFFFF"/>
                    </a:solidFill>
                  </a:tcPr>
                </a:tc>
                <a:tc>
                  <a:txBody>
                    <a:bodyPr/>
                    <a:lstStyle/>
                    <a:p>
                      <a:pPr algn="l"/>
                      <a:r>
                        <a:rPr sz="1400" b="0">
                          <a:solidFill>
                            <a:srgbClr val="1E293B"/>
                          </a:solidFill>
                          <a:latin typeface="Liberation Sans"/>
                        </a:rPr>
                        <a:t>-0.0577</a:t>
                      </a:r>
                    </a:p>
                  </a:txBody>
                  <a:tcPr anchor="ctr" marL="73152" marR="73152" marT="27432" marB="27432">
                    <a:solidFill>
                      <a:srgbClr val="FFFFFF"/>
                    </a:solidFill>
                  </a:tcPr>
                </a:tc>
                <a:tc>
                  <a:txBody>
                    <a:bodyPr/>
                    <a:lstStyle/>
                    <a:p>
                      <a:pPr algn="l"/>
                      <a:r>
                        <a:rPr sz="1400" b="0">
                          <a:solidFill>
                            <a:srgbClr val="1E293B"/>
                          </a:solidFill>
                          <a:latin typeface="Liberation Sans"/>
                        </a:rPr>
                        <a:t>0.2461</a:t>
                      </a:r>
                    </a:p>
                  </a:txBody>
                  <a:tcPr anchor="ctr" marL="73152" marR="73152" marT="27432" marB="27432">
                    <a:solidFill>
                      <a:srgbClr val="FFFFFF"/>
                    </a:solidFill>
                  </a:tcPr>
                </a:tc>
              </a:tr>
              <a:tr h="402336">
                <a:tc>
                  <a:txBody>
                    <a:bodyPr/>
                    <a:lstStyle/>
                    <a:p>
                      <a:pPr algn="l"/>
                      <a:r>
                        <a:rPr sz="1400" b="1">
                          <a:solidFill>
                            <a:srgbClr val="1E293B"/>
                          </a:solidFill>
                          <a:latin typeface="Liberation Sans"/>
                        </a:rPr>
                        <a:t>Scale: least-squares fit</a:t>
                      </a:r>
                    </a:p>
                  </a:txBody>
                  <a:tcPr anchor="ctr" marL="73152" marR="73152" marT="27432" marB="27432">
                    <a:solidFill>
                      <a:srgbClr val="EAF1FA"/>
                    </a:solidFill>
                  </a:tcPr>
                </a:tc>
                <a:tc>
                  <a:txBody>
                    <a:bodyPr/>
                    <a:lstStyle/>
                    <a:p>
                      <a:pPr algn="l"/>
                      <a:r>
                        <a:rPr sz="1400" b="0">
                          <a:solidFill>
                            <a:srgbClr val="1E293B"/>
                          </a:solidFill>
                          <a:latin typeface="Liberation Sans"/>
                        </a:rPr>
                        <a:t>0.9985</a:t>
                      </a:r>
                    </a:p>
                  </a:txBody>
                  <a:tcPr anchor="ctr" marL="73152" marR="73152" marT="27432" marB="27432">
                    <a:solidFill>
                      <a:srgbClr val="EAF1FA"/>
                    </a:solidFill>
                  </a:tcPr>
                </a:tc>
                <a:tc>
                  <a:txBody>
                    <a:bodyPr/>
                    <a:lstStyle/>
                    <a:p>
                      <a:pPr algn="l"/>
                      <a:r>
                        <a:rPr sz="1400" b="0">
                          <a:solidFill>
                            <a:srgbClr val="1E293B"/>
                          </a:solidFill>
                          <a:latin typeface="Liberation Sans"/>
                        </a:rPr>
                        <a:t>0.9966</a:t>
                      </a:r>
                    </a:p>
                  </a:txBody>
                  <a:tcPr anchor="ctr" marL="73152" marR="73152" marT="27432" marB="27432">
                    <a:solidFill>
                      <a:srgbClr val="EAF1FA"/>
                    </a:solidFill>
                  </a:tcPr>
                </a:tc>
                <a:tc>
                  <a:txBody>
                    <a:bodyPr/>
                    <a:lstStyle/>
                    <a:p>
                      <a:pPr algn="l"/>
                      <a:r>
                        <a:rPr sz="1400" b="0">
                          <a:solidFill>
                            <a:srgbClr val="1E293B"/>
                          </a:solidFill>
                          <a:latin typeface="Liberation Sans"/>
                        </a:rPr>
                        <a:t>0.9952</a:t>
                      </a:r>
                    </a:p>
                  </a:txBody>
                  <a:tcPr anchor="ctr" marL="73152" marR="73152" marT="27432" marB="27432">
                    <a:solidFill>
                      <a:srgbClr val="EAF1FA"/>
                    </a:solidFill>
                  </a:tcPr>
                </a:tc>
              </a:tr>
              <a:tr h="402336">
                <a:tc>
                  <a:txBody>
                    <a:bodyPr/>
                    <a:lstStyle/>
                    <a:p>
                      <a:pPr algn="l"/>
                      <a:r>
                        <a:rPr sz="1400" b="1">
                          <a:solidFill>
                            <a:srgbClr val="1E293B"/>
                          </a:solidFill>
                          <a:latin typeface="Liberation Sans"/>
                        </a:rPr>
                        <a:t>Scale: (up - down) / (2g)</a:t>
                      </a:r>
                    </a:p>
                  </a:txBody>
                  <a:tcPr anchor="ctr" marL="73152" marR="73152" marT="27432" marB="27432">
                    <a:solidFill>
                      <a:srgbClr val="FFFFFF"/>
                    </a:solidFill>
                  </a:tcPr>
                </a:tc>
                <a:tc>
                  <a:txBody>
                    <a:bodyPr/>
                    <a:lstStyle/>
                    <a:p>
                      <a:pPr algn="l"/>
                      <a:r>
                        <a:rPr sz="1400" b="0">
                          <a:solidFill>
                            <a:srgbClr val="1E293B"/>
                          </a:solidFill>
                          <a:latin typeface="Liberation Sans"/>
                        </a:rPr>
                        <a:t>0.9980</a:t>
                      </a:r>
                    </a:p>
                  </a:txBody>
                  <a:tcPr anchor="ctr" marL="73152" marR="73152" marT="27432" marB="27432">
                    <a:solidFill>
                      <a:srgbClr val="FFFFFF"/>
                    </a:solidFill>
                  </a:tcPr>
                </a:tc>
                <a:tc>
                  <a:txBody>
                    <a:bodyPr/>
                    <a:lstStyle/>
                    <a:p>
                      <a:pPr algn="l"/>
                      <a:r>
                        <a:rPr sz="1400" b="0">
                          <a:solidFill>
                            <a:srgbClr val="1E293B"/>
                          </a:solidFill>
                          <a:latin typeface="Liberation Sans"/>
                        </a:rPr>
                        <a:t>0.9940</a:t>
                      </a:r>
                    </a:p>
                  </a:txBody>
                  <a:tcPr anchor="ctr" marL="73152" marR="73152" marT="27432" marB="27432">
                    <a:solidFill>
                      <a:srgbClr val="FFFFFF"/>
                    </a:solidFill>
                  </a:tcPr>
                </a:tc>
                <a:tc>
                  <a:txBody>
                    <a:bodyPr/>
                    <a:lstStyle/>
                    <a:p>
                      <a:pPr algn="l"/>
                      <a:r>
                        <a:rPr sz="1400" b="0">
                          <a:solidFill>
                            <a:srgbClr val="1E293B"/>
                          </a:solidFill>
                          <a:latin typeface="Liberation Sans"/>
                        </a:rPr>
                        <a:t>0.9951</a:t>
                      </a:r>
                    </a:p>
                  </a:txBody>
                  <a:tcPr anchor="ctr" marL="73152" marR="73152" marT="27432" marB="27432">
                    <a:solidFill>
                      <a:srgbClr val="FFFFFF"/>
                    </a:solidFill>
                  </a:tcPr>
                </a:tc>
              </a:tr>
              <a:tr h="402336">
                <a:tc>
                  <a:txBody>
                    <a:bodyPr/>
                    <a:lstStyle/>
                    <a:p>
                      <a:pPr algn="l"/>
                      <a:r>
                        <a:rPr sz="1400" b="1">
                          <a:solidFill>
                            <a:srgbClr val="1E293B"/>
                          </a:solidFill>
                          <a:latin typeface="Liberation Sans"/>
                        </a:rPr>
                        <a:t>Pre-cal norm err: up / down</a:t>
                      </a:r>
                    </a:p>
                  </a:txBody>
                  <a:tcPr anchor="ctr" marL="73152" marR="73152" marT="27432" marB="27432">
                    <a:solidFill>
                      <a:srgbClr val="EAF1FA"/>
                    </a:solidFill>
                  </a:tcPr>
                </a:tc>
                <a:tc>
                  <a:txBody>
                    <a:bodyPr/>
                    <a:lstStyle/>
                    <a:p>
                      <a:pPr algn="l"/>
                      <a:r>
                        <a:rPr sz="1400" b="0">
                          <a:solidFill>
                            <a:srgbClr val="1E293B"/>
                          </a:solidFill>
                          <a:latin typeface="Liberation Sans"/>
                        </a:rPr>
                        <a:t>-0.012 / -0.009</a:t>
                      </a:r>
                    </a:p>
                  </a:txBody>
                  <a:tcPr anchor="ctr" marL="73152" marR="73152" marT="27432" marB="27432">
                    <a:solidFill>
                      <a:srgbClr val="EAF1FA"/>
                    </a:solidFill>
                  </a:tcPr>
                </a:tc>
                <a:tc>
                  <a:txBody>
                    <a:bodyPr/>
                    <a:lstStyle/>
                    <a:p>
                      <a:pPr algn="l"/>
                      <a:r>
                        <a:rPr sz="1400" b="0">
                          <a:solidFill>
                            <a:srgbClr val="1E293B"/>
                          </a:solidFill>
                          <a:latin typeface="Liberation Sans"/>
                        </a:rPr>
                        <a:t>-0.053 / +0.025</a:t>
                      </a:r>
                    </a:p>
                  </a:txBody>
                  <a:tcPr anchor="ctr" marL="73152" marR="73152" marT="27432" marB="27432">
                    <a:solidFill>
                      <a:srgbClr val="EAF1FA"/>
                    </a:solidFill>
                  </a:tcPr>
                </a:tc>
                <a:tc>
                  <a:txBody>
                    <a:bodyPr/>
                    <a:lstStyle/>
                    <a:p>
                      <a:pPr algn="l"/>
                      <a:r>
                        <a:rPr sz="1400" b="0">
                          <a:solidFill>
                            <a:srgbClr val="1E293B"/>
                          </a:solidFill>
                          <a:latin typeface="Liberation Sans"/>
                        </a:rPr>
                        <a:t>+0.199 / -0.294</a:t>
                      </a:r>
                    </a:p>
                  </a:txBody>
                  <a:tcPr anchor="ctr" marL="73152" marR="73152" marT="27432" marB="27432">
                    <a:solidFill>
                      <a:srgbClr val="EAF1FA"/>
                    </a:solidFill>
                  </a:tcPr>
                </a:tc>
              </a:tr>
              <a:tr h="402336">
                <a:tc>
                  <a:txBody>
                    <a:bodyPr/>
                    <a:lstStyle/>
                    <a:p>
                      <a:pPr algn="l"/>
                      <a:r>
                        <a:rPr sz="1400" b="1">
                          <a:solidFill>
                            <a:srgbClr val="1E293B"/>
                          </a:solidFill>
                          <a:latin typeface="Liberation Sans"/>
                        </a:rPr>
                        <a:t>Norm RMS: before -&gt; after</a:t>
                      </a:r>
                    </a:p>
                  </a:txBody>
                  <a:tcPr anchor="ctr" marL="73152" marR="73152" marT="27432" marB="27432">
                    <a:solidFill>
                      <a:srgbClr val="FFFFFF"/>
                    </a:solidFill>
                  </a:tcPr>
                </a:tc>
                <a:tc>
                  <a:txBody>
                    <a:bodyPr/>
                    <a:lstStyle/>
                    <a:p>
                      <a:pPr algn="l"/>
                      <a:r>
                        <a:rPr sz="1400" b="0">
                          <a:solidFill>
                            <a:srgbClr val="1E293B"/>
                          </a:solidFill>
                          <a:latin typeface="Liberation Sans"/>
                        </a:rPr>
                        <a:t>0.147 m/s²</a:t>
                      </a:r>
                    </a:p>
                  </a:txBody>
                  <a:tcPr anchor="ctr" marL="73152" marR="73152" marT="27432" marB="27432">
                    <a:solidFill>
                      <a:srgbClr val="FFFFFF"/>
                    </a:solidFill>
                  </a:tcPr>
                </a:tc>
                <a:tc>
                  <a:txBody>
                    <a:bodyPr/>
                    <a:lstStyle/>
                    <a:p>
                      <a:pPr algn="l"/>
                      <a:r>
                        <a:rPr sz="1400" b="0">
                          <a:solidFill>
                            <a:srgbClr val="1E293B"/>
                          </a:solidFill>
                          <a:latin typeface="Liberation Sans"/>
                        </a:rPr>
                        <a:t>-&gt;</a:t>
                      </a:r>
                    </a:p>
                  </a:txBody>
                  <a:tcPr anchor="ctr" marL="73152" marR="73152" marT="27432" marB="27432">
                    <a:solidFill>
                      <a:srgbClr val="FFFFFF"/>
                    </a:solidFill>
                  </a:tcPr>
                </a:tc>
                <a:tc>
                  <a:txBody>
                    <a:bodyPr/>
                    <a:lstStyle/>
                    <a:p>
                      <a:pPr algn="l"/>
                      <a:r>
                        <a:rPr sz="1400" b="0">
                          <a:solidFill>
                            <a:srgbClr val="1E293B"/>
                          </a:solidFill>
                          <a:latin typeface="Liberation Sans"/>
                        </a:rPr>
                        <a:t>0.0000 m/s²</a:t>
                      </a:r>
                    </a:p>
                  </a:txBody>
                  <a:tcPr anchor="ctr" marL="73152" marR="73152" marT="27432" marB="27432">
                    <a:solidFill>
                      <a:srgbClr val="FFFFFF"/>
                    </a:solidFill>
                  </a:tcPr>
                </a:tc>
              </a:tr>
            </a:tbl>
          </a:graphicData>
        </a:graphic>
      </p:graphicFrame>
      <p:sp>
        <p:nvSpPr>
          <p:cNvPr id="6" name="TextBox 5"/>
          <p:cNvSpPr txBox="1"/>
          <p:nvPr/>
        </p:nvSpPr>
        <p:spPr>
          <a:xfrm>
            <a:off x="6446520" y="2048256"/>
            <a:ext cx="5148072" cy="3977639"/>
          </a:xfrm>
          <a:prstGeom prst="rect">
            <a:avLst/>
          </a:prstGeom>
          <a:noFill/>
        </p:spPr>
        <p:txBody>
          <a:bodyPr wrap="square" anchor="t" lIns="0" tIns="0" rIns="0" bIns="0">
            <a:spAutoFit/>
          </a:bodyPr>
          <a:lstStyle/>
          <a:p>
            <a:pPr algn="l" marL="201168" indent="-201168">
              <a:spcAft>
                <a:spcPts val="600"/>
              </a:spcAft>
              <a:buFont typeface="Liberation Sans"/>
              <a:buChar char="•"/>
            </a:pPr>
            <a:r>
              <a:rPr sz="1500" b="1">
                <a:solidFill>
                  <a:srgbClr val="1E293B"/>
                </a:solidFill>
                <a:latin typeface="Liberation Sans"/>
              </a:rPr>
              <a:t>Why 'after = 0' is not proof: </a:t>
            </a:r>
            <a:r>
              <a:rPr sz="1400" b="0">
                <a:solidFill>
                  <a:srgbClr val="334155"/>
                </a:solidFill>
                <a:latin typeface="Liberation Sans"/>
              </a:rPr>
              <a:t>Six static positions solve six unknowns exactly by construction; the true check is the per-axis formula (agrees to ~0.01 m/s² and 0.003).</a:t>
            </a:r>
          </a:p>
          <a:p>
            <a:pPr algn="l" marL="201168" indent="-201168">
              <a:spcAft>
                <a:spcPts val="600"/>
              </a:spcAft>
              <a:buFont typeface="Liberation Sans"/>
              <a:buChar char="•"/>
            </a:pPr>
            <a:r>
              <a:rPr sz="1500" b="1">
                <a:solidFill>
                  <a:srgbClr val="1E293B"/>
                </a:solidFill>
                <a:latin typeface="Liberation Sans"/>
              </a:rPr>
              <a:t>Gap 1 — Accel misalignment: </a:t>
            </a:r>
            <a:r>
              <a:rPr sz="1400" b="0">
                <a:solidFill>
                  <a:srgbClr val="334155"/>
                </a:solidFill>
                <a:latin typeface="Liberation Sans"/>
              </a:rPr>
              <a:t>Not calibrated. Six static holds cannot determine off-diagonal crooked-axis terms named in the Core tier.</a:t>
            </a:r>
          </a:p>
          <a:p>
            <a:pPr algn="l" marL="201168" indent="-201168">
              <a:spcAft>
                <a:spcPts val="600"/>
              </a:spcAft>
              <a:buFont typeface="Liberation Sans"/>
              <a:buChar char="•"/>
            </a:pPr>
            <a:r>
              <a:rPr sz="1500" b="1">
                <a:solidFill>
                  <a:srgbClr val="1E293B"/>
                </a:solidFill>
                <a:latin typeface="Liberation Sans"/>
              </a:rPr>
              <a:t>Gap 2 — Gyro scale &amp; misalignment: </a:t>
            </a:r>
            <a:r>
              <a:rPr sz="1400" b="0">
                <a:solidFill>
                  <a:srgbClr val="334155"/>
                </a:solidFill>
                <a:latin typeface="Liberation Sans"/>
              </a:rPr>
              <a:t>Not calibrated (no known-rate turntable test); only static gyro bias is removed.</a:t>
            </a:r>
          </a:p>
          <a:p>
            <a:pPr algn="l" marL="201168" indent="-201168">
              <a:spcAft>
                <a:spcPts val="600"/>
              </a:spcAft>
              <a:buFont typeface="Liberation Sans"/>
              <a:buChar char="•"/>
            </a:pPr>
            <a:r>
              <a:rPr sz="1500" b="1">
                <a:solidFill>
                  <a:srgbClr val="1E293B"/>
                </a:solidFill>
                <a:latin typeface="Liberation Sans"/>
              </a:rPr>
              <a:t>Gap 3 — Processed phone signal: </a:t>
            </a:r>
            <a:r>
              <a:rPr sz="1400" b="0">
                <a:solidFill>
                  <a:srgbClr val="334155"/>
                </a:solidFill>
                <a:latin typeface="Liberation Sans"/>
              </a:rPr>
              <a:t>The smartphone outputs a pre-processed accelerometer stream rather than raw sensor counts.</a:t>
            </a:r>
          </a:p>
          <a:p>
            <a:pPr algn="l" marL="201168" indent="-201168">
              <a:spcAft>
                <a:spcPts val="600"/>
              </a:spcAft>
              <a:buFont typeface="Liberation Sans"/>
              <a:buChar char="•"/>
            </a:pPr>
            <a:r>
              <a:rPr sz="1500" b="1">
                <a:solidFill>
                  <a:srgbClr val="1E293B"/>
                </a:solidFill>
                <a:latin typeface="Liberation Sans"/>
              </a:rPr>
              <a:t>EuRoC calibration handling: </a:t>
            </a:r>
            <a:r>
              <a:rPr sz="1400" b="0">
                <a:solidFill>
                  <a:srgbClr val="334155"/>
                </a:solidFill>
                <a:latin typeface="Liberation Sans"/>
              </a:rPr>
              <a:t>Phone table is NOT applied to EuRoC; gyro bias uses a startup window (wiggle 0.158 m/s²) and ESKF learns biases online.</a:t>
            </a:r>
          </a:p>
        </p:txBody>
      </p:sp>
      <p:sp>
        <p:nvSpPr>
          <p:cNvPr id="7" name="TextBox 6"/>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Section 4: Cross-Check Table &amp; Calibration Limitations (6/25)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5. STAGED FILTER DESIGN (STAGES A, B, C, E)</a:t>
            </a:r>
          </a:p>
          <a:p>
            <a:pPr algn="l"/>
            <a:r>
              <a:rPr sz="2600" b="1">
                <a:solidFill>
                  <a:srgbClr val="1E293B"/>
                </a:solidFill>
                <a:latin typeface="Liberation Sans"/>
              </a:rPr>
              <a:t>Five incremental filter stages isolate tilt control, ZUPT, ESKF, and de-drift</a:t>
            </a:r>
          </a:p>
        </p:txBody>
      </p:sp>
      <p:graphicFrame>
        <p:nvGraphicFramePr>
          <p:cNvPr id="5" name="Table 4"/>
          <p:cNvGraphicFramePr>
            <a:graphicFrameLocks noGrp="1"/>
          </p:cNvGraphicFramePr>
          <p:nvPr/>
        </p:nvGraphicFramePr>
        <p:xfrm>
          <a:off x="594360" y="2048256"/>
          <a:ext cx="11002975" cy="3145536"/>
        </p:xfrm>
        <a:graphic>
          <a:graphicData uri="http://schemas.openxmlformats.org/drawingml/2006/table">
            <a:tbl>
              <a:tblPr firstRow="1" bandRow="1">
                <a:tableStyleId>{5C22544A-7EE6-4342-B048-85BDC9FD1C3A}</a:tableStyleId>
              </a:tblPr>
              <a:tblGrid>
                <a:gridCol w="2286000"/>
                <a:gridCol w="1828800"/>
                <a:gridCol w="6888175"/>
              </a:tblGrid>
              <a:tr h="384048">
                <a:tc>
                  <a:txBody>
                    <a:bodyPr/>
                    <a:lstStyle/>
                    <a:p>
                      <a:pPr algn="l"/>
                      <a:r>
                        <a:rPr sz="1400" b="1">
                          <a:solidFill>
                            <a:srgbClr val="FFFFFF"/>
                          </a:solidFill>
                          <a:latin typeface="Liberation Sans"/>
                        </a:rPr>
                        <a:t>Pipeline Stage</a:t>
                      </a:r>
                    </a:p>
                  </a:txBody>
                  <a:tcPr anchor="ctr" marL="73152" marR="73152" marT="27432" marB="27432">
                    <a:solidFill>
                      <a:srgbClr val="2F4B7C"/>
                    </a:solidFill>
                  </a:tcPr>
                </a:tc>
                <a:tc>
                  <a:txBody>
                    <a:bodyPr/>
                    <a:lstStyle/>
                    <a:p>
                      <a:pPr algn="l"/>
                      <a:r>
                        <a:rPr sz="1400" b="1">
                          <a:solidFill>
                            <a:srgbClr val="FFFFFF"/>
                          </a:solidFill>
                          <a:latin typeface="Liberation Sans"/>
                        </a:rPr>
                        <a:t>Mode</a:t>
                      </a:r>
                    </a:p>
                  </a:txBody>
                  <a:tcPr anchor="ctr" marL="73152" marR="73152" marT="27432" marB="27432">
                    <a:solidFill>
                      <a:srgbClr val="2F4B7C"/>
                    </a:solidFill>
                  </a:tcPr>
                </a:tc>
                <a:tc>
                  <a:txBody>
                    <a:bodyPr/>
                    <a:lstStyle/>
                    <a:p>
                      <a:pPr algn="l"/>
                      <a:r>
                        <a:rPr sz="1400" b="1">
                          <a:solidFill>
                            <a:srgbClr val="FFFFFF"/>
                          </a:solidFill>
                          <a:latin typeface="Liberation Sans"/>
                        </a:rPr>
                        <a:t>Algorithmic Mechanism &amp; Exact Thresholds</a:t>
                      </a:r>
                    </a:p>
                  </a:txBody>
                  <a:tcPr anchor="ctr" marL="73152" marR="73152" marT="27432" marB="27432">
                    <a:solidFill>
                      <a:srgbClr val="2F4B7C"/>
                    </a:solidFill>
                  </a:tcPr>
                </a:tc>
              </a:tr>
              <a:tr h="512064">
                <a:tc>
                  <a:txBody>
                    <a:bodyPr/>
                    <a:lstStyle/>
                    <a:p>
                      <a:pPr algn="l"/>
                      <a:r>
                        <a:rPr sz="1400" b="1">
                          <a:solidFill>
                            <a:srgbClr val="1E293B"/>
                          </a:solidFill>
                          <a:latin typeface="Liberation Sans"/>
                        </a:rPr>
                        <a:t>Stage A: Plain Integration</a:t>
                      </a:r>
                    </a:p>
                  </a:txBody>
                  <a:tcPr anchor="ctr" marL="73152" marR="73152" marT="27432" marB="27432">
                    <a:solidFill>
                      <a:srgbClr val="EAF1FA"/>
                    </a:solidFill>
                  </a:tcPr>
                </a:tc>
                <a:tc>
                  <a:txBody>
                    <a:bodyPr/>
                    <a:lstStyle/>
                    <a:p>
                      <a:pPr algn="l"/>
                      <a:r>
                        <a:rPr sz="1400" b="0">
                          <a:solidFill>
                            <a:srgbClr val="1E293B"/>
                          </a:solidFill>
                          <a:latin typeface="Liberation Sans"/>
                        </a:rPr>
                        <a:t>Real-time</a:t>
                      </a:r>
                    </a:p>
                  </a:txBody>
                  <a:tcPr anchor="ctr" marL="73152" marR="73152" marT="27432" marB="27432">
                    <a:solidFill>
                      <a:srgbClr val="EAF1FA"/>
                    </a:solidFill>
                  </a:tcPr>
                </a:tc>
                <a:tc>
                  <a:txBody>
                    <a:bodyPr/>
                    <a:lstStyle/>
                    <a:p>
                      <a:pPr algn="l"/>
                      <a:r>
                        <a:rPr sz="1400" b="0">
                          <a:solidFill>
                            <a:srgbClr val="1E293B"/>
                          </a:solidFill>
                          <a:latin typeface="Liberation Sans"/>
                        </a:rPr>
                        <a:t>Rotate accelerometer into room frame using gyro orientation, subtract g, integrate twice (trapezoid rule). Errors grow as t².</a:t>
                      </a:r>
                    </a:p>
                  </a:txBody>
                  <a:tcPr anchor="ctr" marL="73152" marR="73152" marT="27432" marB="27432">
                    <a:solidFill>
                      <a:srgbClr val="EAF1FA"/>
                    </a:solidFill>
                  </a:tcPr>
                </a:tc>
              </a:tr>
              <a:tr h="530352">
                <a:tc>
                  <a:txBody>
                    <a:bodyPr/>
                    <a:lstStyle/>
                    <a:p>
                      <a:pPr algn="l"/>
                      <a:r>
                        <a:rPr sz="1400" b="1">
                          <a:solidFill>
                            <a:srgbClr val="1E293B"/>
                          </a:solidFill>
                          <a:latin typeface="Liberation Sans"/>
                        </a:rPr>
                        <a:t>Stage B: Mahony Filter</a:t>
                      </a:r>
                    </a:p>
                  </a:txBody>
                  <a:tcPr anchor="ctr" marL="73152" marR="73152" marT="27432" marB="27432">
                    <a:solidFill>
                      <a:srgbClr val="FFFFFF"/>
                    </a:solidFill>
                  </a:tcPr>
                </a:tc>
                <a:tc>
                  <a:txBody>
                    <a:bodyPr/>
                    <a:lstStyle/>
                    <a:p>
                      <a:pPr algn="l"/>
                      <a:r>
                        <a:rPr sz="1400" b="0">
                          <a:solidFill>
                            <a:srgbClr val="1E293B"/>
                          </a:solidFill>
                          <a:latin typeface="Liberation Sans"/>
                        </a:rPr>
                        <a:t>Real-time</a:t>
                      </a:r>
                    </a:p>
                  </a:txBody>
                  <a:tcPr anchor="ctr" marL="73152" marR="73152" marT="27432" marB="27432">
                    <a:solidFill>
                      <a:srgbClr val="FFFFFF"/>
                    </a:solidFill>
                  </a:tcPr>
                </a:tc>
                <a:tc>
                  <a:txBody>
                    <a:bodyPr/>
                    <a:lstStyle/>
                    <a:p>
                      <a:pPr algn="l"/>
                      <a:r>
                        <a:rPr sz="1400" b="0">
                          <a:solidFill>
                            <a:srgbClr val="1E293B"/>
                          </a:solidFill>
                          <a:latin typeface="Liberation Sans"/>
                        </a:rPr>
                        <a:t>Integrate gyro, pull tilt toward 'up' using accelerometer when norm is near g (gain Kp = 0.5). Stops tilt drift.</a:t>
                      </a:r>
                    </a:p>
                  </a:txBody>
                  <a:tcPr anchor="ctr" marL="73152" marR="73152" marT="27432" marB="27432">
                    <a:solidFill>
                      <a:srgbClr val="FFFFFF"/>
                    </a:solidFill>
                  </a:tcPr>
                </a:tc>
              </a:tr>
              <a:tr h="530352">
                <a:tc>
                  <a:txBody>
                    <a:bodyPr/>
                    <a:lstStyle/>
                    <a:p>
                      <a:pPr algn="l"/>
                      <a:r>
                        <a:rPr sz="1400" b="1">
                          <a:solidFill>
                            <a:srgbClr val="1E293B"/>
                          </a:solidFill>
                          <a:latin typeface="Liberation Sans"/>
                        </a:rPr>
                        <a:t>Stage C: Zero-Velocity (ZUPT)</a:t>
                      </a:r>
                    </a:p>
                  </a:txBody>
                  <a:tcPr anchor="ctr" marL="73152" marR="73152" marT="27432" marB="27432">
                    <a:solidFill>
                      <a:srgbClr val="EAF1FA"/>
                    </a:solidFill>
                  </a:tcPr>
                </a:tc>
                <a:tc>
                  <a:txBody>
                    <a:bodyPr/>
                    <a:lstStyle/>
                    <a:p>
                      <a:pPr algn="l"/>
                      <a:r>
                        <a:rPr sz="1400" b="0">
                          <a:solidFill>
                            <a:srgbClr val="1E293B"/>
                          </a:solidFill>
                          <a:latin typeface="Liberation Sans"/>
                        </a:rPr>
                        <a:t>Real-time</a:t>
                      </a:r>
                    </a:p>
                  </a:txBody>
                  <a:tcPr anchor="ctr" marL="73152" marR="73152" marT="27432" marB="27432">
                    <a:solidFill>
                      <a:srgbClr val="EAF1FA"/>
                    </a:solidFill>
                  </a:tcPr>
                </a:tc>
                <a:tc>
                  <a:txBody>
                    <a:bodyPr/>
                    <a:lstStyle/>
                    <a:p>
                      <a:pPr algn="l"/>
                      <a:r>
                        <a:rPr sz="1400" b="0">
                          <a:solidFill>
                            <a:srgbClr val="1E293B"/>
                          </a:solidFill>
                          <a:latin typeface="Liberation Sans"/>
                        </a:rPr>
                        <a:t>When gyro &lt; 0.05 rad/s and |accel - g| &lt; 0.3 m/s² for &gt;= 0.2 s, clamp velocity directly to zero.</a:t>
                      </a:r>
                    </a:p>
                  </a:txBody>
                  <a:tcPr anchor="ctr" marL="73152" marR="73152" marT="27432" marB="27432">
                    <a:solidFill>
                      <a:srgbClr val="EAF1FA"/>
                    </a:solidFill>
                  </a:tcPr>
                </a:tc>
              </a:tr>
              <a:tr h="530352">
                <a:tc>
                  <a:txBody>
                    <a:bodyPr/>
                    <a:lstStyle/>
                    <a:p>
                      <a:pPr algn="l"/>
                      <a:r>
                        <a:rPr sz="1400" b="1">
                          <a:solidFill>
                            <a:srgbClr val="1E293B"/>
                          </a:solidFill>
                          <a:latin typeface="Liberation Sans"/>
                        </a:rPr>
                        <a:t>Stage D: 15-State ESKF</a:t>
                      </a:r>
                    </a:p>
                  </a:txBody>
                  <a:tcPr anchor="ctr" marL="73152" marR="73152" marT="27432" marB="27432">
                    <a:solidFill>
                      <a:srgbClr val="FFFFFF"/>
                    </a:solidFill>
                  </a:tcPr>
                </a:tc>
                <a:tc>
                  <a:txBody>
                    <a:bodyPr/>
                    <a:lstStyle/>
                    <a:p>
                      <a:pPr algn="l"/>
                      <a:r>
                        <a:rPr sz="1400" b="0">
                          <a:solidFill>
                            <a:srgbClr val="1E293B"/>
                          </a:solidFill>
                          <a:latin typeface="Liberation Sans"/>
                        </a:rPr>
                        <a:t>Real-time</a:t>
                      </a:r>
                    </a:p>
                  </a:txBody>
                  <a:tcPr anchor="ctr" marL="73152" marR="73152" marT="27432" marB="27432">
                    <a:solidFill>
                      <a:srgbClr val="FFFFFF"/>
                    </a:solidFill>
                  </a:tcPr>
                </a:tc>
                <a:tc>
                  <a:txBody>
                    <a:bodyPr/>
                    <a:lstStyle/>
                    <a:p>
                      <a:pPr algn="l"/>
                      <a:r>
                        <a:rPr sz="1400" b="0">
                          <a:solidFill>
                            <a:srgbClr val="1E293B"/>
                          </a:solidFill>
                          <a:latin typeface="Liberation Sans"/>
                        </a:rPr>
                        <a:t>Fuses gravity updates, still updates, and optional gated position fixes while learning 3D accel &amp; gyro biases online.</a:t>
                      </a:r>
                    </a:p>
                  </a:txBody>
                  <a:tcPr anchor="ctr" marL="73152" marR="73152" marT="27432" marB="27432">
                    <a:solidFill>
                      <a:srgbClr val="FFFFFF"/>
                    </a:solidFill>
                  </a:tcPr>
                </a:tc>
              </a:tr>
              <a:tr h="658368">
                <a:tc>
                  <a:txBody>
                    <a:bodyPr/>
                    <a:lstStyle/>
                    <a:p>
                      <a:pPr algn="l"/>
                      <a:r>
                        <a:rPr sz="1400" b="1">
                          <a:solidFill>
                            <a:srgbClr val="78350F"/>
                          </a:solidFill>
                          <a:latin typeface="Liberation Sans"/>
                        </a:rPr>
                        <a:t>Stage E: Leg De-Drift</a:t>
                      </a:r>
                    </a:p>
                  </a:txBody>
                  <a:tcPr anchor="ctr" marL="73152" marR="73152" marT="27432" marB="27432">
                    <a:solidFill>
                      <a:srgbClr val="FFF6E0"/>
                    </a:solidFill>
                  </a:tcPr>
                </a:tc>
                <a:tc>
                  <a:txBody>
                    <a:bodyPr/>
                    <a:lstStyle/>
                    <a:p>
                      <a:pPr algn="l"/>
                      <a:r>
                        <a:rPr sz="1400" b="1">
                          <a:solidFill>
                            <a:srgbClr val="78350F"/>
                          </a:solidFill>
                          <a:latin typeface="Liberation Sans"/>
                        </a:rPr>
                        <a:t>NOT real-time</a:t>
                      </a:r>
                    </a:p>
                  </a:txBody>
                  <a:tcPr anchor="ctr" marL="73152" marR="73152" marT="27432" marB="27432">
                    <a:solidFill>
                      <a:srgbClr val="FFF6E0"/>
                    </a:solidFill>
                  </a:tcPr>
                </a:tc>
                <a:tc>
                  <a:txBody>
                    <a:bodyPr/>
                    <a:lstStyle/>
                    <a:p>
                      <a:pPr algn="l"/>
                      <a:r>
                        <a:rPr sz="1400" b="1">
                          <a:solidFill>
                            <a:srgbClr val="78350F"/>
                          </a:solidFill>
                          <a:latin typeface="Liberation Sans"/>
                        </a:rPr>
                        <a:t>Velocity at both ends of a stop-to-stop leg is truly zero, so end-of-leg velocity is pure error; removes constant accel error over each leg.</a:t>
                      </a:r>
                    </a:p>
                  </a:txBody>
                  <a:tcPr anchor="ctr" marL="73152" marR="73152" marT="27432" marB="27432">
                    <a:solidFill>
                      <a:srgbClr val="FFF6E0"/>
                    </a:solidFill>
                  </a:tcPr>
                </a:tc>
              </a:tr>
            </a:tbl>
          </a:graphicData>
        </a:graphic>
      </p:graphicFrame>
      <p:sp>
        <p:nvSpPr>
          <p:cNvPr id="6" name="TextBox 5"/>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Section 5: Incremental Filter Stages A–E (7/25)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5. STAGE D DEEP DIVE: 15-STATE ERROR-STATE KALMAN FILTER</a:t>
            </a:r>
          </a:p>
          <a:p>
            <a:pPr algn="l"/>
            <a:r>
              <a:rPr sz="2600" b="1">
                <a:solidFill>
                  <a:srgbClr val="1E293B"/>
                </a:solidFill>
                <a:latin typeface="Liberation Sans"/>
              </a:rPr>
              <a:t>The 15-state ESKF learns sensor biases online using gated gravity and stop updates</a:t>
            </a:r>
          </a:p>
        </p:txBody>
      </p:sp>
      <p:sp>
        <p:nvSpPr>
          <p:cNvPr id="5" name="Rounded Rectangle 4"/>
          <p:cNvSpPr/>
          <p:nvPr/>
        </p:nvSpPr>
        <p:spPr>
          <a:xfrm>
            <a:off x="594360" y="2057400"/>
            <a:ext cx="5303520" cy="3977639"/>
          </a:xfrm>
          <a:prstGeom prst="roundRect">
            <a:avLst>
              <a:gd name="adj" fmla="val 5000"/>
            </a:avLst>
          </a:prstGeom>
          <a:solidFill>
            <a:srgbClr val="EAF1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95528" y="2212848"/>
            <a:ext cx="4901184" cy="3657600"/>
          </a:xfrm>
          <a:prstGeom prst="rect">
            <a:avLst/>
          </a:prstGeom>
          <a:noFill/>
        </p:spPr>
        <p:txBody>
          <a:bodyPr wrap="square" anchor="t" lIns="0" tIns="0" rIns="0" bIns="0">
            <a:spAutoFit/>
          </a:bodyPr>
          <a:lstStyle/>
          <a:p>
            <a:pPr algn="l">
              <a:spcAft>
                <a:spcPts val="800"/>
              </a:spcAft>
            </a:pPr>
            <a:r>
              <a:rPr sz="2000" b="1">
                <a:solidFill>
                  <a:srgbClr val="2F4B7C"/>
                </a:solidFill>
                <a:latin typeface="Liberation Sans"/>
              </a:rPr>
              <a:t>Core IMU-Only ESKF Mechanics</a:t>
            </a:r>
          </a:p>
          <a:p>
            <a:pPr algn="l" marL="201168" indent="-201168">
              <a:spcAft>
                <a:spcPts val="800"/>
              </a:spcAft>
              <a:buFont typeface="Liberation Sans"/>
              <a:buChar char="•"/>
            </a:pPr>
            <a:r>
              <a:rPr sz="1500" b="1">
                <a:solidFill>
                  <a:srgbClr val="1E293B"/>
                </a:solidFill>
                <a:latin typeface="Liberation Sans"/>
              </a:rPr>
              <a:t>15 error states (3 each): </a:t>
            </a:r>
            <a:r>
              <a:rPr sz="1400" b="0">
                <a:solidFill>
                  <a:srgbClr val="334155"/>
                </a:solidFill>
                <a:latin typeface="Liberation Sans"/>
              </a:rPr>
              <a:t>Position, velocity, orientation (roll/pitch/yaw tilt), accelerometer bias, and gyroscope bias.</a:t>
            </a:r>
          </a:p>
          <a:p>
            <a:pPr algn="l" marL="201168" indent="-201168">
              <a:spcAft>
                <a:spcPts val="800"/>
              </a:spcAft>
              <a:buFont typeface="Liberation Sans"/>
              <a:buChar char="•"/>
            </a:pPr>
            <a:r>
              <a:rPr sz="1500" b="1">
                <a:solidFill>
                  <a:srgbClr val="1E293B"/>
                </a:solidFill>
                <a:latin typeface="Liberation Sans"/>
              </a:rPr>
              <a:t>Gravity update (&lt;= 2 Hz): </a:t>
            </a:r>
            <a:r>
              <a:rPr sz="1400" b="0">
                <a:solidFill>
                  <a:srgbClr val="334155"/>
                </a:solidFill>
                <a:latin typeface="Liberation Sans"/>
              </a:rPr>
              <a:t>Fixes tilt &amp; learns accel bias only when not accelerating (|a - g| &lt; 0.5 m/s², filter accel &lt; 1.0 m/s², at most every 0.5 s).</a:t>
            </a:r>
          </a:p>
          <a:p>
            <a:pPr algn="l" marL="201168" indent="-201168">
              <a:spcAft>
                <a:spcPts val="800"/>
              </a:spcAft>
              <a:buFont typeface="Liberation Sans"/>
              <a:buChar char="•"/>
            </a:pPr>
            <a:r>
              <a:rPr sz="1500" b="1">
                <a:solidFill>
                  <a:srgbClr val="1E293B"/>
                </a:solidFill>
                <a:latin typeface="Liberation Sans"/>
              </a:rPr>
              <a:t>Still update at stops (ZUPT): </a:t>
            </a:r>
            <a:r>
              <a:rPr sz="1400" b="0">
                <a:solidFill>
                  <a:srgbClr val="334155"/>
                </a:solidFill>
                <a:latin typeface="Liberation Sans"/>
              </a:rPr>
              <a:t>Forces velocity = 0 (sigma = 0.02 m/s) and treats gyro reading as gyro bias (sigma = 0.01 rad/s); requires window accel std &lt; 0.15 m/s².</a:t>
            </a:r>
          </a:p>
        </p:txBody>
      </p:sp>
      <p:sp>
        <p:nvSpPr>
          <p:cNvPr id="7" name="Rounded Rectangle 6"/>
          <p:cNvSpPr/>
          <p:nvPr/>
        </p:nvSpPr>
        <p:spPr>
          <a:xfrm>
            <a:off x="6263640" y="2057400"/>
            <a:ext cx="5330952" cy="3977639"/>
          </a:xfrm>
          <a:prstGeom prst="roundRect">
            <a:avLst>
              <a:gd name="adj" fmla="val 5000"/>
            </a:avLst>
          </a:prstGeom>
          <a:solidFill>
            <a:srgbClr val="FFF6E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464808" y="2212848"/>
            <a:ext cx="4928616" cy="3657600"/>
          </a:xfrm>
          <a:prstGeom prst="rect">
            <a:avLst/>
          </a:prstGeom>
          <a:noFill/>
        </p:spPr>
        <p:txBody>
          <a:bodyPr wrap="square" anchor="t" lIns="0" tIns="0" rIns="0" bIns="0">
            <a:spAutoFit/>
          </a:bodyPr>
          <a:lstStyle/>
          <a:p>
            <a:pPr algn="l">
              <a:spcAft>
                <a:spcPts val="800"/>
              </a:spcAft>
            </a:pPr>
            <a:r>
              <a:rPr sz="2000" b="1">
                <a:solidFill>
                  <a:srgbClr val="2F4B7C"/>
                </a:solidFill>
                <a:latin typeface="Liberation Sans"/>
              </a:rPr>
              <a:t>Gates, Tuning &amp; Startup Correlation</a:t>
            </a:r>
          </a:p>
          <a:p>
            <a:pPr algn="l" marL="201168" indent="-201168">
              <a:spcAft>
                <a:spcPts val="800"/>
              </a:spcAft>
              <a:buFont typeface="Liberation Sans"/>
              <a:buChar char="•"/>
            </a:pPr>
            <a:r>
              <a:rPr sz="1500" b="1">
                <a:solidFill>
                  <a:srgbClr val="1E293B"/>
                </a:solidFill>
                <a:latin typeface="Liberation Sans"/>
              </a:rPr>
              <a:t>Optional position-fix gate: </a:t>
            </a:r>
            <a:r>
              <a:rPr sz="1400" b="0">
                <a:solidFill>
                  <a:srgbClr val="334155"/>
                </a:solidFill>
                <a:latin typeface="Liberation Sans"/>
              </a:rPr>
              <a:t>Used only for declared floor marks (sigma = 0.05 m) or simulated EuRoC aids (sigma = 0.10 m) with a 99% chi-square outlier gate.</a:t>
            </a:r>
          </a:p>
          <a:p>
            <a:pPr algn="l" marL="201168" indent="-201168">
              <a:spcAft>
                <a:spcPts val="800"/>
              </a:spcAft>
              <a:buFont typeface="Liberation Sans"/>
              <a:buChar char="•"/>
            </a:pPr>
            <a:r>
              <a:rPr sz="1500" b="1">
                <a:solidFill>
                  <a:srgbClr val="1E293B"/>
                </a:solidFill>
                <a:latin typeface="Liberation Sans"/>
              </a:rPr>
              <a:t>Noise inflation (engineering guess): </a:t>
            </a:r>
            <a:r>
              <a:rPr sz="1400" b="0">
                <a:solidFill>
                  <a:srgbClr val="334155"/>
                </a:solidFill>
                <a:latin typeface="Liberation Sans"/>
              </a:rPr>
              <a:t>Datasheet noise inflated x20 (accel) and x10 (gyro) to cover vibration and model error — tuned by judgement, not fitted.</a:t>
            </a:r>
          </a:p>
          <a:p>
            <a:pPr algn="l" marL="201168" indent="-201168">
              <a:spcAft>
                <a:spcPts val="800"/>
              </a:spcAft>
              <a:buFont typeface="Liberation Sans"/>
              <a:buChar char="•"/>
            </a:pPr>
            <a:r>
              <a:rPr sz="1500" b="1">
                <a:solidFill>
                  <a:srgbClr val="1E293B"/>
                </a:solidFill>
                <a:latin typeface="Liberation Sans"/>
              </a:rPr>
              <a:t>Startup tilt-bias correlation: </a:t>
            </a:r>
            <a:r>
              <a:rPr sz="1400" b="0">
                <a:solidFill>
                  <a:srgbClr val="334155"/>
                </a:solidFill>
                <a:latin typeface="Liberation Sans"/>
              </a:rPr>
              <a:t>Initial tilt comes from the same still accel reading as bias; one virtual measurement seeds the covariance with the exact correlation.</a:t>
            </a:r>
          </a:p>
        </p:txBody>
      </p:sp>
      <p:sp>
        <p:nvSpPr>
          <p:cNvPr id="9" name="TextBox 8"/>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Section 5: 15-State ESKF Equations, Gates &amp; Tuning (8/25)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Picture 3" descr="bleed_9.png"/>
          <p:cNvPicPr>
            <a:picLocks noChangeAspect="1"/>
          </p:cNvPicPr>
          <p:nvPr/>
        </p:nvPicPr>
        <p:blipFill>
          <a:blip r:embed="rId2"/>
          <a:stretch>
            <a:fillRect/>
          </a:stretch>
        </p:blipFill>
        <p:spPr>
          <a:xfrm>
            <a:off x="6096304" y="0"/>
            <a:ext cx="6095390" cy="6858000"/>
          </a:xfrm>
          <a:prstGeom prst="rect">
            <a:avLst/>
          </a:prstGeom>
          <a:ln>
            <a:noFill/>
          </a:ln>
        </p:spPr>
      </p:pic>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94360" y="384048"/>
            <a:ext cx="5257800"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3 &amp; 6. SMARTPHONE TEST SETUP &amp; STOP DETECTION (FIGURE 03)</a:t>
            </a:r>
          </a:p>
          <a:p>
            <a:pPr algn="l"/>
            <a:r>
              <a:rPr sz="2400" b="1">
                <a:solidFill>
                  <a:srgbClr val="1E293B"/>
                </a:solidFill>
                <a:latin typeface="Liberation Sans"/>
              </a:rPr>
              <a:t>A 9.36 m five-stop square phone walk at 60 Hz tests corner stop accuracy</a:t>
            </a:r>
          </a:p>
        </p:txBody>
      </p:sp>
      <p:sp>
        <p:nvSpPr>
          <p:cNvPr id="6" name="TextBox 5"/>
          <p:cNvSpPr txBox="1"/>
          <p:nvPr/>
        </p:nvSpPr>
        <p:spPr>
          <a:xfrm>
            <a:off x="594360" y="2057400"/>
            <a:ext cx="5257800" cy="3977639"/>
          </a:xfrm>
          <a:prstGeom prst="rect">
            <a:avLst/>
          </a:prstGeom>
          <a:noFill/>
        </p:spPr>
        <p:txBody>
          <a:bodyPr wrap="square" anchor="t" lIns="0" tIns="0" rIns="0" bIns="0">
            <a:spAutoFit/>
          </a:bodyPr>
          <a:lstStyle/>
          <a:p>
            <a:pPr algn="l" marL="201168" indent="-201168">
              <a:spcAft>
                <a:spcPts val="600"/>
              </a:spcAft>
              <a:buFont typeface="Liberation Sans"/>
              <a:buChar char="•"/>
            </a:pPr>
            <a:r>
              <a:rPr sz="1500" b="1">
                <a:solidFill>
                  <a:srgbClr val="1E293B"/>
                </a:solidFill>
                <a:latin typeface="Liberation Sans"/>
              </a:rPr>
              <a:t>Recording &amp; path: </a:t>
            </a:r>
            <a:r>
              <a:rPr sz="1400" b="0">
                <a:solidFill>
                  <a:srgbClr val="334155"/>
                </a:solidFill>
                <a:latin typeface="Liberation Sans"/>
              </a:rPr>
              <a:t>Smartphone IMU resampled to 60 Hz; 79.7 s duration (4,782 samples). Tape-measured 2.34 m square sides = 9.36 m total path.</a:t>
            </a:r>
          </a:p>
          <a:p>
            <a:pPr algn="l" marL="201168" indent="-201168">
              <a:spcAft>
                <a:spcPts val="600"/>
              </a:spcAft>
              <a:buFont typeface="Liberation Sans"/>
              <a:buChar char="•"/>
            </a:pPr>
            <a:r>
              <a:rPr sz="1500" b="1">
                <a:solidFill>
                  <a:srgbClr val="1E293B"/>
                </a:solidFill>
                <a:latin typeface="Liberation Sans"/>
              </a:rPr>
              <a:t>Five detected stops (shaded gray): </a:t>
            </a:r>
            <a:r>
              <a:rPr sz="1400" b="0">
                <a:solidFill>
                  <a:srgbClr val="334155"/>
                </a:solidFill>
                <a:latin typeface="Liberation Sans"/>
              </a:rPr>
              <a:t>Requires still stretch &gt;= 0.8 s and bridges hand-tremor blips &lt;= 1.0 s: found at 8.0–11.1 s, 17.2–28.7 s, 33.4–45.5 s, 51.1–61.4 s, and 67.6–79.7 s.</a:t>
            </a:r>
          </a:p>
          <a:p>
            <a:pPr algn="l" marL="201168" indent="-201168">
              <a:spcAft>
                <a:spcPts val="600"/>
              </a:spcAft>
              <a:buFont typeface="Liberation Sans"/>
              <a:buChar char="•"/>
            </a:pPr>
            <a:r>
              <a:rPr sz="1500" b="1">
                <a:solidFill>
                  <a:srgbClr val="1E293B"/>
                </a:solidFill>
                <a:latin typeface="Liberation Sans"/>
              </a:rPr>
              <a:t>Four 90° corner turns: </a:t>
            </a:r>
            <a:r>
              <a:rPr sz="1400" b="0">
                <a:solidFill>
                  <a:srgbClr val="334155"/>
                </a:solidFill>
                <a:latin typeface="Liberation Sans"/>
              </a:rPr>
              <a:t>Visible as four sharp negative dips in gyro-z (bottom panel of Figure 03) between the stationary gray windows.</a:t>
            </a:r>
          </a:p>
          <a:p>
            <a:pPr algn="l" marL="201168" indent="-201168">
              <a:spcAft>
                <a:spcPts val="600"/>
              </a:spcAft>
              <a:buFont typeface="Liberation Sans"/>
              <a:buChar char="•"/>
            </a:pPr>
            <a:r>
              <a:rPr sz="1500" b="1">
                <a:solidFill>
                  <a:srgbClr val="1E293B"/>
                </a:solidFill>
                <a:latin typeface="Liberation Sans"/>
              </a:rPr>
              <a:t>Ground-truth evaluation rule: </a:t>
            </a:r>
            <a:r>
              <a:rPr sz="1400" b="0">
                <a:solidFill>
                  <a:srgbClr val="334155"/>
                </a:solidFill>
                <a:latin typeface="Liberation Sans"/>
              </a:rPr>
              <a:t>True position is known only at the 5 corners (read 0.3 s after arriving at each stop), not continuously along legs.</a:t>
            </a:r>
          </a:p>
          <a:p>
            <a:pPr algn="l" marL="201168" indent="-201168">
              <a:spcAft>
                <a:spcPts val="600"/>
              </a:spcAft>
              <a:buFont typeface="Liberation Sans"/>
              <a:buChar char="•"/>
            </a:pPr>
            <a:r>
              <a:rPr sz="1500" b="1">
                <a:solidFill>
                  <a:srgbClr val="1E293B"/>
                </a:solidFill>
                <a:latin typeface="Liberation Sans"/>
              </a:rPr>
              <a:t>Fitted heading limitation: </a:t>
            </a:r>
            <a:r>
              <a:rPr sz="1400" b="0">
                <a:solidFill>
                  <a:srgbClr val="334155"/>
                </a:solidFill>
                <a:latin typeface="Liberation Sans"/>
              </a:rPr>
              <a:t>With no magnetometer, the first leg's room heading is fitted from our data (71°, fit quality 0.99), making stop errors slightly flattering.</a:t>
            </a:r>
          </a:p>
        </p:txBody>
      </p:sp>
      <p:sp>
        <p:nvSpPr>
          <p:cNvPr id="7" name="TextBox 6"/>
          <p:cNvSpPr txBox="1"/>
          <p:nvPr/>
        </p:nvSpPr>
        <p:spPr>
          <a:xfrm>
            <a:off x="594360" y="6364224"/>
            <a:ext cx="5257800" cy="310896"/>
          </a:xfrm>
          <a:prstGeom prst="rect">
            <a:avLst/>
          </a:prstGeom>
          <a:noFill/>
        </p:spPr>
        <p:txBody>
          <a:bodyPr wrap="square" anchor="t" lIns="0" tIns="0" rIns="0" bIns="0">
            <a:spAutoFit/>
          </a:bodyPr>
          <a:lstStyle/>
          <a:p>
            <a:pPr algn="l"/>
            <a:r>
              <a:rPr sz="1400">
                <a:solidFill>
                  <a:srgbClr val="334155"/>
                </a:solidFill>
                <a:latin typeface="Liberation Sans"/>
              </a:rPr>
              <a:t>Team Pineapple | Figure 03: Phone Sensor Traces &amp; Stops (9/25)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Picture 3" descr="bleed_10.png"/>
          <p:cNvPicPr>
            <a:picLocks noChangeAspect="1"/>
          </p:cNvPicPr>
          <p:nvPr/>
        </p:nvPicPr>
        <p:blipFill>
          <a:blip r:embed="rId2"/>
          <a:stretch>
            <a:fillRect/>
          </a:stretch>
        </p:blipFill>
        <p:spPr>
          <a:xfrm>
            <a:off x="6096304" y="0"/>
            <a:ext cx="6095390" cy="6858000"/>
          </a:xfrm>
          <a:prstGeom prst="rect">
            <a:avLst/>
          </a:prstGeom>
          <a:ln>
            <a:noFill/>
          </a:ln>
        </p:spPr>
      </p:pic>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94360" y="384048"/>
            <a:ext cx="5257800"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6. PHONE TRAJECTORY VS IDEAL SQUARE (FIGURE 04)</a:t>
            </a:r>
          </a:p>
          <a:p>
            <a:pPr algn="l"/>
            <a:r>
              <a:rPr sz="2400" b="1">
                <a:solidFill>
                  <a:srgbClr val="1E293B"/>
                </a:solidFill>
                <a:latin typeface="Liberation Sans"/>
              </a:rPr>
              <a:t>Staged filtering and leg de-drift cut walk end error from 211 m to 0.59 m</a:t>
            </a:r>
          </a:p>
        </p:txBody>
      </p:sp>
      <p:sp>
        <p:nvSpPr>
          <p:cNvPr id="6" name="TextBox 5"/>
          <p:cNvSpPr txBox="1"/>
          <p:nvPr/>
        </p:nvSpPr>
        <p:spPr>
          <a:xfrm>
            <a:off x="594360" y="2057400"/>
            <a:ext cx="5257800" cy="3977639"/>
          </a:xfrm>
          <a:prstGeom prst="rect">
            <a:avLst/>
          </a:prstGeom>
          <a:noFill/>
        </p:spPr>
        <p:txBody>
          <a:bodyPr wrap="square" anchor="t" lIns="0" tIns="0" rIns="0" bIns="0">
            <a:spAutoFit/>
          </a:bodyPr>
          <a:lstStyle/>
          <a:p>
            <a:pPr algn="l" marL="201168" indent="-201168">
              <a:spcAft>
                <a:spcPts val="600"/>
              </a:spcAft>
              <a:buFont typeface="Liberation Sans"/>
              <a:buChar char="•"/>
            </a:pPr>
            <a:r>
              <a:rPr sz="1500" b="1">
                <a:solidFill>
                  <a:srgbClr val="1E293B"/>
                </a:solidFill>
                <a:latin typeface="Liberation Sans"/>
              </a:rPr>
              <a:t>Raw double integration drift: </a:t>
            </a:r>
            <a:r>
              <a:rPr sz="1400" b="0">
                <a:solidFill>
                  <a:srgbClr val="334155"/>
                </a:solidFill>
                <a:latin typeface="Liberation Sans"/>
              </a:rPr>
              <a:t>Drifts to 143.92 m off at Stop 4 (mean stop error 57.91 m) and ends 211 m from the start by the end of the recording.</a:t>
            </a:r>
          </a:p>
          <a:p>
            <a:pPr algn="l" marL="201168" indent="-201168">
              <a:spcAft>
                <a:spcPts val="600"/>
              </a:spcAft>
              <a:buFont typeface="Liberation Sans"/>
              <a:buChar char="•"/>
            </a:pPr>
            <a:r>
              <a:rPr sz="1500" b="1">
                <a:solidFill>
                  <a:srgbClr val="1E293B"/>
                </a:solidFill>
                <a:latin typeface="Liberation Sans"/>
              </a:rPr>
              <a:t>Best honest run — leg de-drift (ESKF): </a:t>
            </a:r>
            <a:r>
              <a:rPr sz="1400" b="0">
                <a:solidFill>
                  <a:srgbClr val="334155"/>
                </a:solidFill>
                <a:latin typeface="Liberation Sans"/>
              </a:rPr>
              <a:t>Reaches 0.59 m final return-to-start error (6.3% of path) and 0.72 m mean stop error (7.7% of path); stops 1–4 = 0.93, 0.29, 1.09, 0.59 m.</a:t>
            </a:r>
          </a:p>
          <a:p>
            <a:pPr algn="l" marL="201168" indent="-201168">
              <a:spcAft>
                <a:spcPts val="600"/>
              </a:spcAft>
              <a:buFont typeface="Liberation Sans"/>
              <a:buChar char="•"/>
            </a:pPr>
            <a:r>
              <a:rPr sz="1500" b="1">
                <a:solidFill>
                  <a:srgbClr val="1E293B"/>
                </a:solidFill>
                <a:latin typeface="Liberation Sans"/>
              </a:rPr>
              <a:t>Real-time ESKF (no aiding): </a:t>
            </a:r>
            <a:r>
              <a:rPr sz="1400" b="0">
                <a:solidFill>
                  <a:srgbClr val="334155"/>
                </a:solidFill>
                <a:latin typeface="Liberation Sans"/>
              </a:rPr>
              <a:t>Achieves 1.15 m final stop error (12.2%) and 1.68 m mean stop error (stops 1–4 = 2.88, 1.42, 1.27, 1.15 m).</a:t>
            </a:r>
          </a:p>
          <a:p>
            <a:pPr algn="l" marL="201168" indent="-201168">
              <a:spcAft>
                <a:spcPts val="600"/>
              </a:spcAft>
              <a:buFont typeface="Liberation Sans"/>
              <a:buChar char="•"/>
            </a:pPr>
            <a:r>
              <a:rPr sz="1500" b="1">
                <a:solidFill>
                  <a:srgbClr val="1E293B"/>
                </a:solidFill>
                <a:latin typeface="Liberation Sans"/>
              </a:rPr>
              <a:t>Marks run instability: </a:t>
            </a:r>
            <a:r>
              <a:rPr sz="1400" b="0">
                <a:solidFill>
                  <a:srgbClr val="334155"/>
                </a:solidFill>
                <a:latin typeface="Liberation Sans"/>
              </a:rPr>
              <a:t>ESKF + corner marks ended at 0.29 m in one configuration and 1.12 m in another with sharp pull spikes; we report 1.12 m honestly.</a:t>
            </a:r>
          </a:p>
          <a:p>
            <a:pPr algn="l" marL="201168" indent="-201168">
              <a:spcAft>
                <a:spcPts val="600"/>
              </a:spcAft>
              <a:buFont typeface="Liberation Sans"/>
              <a:buChar char="•"/>
            </a:pPr>
            <a:r>
              <a:rPr sz="1500" b="1">
                <a:solidFill>
                  <a:srgbClr val="1E293B"/>
                </a:solidFill>
                <a:latin typeface="Liberation Sans"/>
              </a:rPr>
              <a:t>Wobbly square leg lengths (vs 2.34 m): </a:t>
            </a:r>
            <a:r>
              <a:rPr sz="1400" b="0">
                <a:solidFill>
                  <a:srgbClr val="334155"/>
                </a:solidFill>
                <a:latin typeface="Liberation Sans"/>
              </a:rPr>
              <a:t>ESKF: 0.78, 1.91, 0.90, 0.83 m | De-drift (Mahony): 1.69, 2.13, 1.21, 2.93 m | De-drift (ESKF): 2.43, 1.67, 1.32, 2.57 m (~1 m inconsistency).</a:t>
            </a:r>
          </a:p>
        </p:txBody>
      </p:sp>
      <p:sp>
        <p:nvSpPr>
          <p:cNvPr id="7" name="TextBox 6"/>
          <p:cNvSpPr txBox="1"/>
          <p:nvPr/>
        </p:nvSpPr>
        <p:spPr>
          <a:xfrm>
            <a:off x="594360" y="6364224"/>
            <a:ext cx="5257800" cy="310896"/>
          </a:xfrm>
          <a:prstGeom prst="rect">
            <a:avLst/>
          </a:prstGeom>
          <a:noFill/>
        </p:spPr>
        <p:txBody>
          <a:bodyPr wrap="square" anchor="t" lIns="0" tIns="0" rIns="0" bIns="0">
            <a:spAutoFit/>
          </a:bodyPr>
          <a:lstStyle/>
          <a:p>
            <a:pPr algn="l"/>
            <a:r>
              <a:rPr sz="1400">
                <a:solidFill>
                  <a:srgbClr val="334155"/>
                </a:solidFill>
                <a:latin typeface="Liberation Sans"/>
              </a:rPr>
              <a:t>Team Pineapple | Figure 04: Top-Down Paths &amp; Leg Lengths (10/25)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Picture 3" descr="bleed_11.png"/>
          <p:cNvPicPr>
            <a:picLocks noChangeAspect="1"/>
          </p:cNvPicPr>
          <p:nvPr/>
        </p:nvPicPr>
        <p:blipFill>
          <a:blip r:embed="rId2"/>
          <a:stretch>
            <a:fillRect/>
          </a:stretch>
        </p:blipFill>
        <p:spPr>
          <a:xfrm>
            <a:off x="6096304" y="0"/>
            <a:ext cx="6095390" cy="6858000"/>
          </a:xfrm>
          <a:prstGeom prst="rect">
            <a:avLst/>
          </a:prstGeom>
          <a:ln>
            <a:noFill/>
          </a:ln>
        </p:spPr>
      </p:pic>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94360" y="384048"/>
            <a:ext cx="5257800"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6. STAGE-BY-STAGE CONTRIBUTION ANALYSIS (FIGURE 05)</a:t>
            </a:r>
          </a:p>
          <a:p>
            <a:pPr algn="l"/>
            <a:r>
              <a:rPr sz="2300" b="1">
                <a:solidFill>
                  <a:srgbClr val="1E293B"/>
                </a:solidFill>
                <a:latin typeface="Liberation Sans"/>
              </a:rPr>
              <a:t>Combining Mahony, ZUPT, ESKF, and de-drift cuts mean error from 57.91 m to 0.72 m</a:t>
            </a:r>
          </a:p>
        </p:txBody>
      </p:sp>
      <p:sp>
        <p:nvSpPr>
          <p:cNvPr id="6" name="TextBox 5"/>
          <p:cNvSpPr txBox="1"/>
          <p:nvPr/>
        </p:nvSpPr>
        <p:spPr>
          <a:xfrm>
            <a:off x="594360" y="2057400"/>
            <a:ext cx="5257800" cy="3977639"/>
          </a:xfrm>
          <a:prstGeom prst="rect">
            <a:avLst/>
          </a:prstGeom>
          <a:noFill/>
        </p:spPr>
        <p:txBody>
          <a:bodyPr wrap="square" anchor="t" lIns="0" tIns="0" rIns="0" bIns="0">
            <a:spAutoFit/>
          </a:bodyPr>
          <a:lstStyle/>
          <a:p>
            <a:pPr algn="l" marL="201168" indent="-201168">
              <a:spcAft>
                <a:spcPts val="600"/>
              </a:spcAft>
              <a:buFont typeface="Liberation Sans"/>
              <a:buChar char="•"/>
            </a:pPr>
            <a:r>
              <a:rPr sz="1500" b="1">
                <a:solidFill>
                  <a:srgbClr val="1E293B"/>
                </a:solidFill>
                <a:latin typeface="Liberation Sans"/>
              </a:rPr>
              <a:t>Bias removal alone worsened drift: </a:t>
            </a:r>
            <a:r>
              <a:rPr sz="1400" b="0">
                <a:solidFill>
                  <a:srgbClr val="334155"/>
                </a:solidFill>
                <a:latin typeface="Liberation Sans"/>
              </a:rPr>
              <a:t>Mean error rose from 57.91 m (raw) to 318.44 m (797.78 m end) because uncompensated tilt leaks gravity.</a:t>
            </a:r>
          </a:p>
          <a:p>
            <a:pPr algn="l" marL="201168" indent="-201168">
              <a:spcAft>
                <a:spcPts val="600"/>
              </a:spcAft>
              <a:buFont typeface="Liberation Sans"/>
              <a:buChar char="•"/>
            </a:pPr>
            <a:r>
              <a:rPr sz="1500" b="1">
                <a:solidFill>
                  <a:srgbClr val="1E293B"/>
                </a:solidFill>
                <a:latin typeface="Liberation Sans"/>
              </a:rPr>
              <a:t>Mahony + ZUPT synergy: </a:t>
            </a:r>
            <a:r>
              <a:rPr sz="1400" b="0">
                <a:solidFill>
                  <a:srgbClr val="334155"/>
                </a:solidFill>
                <a:latin typeface="Liberation Sans"/>
              </a:rPr>
              <a:t>Mahony (67.82 m) holds tilt; ZUPT (29.08 m) caps stop velocity; combined drops mean error to 7.21 m (1.96 m end = 20.9%).</a:t>
            </a:r>
          </a:p>
          <a:p>
            <a:pPr algn="l" marL="201168" indent="-201168">
              <a:spcAft>
                <a:spcPts val="600"/>
              </a:spcAft>
              <a:buFont typeface="Liberation Sans"/>
              <a:buChar char="•"/>
            </a:pPr>
            <a:r>
              <a:rPr sz="1500" b="1">
                <a:solidFill>
                  <a:srgbClr val="1E293B"/>
                </a:solidFill>
                <a:latin typeface="Liberation Sans"/>
              </a:rPr>
              <a:t>Real-time 15-state ESKF: </a:t>
            </a:r>
            <a:r>
              <a:rPr sz="1400" b="0">
                <a:solidFill>
                  <a:srgbClr val="334155"/>
                </a:solidFill>
                <a:latin typeface="Liberation Sans"/>
              </a:rPr>
              <a:t>Learns biases online, cutting mean error to 1.68 m (1.15 m end = 12.2%) across 1,370 still-updates (0 rejected).</a:t>
            </a:r>
          </a:p>
          <a:p>
            <a:pPr algn="l" marL="201168" indent="-201168">
              <a:spcAft>
                <a:spcPts val="600"/>
              </a:spcAft>
              <a:buFont typeface="Liberation Sans"/>
              <a:buChar char="•"/>
            </a:pPr>
            <a:r>
              <a:rPr sz="1500" b="1">
                <a:solidFill>
                  <a:srgbClr val="1E293B"/>
                </a:solidFill>
                <a:latin typeface="Liberation Sans"/>
              </a:rPr>
              <a:t>Per-leg de-drift &amp; internal checks: </a:t>
            </a:r>
            <a:r>
              <a:rPr sz="1400" b="0">
                <a:solidFill>
                  <a:srgbClr val="334155"/>
                </a:solidFill>
                <a:latin typeface="Liberation Sans"/>
              </a:rPr>
              <a:t>Cuts mean error to 0.77 m (Mahony) and 0.72 m (ESKF, 0.59 m end = 6.3%); final tilt check is 0.66° (&lt;2°), fit quality 0.99.</a:t>
            </a:r>
          </a:p>
        </p:txBody>
      </p:sp>
      <p:sp>
        <p:nvSpPr>
          <p:cNvPr id="7" name="TextBox 6"/>
          <p:cNvSpPr txBox="1"/>
          <p:nvPr/>
        </p:nvSpPr>
        <p:spPr>
          <a:xfrm>
            <a:off x="594360" y="6364224"/>
            <a:ext cx="5257800" cy="310896"/>
          </a:xfrm>
          <a:prstGeom prst="rect">
            <a:avLst/>
          </a:prstGeom>
          <a:noFill/>
        </p:spPr>
        <p:txBody>
          <a:bodyPr wrap="square" anchor="t" lIns="0" tIns="0" rIns="0" bIns="0">
            <a:spAutoFit/>
          </a:bodyPr>
          <a:lstStyle/>
          <a:p>
            <a:pPr algn="l"/>
            <a:r>
              <a:rPr sz="1400">
                <a:solidFill>
                  <a:srgbClr val="334155"/>
                </a:solidFill>
                <a:latin typeface="Liberation Sans"/>
              </a:rPr>
              <a:t>Team Pineapple | Figure 05: Every-Run Overlay &amp; Stage Breakdown (11/25)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6. ERROR VS DISTANCE &amp; TIME AGAINST TIER LINES (FIGURES 06 &amp; 07)</a:t>
            </a:r>
          </a:p>
          <a:p>
            <a:pPr algn="l"/>
            <a:r>
              <a:rPr sz="2600" b="1">
                <a:solidFill>
                  <a:srgbClr val="1E293B"/>
                </a:solidFill>
                <a:latin typeface="Liberation Sans"/>
              </a:rPr>
              <a:t>Stop resets keep phone-walk errors near 0.3 to 1.1 m, but the 3% target (0.28 m) is missed</a:t>
            </a:r>
          </a:p>
        </p:txBody>
      </p:sp>
      <p:pic>
        <p:nvPicPr>
          <p:cNvPr id="5" name="Picture 4" descr="inset_s12_1.png"/>
          <p:cNvPicPr>
            <a:picLocks noChangeAspect="1"/>
          </p:cNvPicPr>
          <p:nvPr/>
        </p:nvPicPr>
        <p:blipFill>
          <a:blip r:embed="rId2"/>
          <a:stretch>
            <a:fillRect/>
          </a:stretch>
        </p:blipFill>
        <p:spPr>
          <a:xfrm>
            <a:off x="594360" y="2029968"/>
            <a:ext cx="5321808" cy="2304288"/>
          </a:xfrm>
          <a:prstGeom prst="rect">
            <a:avLst/>
          </a:prstGeom>
          <a:ln>
            <a:noFill/>
          </a:ln>
        </p:spPr>
      </p:pic>
      <p:pic>
        <p:nvPicPr>
          <p:cNvPr id="6" name="Picture 5" descr="inset_s12_2.png"/>
          <p:cNvPicPr>
            <a:picLocks noChangeAspect="1"/>
          </p:cNvPicPr>
          <p:nvPr/>
        </p:nvPicPr>
        <p:blipFill>
          <a:blip r:embed="rId3"/>
          <a:stretch>
            <a:fillRect/>
          </a:stretch>
        </p:blipFill>
        <p:spPr>
          <a:xfrm>
            <a:off x="6272784" y="2029968"/>
            <a:ext cx="5321808" cy="2304288"/>
          </a:xfrm>
          <a:prstGeom prst="rect">
            <a:avLst/>
          </a:prstGeom>
          <a:ln>
            <a:noFill/>
          </a:ln>
        </p:spPr>
      </p:pic>
      <p:sp>
        <p:nvSpPr>
          <p:cNvPr id="7" name="TextBox 6"/>
          <p:cNvSpPr txBox="1"/>
          <p:nvPr/>
        </p:nvSpPr>
        <p:spPr>
          <a:xfrm>
            <a:off x="594360" y="4480560"/>
            <a:ext cx="11002975" cy="1645920"/>
          </a:xfrm>
          <a:prstGeom prst="rect">
            <a:avLst/>
          </a:prstGeom>
          <a:noFill/>
        </p:spPr>
        <p:txBody>
          <a:bodyPr wrap="square" anchor="t" lIns="0" tIns="0" rIns="0" bIns="0">
            <a:spAutoFit/>
          </a:bodyPr>
          <a:lstStyle/>
          <a:p>
            <a:pPr algn="l" marL="201168" indent="-201168">
              <a:spcAft>
                <a:spcPts val="500"/>
              </a:spcAft>
              <a:buFont typeface="Liberation Sans"/>
              <a:buChar char="•"/>
            </a:pPr>
            <a:r>
              <a:rPr sz="1500" b="1">
                <a:solidFill>
                  <a:srgbClr val="1E293B"/>
                </a:solidFill>
                <a:latin typeface="Liberation Sans"/>
              </a:rPr>
              <a:t>Core tier (&lt;1 m in first 30 s): </a:t>
            </a:r>
            <a:r>
              <a:rPr sz="1400" b="0">
                <a:solidFill>
                  <a:srgbClr val="334155"/>
                </a:solidFill>
                <a:latin typeface="Liberation Sans"/>
              </a:rPr>
              <a:t>At Stop 1 (~17.2 s), leg de-drift passes at 0.74 m (Mahony) and 0.93 m (ESKF); real-time unaided ESKF is 2.88 m (fails Core, then converges to 1.15 m).</a:t>
            </a:r>
          </a:p>
          <a:p>
            <a:pPr algn="l" marL="201168" indent="-201168">
              <a:spcAft>
                <a:spcPts val="500"/>
              </a:spcAft>
              <a:buFont typeface="Liberation Sans"/>
              <a:buChar char="•"/>
            </a:pPr>
            <a:r>
              <a:rPr sz="1500" b="1">
                <a:solidFill>
                  <a:srgbClr val="1E293B"/>
                </a:solidFill>
                <a:latin typeface="Liberation Sans"/>
              </a:rPr>
              <a:t>Main (3% = 0.28 m) &amp; Bonus (&lt;0.3 m): </a:t>
            </a:r>
            <a:r>
              <a:rPr sz="1400" b="0">
                <a:solidFill>
                  <a:srgbClr val="334155"/>
                </a:solidFill>
                <a:latin typeface="Liberation Sans"/>
              </a:rPr>
              <a:t>Best final error 0.59 m (6.3%) misses 0.28 m; independent Stop 4 with floor marks is 1.12 m (ESKF) and 0.66 m (de-drift) — both missed.</a:t>
            </a:r>
          </a:p>
          <a:p>
            <a:pPr algn="l" marL="201168" indent="-201168">
              <a:spcAft>
                <a:spcPts val="500"/>
              </a:spcAft>
              <a:buFont typeface="Liberation Sans"/>
              <a:buChar char="•"/>
            </a:pPr>
            <a:r>
              <a:rPr sz="1500" b="1">
                <a:solidFill>
                  <a:srgbClr val="1E293B"/>
                </a:solidFill>
                <a:latin typeface="Liberation Sans"/>
              </a:rPr>
              <a:t>Start-time robustness check: </a:t>
            </a:r>
            <a:r>
              <a:rPr sz="1400" b="0">
                <a:solidFill>
                  <a:srgbClr val="334155"/>
                </a:solidFill>
                <a:latin typeface="Liberation Sans"/>
              </a:rPr>
              <a:t>Shifting filter start from 2.0 s (handled) to 8.0 s (still window) changes best mean stop error by only 0.04 m (0.68 m -&gt; 0.72 m).</a:t>
            </a:r>
          </a:p>
        </p:txBody>
      </p:sp>
      <p:sp>
        <p:nvSpPr>
          <p:cNvPr id="8" name="TextBox 7"/>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Section 6 &amp; Figures 06–07: Error vs Distance &amp; Time (12/25)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Picture 3" descr="bleed_13.png"/>
          <p:cNvPicPr>
            <a:picLocks noChangeAspect="1"/>
          </p:cNvPicPr>
          <p:nvPr/>
        </p:nvPicPr>
        <p:blipFill>
          <a:blip r:embed="rId2"/>
          <a:stretch>
            <a:fillRect/>
          </a:stretch>
        </p:blipFill>
        <p:spPr>
          <a:xfrm>
            <a:off x="6096304" y="0"/>
            <a:ext cx="6095390" cy="6858000"/>
          </a:xfrm>
          <a:prstGeom prst="rect">
            <a:avLst/>
          </a:prstGeom>
          <a:ln>
            <a:noFill/>
          </a:ln>
        </p:spPr>
      </p:pic>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94360" y="384048"/>
            <a:ext cx="5257800"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9. SHORT DRIFT ANALYSIS: LOG-LOG POWER-LAW FITS (FIGURE 09)</a:t>
            </a:r>
          </a:p>
          <a:p>
            <a:pPr algn="l"/>
            <a:r>
              <a:rPr sz="2300" b="1">
                <a:solidFill>
                  <a:srgbClr val="1E293B"/>
                </a:solidFill>
                <a:latin typeface="Liberation Sans"/>
              </a:rPr>
              <a:t>Stop updates flatten distance drift exponent near zero; unaided drone grows near t²</a:t>
            </a:r>
          </a:p>
        </p:txBody>
      </p:sp>
      <p:sp>
        <p:nvSpPr>
          <p:cNvPr id="6" name="TextBox 5"/>
          <p:cNvSpPr txBox="1"/>
          <p:nvPr/>
        </p:nvSpPr>
        <p:spPr>
          <a:xfrm>
            <a:off x="594360" y="2057400"/>
            <a:ext cx="5257800" cy="3977639"/>
          </a:xfrm>
          <a:prstGeom prst="rect">
            <a:avLst/>
          </a:prstGeom>
          <a:noFill/>
        </p:spPr>
        <p:txBody>
          <a:bodyPr wrap="square" anchor="t" lIns="0" tIns="0" rIns="0" bIns="0">
            <a:spAutoFit/>
          </a:bodyPr>
          <a:lstStyle/>
          <a:p>
            <a:pPr algn="l" marL="201168" indent="-201168">
              <a:spcAft>
                <a:spcPts val="600"/>
              </a:spcAft>
              <a:buFont typeface="Liberation Sans"/>
              <a:buChar char="•"/>
            </a:pPr>
            <a:r>
              <a:rPr sz="1500" b="1">
                <a:solidFill>
                  <a:srgbClr val="1E293B"/>
                </a:solidFill>
                <a:latin typeface="Liberation Sans"/>
              </a:rPr>
              <a:t>Power-law model (error = c · d^n): </a:t>
            </a:r>
            <a:r>
              <a:rPr sz="1400" b="0">
                <a:solidFill>
                  <a:srgbClr val="334155"/>
                </a:solidFill>
                <a:latin typeface="Liberation Sans"/>
              </a:rPr>
              <a:t>n ≈ 1 indicates steady velocity error; n ≈ 2 constant acceleration or tilt leakage; n &gt; 2 growing tilt error.</a:t>
            </a:r>
          </a:p>
          <a:p>
            <a:pPr algn="l" marL="201168" indent="-201168">
              <a:spcAft>
                <a:spcPts val="600"/>
              </a:spcAft>
              <a:buFont typeface="Liberation Sans"/>
              <a:buChar char="•"/>
            </a:pPr>
            <a:r>
              <a:rPr sz="1500" b="1">
                <a:solidFill>
                  <a:srgbClr val="1E293B"/>
                </a:solidFill>
                <a:latin typeface="Liberation Sans"/>
              </a:rPr>
              <a:t>Phone plain runs (calibrated [cal off]): </a:t>
            </a:r>
            <a:r>
              <a:rPr sz="1400" b="0">
                <a:solidFill>
                  <a:srgbClr val="334155"/>
                </a:solidFill>
                <a:latin typeface="Liberation Sans"/>
              </a:rPr>
              <a:t>raw n = 3.46 [3.42], bias removed 3.57 [3.65], bias + Mahony 2.10 [2.12], bias + ZUPT 1.80 [1.88].</a:t>
            </a:r>
          </a:p>
          <a:p>
            <a:pPr algn="l" marL="201168" indent="-201168">
              <a:spcAft>
                <a:spcPts val="600"/>
              </a:spcAft>
              <a:buFont typeface="Liberation Sans"/>
              <a:buChar char="•"/>
            </a:pPr>
            <a:r>
              <a:rPr sz="1500" b="1">
                <a:solidFill>
                  <a:srgbClr val="1E293B"/>
                </a:solidFill>
                <a:latin typeface="Liberation Sans"/>
              </a:rPr>
              <a:t>Stop-reset runs flatten n near zero: </a:t>
            </a:r>
            <a:r>
              <a:rPr sz="1400" b="0">
                <a:solidFill>
                  <a:srgbClr val="334155"/>
                </a:solidFill>
                <a:latin typeface="Liberation Sans"/>
              </a:rPr>
              <a:t>all combined -0.63 [-0.64], ESKF -0.67 [-0.67], de-drift (Mahony) 0.29 [0.28], de-drift (ESKF) -0.09 [0.01] — stops prevent error growth with distance.</a:t>
            </a:r>
          </a:p>
          <a:p>
            <a:pPr algn="l" marL="201168" indent="-201168">
              <a:spcAft>
                <a:spcPts val="600"/>
              </a:spcAft>
              <a:buFont typeface="Liberation Sans"/>
              <a:buChar char="•"/>
            </a:pPr>
            <a:r>
              <a:rPr sz="1500" b="1">
                <a:solidFill>
                  <a:srgbClr val="1E293B"/>
                </a:solidFill>
                <a:latin typeface="Liberation Sans"/>
              </a:rPr>
              <a:t>EuRoC unaided time exponents (t^n): </a:t>
            </a:r>
            <a:r>
              <a:rPr sz="1400" b="0">
                <a:solidFill>
                  <a:srgbClr val="334155"/>
                </a:solidFill>
                <a:latin typeface="Liberation Sans"/>
              </a:rPr>
              <a:t>raw 2.23, bias removed 2.59 (6.5° tilt), Mahony 1.85 (0.26° tilt — proves tilt control matters), ZUPT 2.60, all combined 1.86, ESKF 2.13.</a:t>
            </a:r>
          </a:p>
          <a:p>
            <a:pPr algn="l" marL="201168" indent="-201168">
              <a:spcAft>
                <a:spcPts val="600"/>
              </a:spcAft>
              <a:buFont typeface="Liberation Sans"/>
              <a:buChar char="•"/>
            </a:pPr>
            <a:r>
              <a:rPr sz="1500" b="1">
                <a:solidFill>
                  <a:srgbClr val="1E293B"/>
                </a:solidFill>
                <a:latin typeface="Liberation Sans"/>
              </a:rPr>
              <a:t>Four sources of remaining ~0.7 m error: </a:t>
            </a:r>
            <a:r>
              <a:rPr sz="1400" b="0">
                <a:solidFill>
                  <a:srgbClr val="334155"/>
                </a:solidFill>
                <a:latin typeface="Liberation Sans"/>
              </a:rPr>
              <a:t>(a) Unmodelled accel misalignment &amp; gyro scale, (b) turn yaw drift, (c) hand motion at stops, (d) processed phone accel signal.</a:t>
            </a:r>
          </a:p>
        </p:txBody>
      </p:sp>
      <p:sp>
        <p:nvSpPr>
          <p:cNvPr id="7" name="TextBox 6"/>
          <p:cNvSpPr txBox="1"/>
          <p:nvPr/>
        </p:nvSpPr>
        <p:spPr>
          <a:xfrm>
            <a:off x="594360" y="6364224"/>
            <a:ext cx="5257800" cy="310896"/>
          </a:xfrm>
          <a:prstGeom prst="rect">
            <a:avLst/>
          </a:prstGeom>
          <a:noFill/>
        </p:spPr>
        <p:txBody>
          <a:bodyPr wrap="square" anchor="t" lIns="0" tIns="0" rIns="0" bIns="0">
            <a:spAutoFit/>
          </a:bodyPr>
          <a:lstStyle/>
          <a:p>
            <a:pPr algn="l"/>
            <a:r>
              <a:rPr sz="1400">
                <a:solidFill>
                  <a:srgbClr val="334155"/>
                </a:solidFill>
                <a:latin typeface="Liberation Sans"/>
              </a:rPr>
              <a:t>Team Pineapple | Figure 09: Power-Law Drift Exponents (13/25)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6. EFFECT OF OFFLINE CALIBRATION: CALIBRATION OFF STUDY (FIGURES 10 &amp; 11)</a:t>
            </a:r>
          </a:p>
          <a:p>
            <a:pPr algn="l"/>
            <a:r>
              <a:rPr sz="2600" b="1">
                <a:solidFill>
                  <a:srgbClr val="1E293B"/>
                </a:solidFill>
                <a:latin typeface="Liberation Sans"/>
              </a:rPr>
              <a:t>Offline calibration makes raw 25× better, while self-calibrating filters barely change</a:t>
            </a:r>
          </a:p>
        </p:txBody>
      </p:sp>
      <p:pic>
        <p:nvPicPr>
          <p:cNvPr id="5" name="Picture 4" descr="inset_s14_1.png"/>
          <p:cNvPicPr>
            <a:picLocks noChangeAspect="1"/>
          </p:cNvPicPr>
          <p:nvPr/>
        </p:nvPicPr>
        <p:blipFill>
          <a:blip r:embed="rId2"/>
          <a:stretch>
            <a:fillRect/>
          </a:stretch>
        </p:blipFill>
        <p:spPr>
          <a:xfrm>
            <a:off x="594360" y="2029968"/>
            <a:ext cx="5321808" cy="2304288"/>
          </a:xfrm>
          <a:prstGeom prst="rect">
            <a:avLst/>
          </a:prstGeom>
          <a:ln>
            <a:noFill/>
          </a:ln>
        </p:spPr>
      </p:pic>
      <p:pic>
        <p:nvPicPr>
          <p:cNvPr id="6" name="Picture 5" descr="inset_s14_2.png"/>
          <p:cNvPicPr>
            <a:picLocks noChangeAspect="1"/>
          </p:cNvPicPr>
          <p:nvPr/>
        </p:nvPicPr>
        <p:blipFill>
          <a:blip r:embed="rId3"/>
          <a:stretch>
            <a:fillRect/>
          </a:stretch>
        </p:blipFill>
        <p:spPr>
          <a:xfrm>
            <a:off x="6272784" y="2029968"/>
            <a:ext cx="5321808" cy="2304288"/>
          </a:xfrm>
          <a:prstGeom prst="rect">
            <a:avLst/>
          </a:prstGeom>
          <a:ln>
            <a:noFill/>
          </a:ln>
        </p:spPr>
      </p:pic>
      <p:sp>
        <p:nvSpPr>
          <p:cNvPr id="7" name="TextBox 6"/>
          <p:cNvSpPr txBox="1"/>
          <p:nvPr/>
        </p:nvSpPr>
        <p:spPr>
          <a:xfrm>
            <a:off x="594360" y="4480560"/>
            <a:ext cx="11002975" cy="1645920"/>
          </a:xfrm>
          <a:prstGeom prst="rect">
            <a:avLst/>
          </a:prstGeom>
          <a:noFill/>
        </p:spPr>
        <p:txBody>
          <a:bodyPr wrap="square" anchor="t" lIns="0" tIns="0" rIns="0" bIns="0">
            <a:spAutoFit/>
          </a:bodyPr>
          <a:lstStyle/>
          <a:p>
            <a:pPr algn="l" marL="201168" indent="-201168">
              <a:spcAft>
                <a:spcPts val="500"/>
              </a:spcAft>
              <a:buFont typeface="Liberation Sans"/>
              <a:buChar char="•"/>
            </a:pPr>
            <a:r>
              <a:rPr sz="1500" b="1">
                <a:solidFill>
                  <a:srgbClr val="1E293B"/>
                </a:solidFill>
                <a:latin typeface="Liberation Sans"/>
              </a:rPr>
              <a:t>Raw run is 25x worse without calibration: </a:t>
            </a:r>
            <a:r>
              <a:rPr sz="1400" b="0">
                <a:solidFill>
                  <a:srgbClr val="334155"/>
                </a:solidFill>
                <a:latin typeface="Liberation Sans"/>
              </a:rPr>
              <a:t>Mean stop error jumps from 57.91 m to 1493.84 m (final stop 143.92 m -&gt; 3627.41 m) because the resting phone reads 9.995 m/s² instead of 9.81 m/s².</a:t>
            </a:r>
          </a:p>
          <a:p>
            <a:pPr algn="l" marL="201168" indent="-201168">
              <a:spcAft>
                <a:spcPts val="500"/>
              </a:spcAft>
              <a:buFont typeface="Liberation Sans"/>
              <a:buChar char="•"/>
            </a:pPr>
            <a:r>
              <a:rPr sz="1500" b="1">
                <a:solidFill>
                  <a:srgbClr val="1E293B"/>
                </a:solidFill>
                <a:latin typeface="Liberation Sans"/>
              </a:rPr>
              <a:t>Filtered runs calibrate themselves online: </a:t>
            </a:r>
            <a:r>
              <a:rPr sz="1400" b="0">
                <a:solidFill>
                  <a:srgbClr val="334155"/>
                </a:solidFill>
                <a:latin typeface="Liberation Sans"/>
              </a:rPr>
              <a:t>Mean error barely changes: all combined 7.21 -&gt; 7.08 m; unaided ESKF 1.68 -&gt; 1.64 m (final 1.15 -&gt; 1.10 m); de-drift (Mahony) 0.77 -&gt; 0.80 m.</a:t>
            </a:r>
          </a:p>
          <a:p>
            <a:pPr algn="l" marL="201168" indent="-201168">
              <a:spcAft>
                <a:spcPts val="500"/>
              </a:spcAft>
              <a:buFont typeface="Liberation Sans"/>
              <a:buChar char="•"/>
            </a:pPr>
            <a:r>
              <a:rPr sz="1500" b="1">
                <a:solidFill>
                  <a:srgbClr val="1E293B"/>
                </a:solidFill>
                <a:latin typeface="Liberation Sans"/>
              </a:rPr>
              <a:t>Honest note — ESKF Core pass is marginal: </a:t>
            </a:r>
            <a:r>
              <a:rPr sz="1400" b="0">
                <a:solidFill>
                  <a:srgbClr val="334155"/>
                </a:solidFill>
                <a:latin typeface="Liberation Sans"/>
              </a:rPr>
              <a:t>Best run (leg de-drift ESKF) shifts from 0.72 m to 0.92 m mean error without calibration, and its Stop 1 error moves from 0.93 m to 1.01 m (missing 1 m Core by 0.01 m).</a:t>
            </a:r>
          </a:p>
        </p:txBody>
      </p:sp>
      <p:sp>
        <p:nvSpPr>
          <p:cNvPr id="8" name="TextBox 7"/>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Section 6 &amp; Figures 10–11: Calibration On vs Off Comparison (14/25)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8. EUROC V1_01 DRONE DATASET: UN-AIDED RUNS (FIGURES 12 &amp; 13)</a:t>
            </a:r>
          </a:p>
          <a:p>
            <a:pPr algn="l"/>
            <a:r>
              <a:rPr sz="2600" b="1">
                <a:solidFill>
                  <a:srgbClr val="1E293B"/>
                </a:solidFill>
                <a:latin typeface="Liberation Sans"/>
              </a:rPr>
              <a:t>On the 58.58 m EuRoC flight, even the best unaided run ends 287 m away; simulated UWB reaches 0.16 m</a:t>
            </a:r>
          </a:p>
        </p:txBody>
      </p:sp>
      <p:pic>
        <p:nvPicPr>
          <p:cNvPr id="5" name="Picture 4" descr="inset_s15_1.png"/>
          <p:cNvPicPr>
            <a:picLocks noChangeAspect="1"/>
          </p:cNvPicPr>
          <p:nvPr/>
        </p:nvPicPr>
        <p:blipFill>
          <a:blip r:embed="rId2"/>
          <a:stretch>
            <a:fillRect/>
          </a:stretch>
        </p:blipFill>
        <p:spPr>
          <a:xfrm>
            <a:off x="594360" y="2029968"/>
            <a:ext cx="5321808" cy="2304288"/>
          </a:xfrm>
          <a:prstGeom prst="rect">
            <a:avLst/>
          </a:prstGeom>
          <a:ln>
            <a:noFill/>
          </a:ln>
        </p:spPr>
      </p:pic>
      <p:pic>
        <p:nvPicPr>
          <p:cNvPr id="6" name="Picture 5" descr="inset_s15_2.png"/>
          <p:cNvPicPr>
            <a:picLocks noChangeAspect="1"/>
          </p:cNvPicPr>
          <p:nvPr/>
        </p:nvPicPr>
        <p:blipFill>
          <a:blip r:embed="rId3"/>
          <a:stretch>
            <a:fillRect/>
          </a:stretch>
        </p:blipFill>
        <p:spPr>
          <a:xfrm>
            <a:off x="6272784" y="2029968"/>
            <a:ext cx="5321808" cy="2304288"/>
          </a:xfrm>
          <a:prstGeom prst="rect">
            <a:avLst/>
          </a:prstGeom>
          <a:ln>
            <a:noFill/>
          </a:ln>
        </p:spPr>
      </p:pic>
      <p:sp>
        <p:nvSpPr>
          <p:cNvPr id="7" name="TextBox 6"/>
          <p:cNvSpPr txBox="1"/>
          <p:nvPr/>
        </p:nvSpPr>
        <p:spPr>
          <a:xfrm>
            <a:off x="594360" y="4480560"/>
            <a:ext cx="11002975" cy="1645920"/>
          </a:xfrm>
          <a:prstGeom prst="rect">
            <a:avLst/>
          </a:prstGeom>
          <a:noFill/>
        </p:spPr>
        <p:txBody>
          <a:bodyPr wrap="square" anchor="t" lIns="0" tIns="0" rIns="0" bIns="0">
            <a:spAutoFit/>
          </a:bodyPr>
          <a:lstStyle/>
          <a:p>
            <a:pPr algn="l" marL="201168" indent="-201168">
              <a:spcAft>
                <a:spcPts val="500"/>
              </a:spcAft>
              <a:buFont typeface="Liberation Sans"/>
              <a:buChar char="•"/>
            </a:pPr>
            <a:r>
              <a:rPr sz="1500" b="1">
                <a:solidFill>
                  <a:srgbClr val="1E293B"/>
                </a:solidFill>
                <a:latin typeface="Liberation Sans"/>
              </a:rPr>
              <a:t>Setup &amp; best-case alignment: </a:t>
            </a:r>
            <a:r>
              <a:rPr sz="1400" b="0">
                <a:solidFill>
                  <a:srgbClr val="334155"/>
                </a:solidFill>
                <a:latin typeface="Liberation Sans"/>
              </a:rPr>
              <a:t>58.58 m flight over 145 s (motion starts at 5.2 s). Unaided runs had heading matched to ground truth over the first 30 s; offline phone calibration table is OFF.</a:t>
            </a:r>
          </a:p>
          <a:p>
            <a:pPr algn="l" marL="201168" indent="-201168">
              <a:spcAft>
                <a:spcPts val="500"/>
              </a:spcAft>
              <a:buFont typeface="Liberation Sans"/>
              <a:buChar char="•"/>
            </a:pPr>
            <a:r>
              <a:rPr sz="1500" b="1">
                <a:solidFill>
                  <a:srgbClr val="1E293B"/>
                </a:solidFill>
                <a:latin typeface="Liberation Sans"/>
              </a:rPr>
              <a:t>All unaided runs fail every tier: </a:t>
            </a:r>
            <a:r>
              <a:rPr sz="1400" b="0">
                <a:solidFill>
                  <a:srgbClr val="334155"/>
                </a:solidFill>
                <a:latin typeface="Liberation Sans"/>
              </a:rPr>
              <a:t>At 30 s / End: raw = 2256 m / 75,323 m; bias removed = 31.97 m / 2979 m; bias + Mahony = 11.97 m / 287.73 m; all combined = 11.89 m / 286.84 m.</a:t>
            </a:r>
          </a:p>
          <a:p>
            <a:pPr algn="l" marL="201168" indent="-201168">
              <a:spcAft>
                <a:spcPts val="500"/>
              </a:spcAft>
              <a:buFont typeface="Liberation Sans"/>
              <a:buChar char="•"/>
            </a:pPr>
            <a:r>
              <a:rPr sz="1500" b="1">
                <a:solidFill>
                  <a:srgbClr val="1E293B"/>
                </a:solidFill>
                <a:latin typeface="Liberation Sans"/>
              </a:rPr>
              <a:t>Why unaided ESKF (80.51 m @30s, 2194.80 m end) trails Mahony: </a:t>
            </a:r>
            <a:r>
              <a:rPr sz="1400" b="0">
                <a:solidFill>
                  <a:srgbClr val="334155"/>
                </a:solidFill>
                <a:latin typeface="Liberation Sans"/>
              </a:rPr>
              <a:t>The flying drone never stops! The stop test passed on only 1% of samples (101 still-updates total), so ZUPT cannot clamp velocity drift in flight.</a:t>
            </a:r>
          </a:p>
        </p:txBody>
      </p:sp>
      <p:sp>
        <p:nvSpPr>
          <p:cNvPr id="8" name="TextBox 7"/>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Section 8 &amp; Figures 12–13: EuRoC V1_01 Unaided Trajectories &amp; Errors (15/25)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8. EUROC V1_01 AIDED RUNS — SIMULATED SENSORS ONLY (FIGURES 14 &amp; 15)</a:t>
            </a:r>
          </a:p>
          <a:p>
            <a:pPr algn="l"/>
            <a:r>
              <a:rPr sz="2600" b="1">
                <a:solidFill>
                  <a:srgbClr val="1E293B"/>
                </a:solidFill>
                <a:latin typeface="Liberation Sans"/>
              </a:rPr>
              <a:t>Simulated 5 s position fixes and gated UWB cut EuRoC end error to 0.36 m and 0.16 m</a:t>
            </a:r>
          </a:p>
        </p:txBody>
      </p:sp>
      <p:pic>
        <p:nvPicPr>
          <p:cNvPr id="5" name="Picture 4" descr="inset_s16_1.png"/>
          <p:cNvPicPr>
            <a:picLocks noChangeAspect="1"/>
          </p:cNvPicPr>
          <p:nvPr/>
        </p:nvPicPr>
        <p:blipFill>
          <a:blip r:embed="rId2"/>
          <a:stretch>
            <a:fillRect/>
          </a:stretch>
        </p:blipFill>
        <p:spPr>
          <a:xfrm>
            <a:off x="594360" y="2029968"/>
            <a:ext cx="5321808" cy="2304288"/>
          </a:xfrm>
          <a:prstGeom prst="rect">
            <a:avLst/>
          </a:prstGeom>
          <a:ln>
            <a:noFill/>
          </a:ln>
        </p:spPr>
      </p:pic>
      <p:pic>
        <p:nvPicPr>
          <p:cNvPr id="6" name="Picture 5" descr="inset_s16_2.png"/>
          <p:cNvPicPr>
            <a:picLocks noChangeAspect="1"/>
          </p:cNvPicPr>
          <p:nvPr/>
        </p:nvPicPr>
        <p:blipFill>
          <a:blip r:embed="rId3"/>
          <a:stretch>
            <a:fillRect/>
          </a:stretch>
        </p:blipFill>
        <p:spPr>
          <a:xfrm>
            <a:off x="6272784" y="2029968"/>
            <a:ext cx="5321808" cy="2304288"/>
          </a:xfrm>
          <a:prstGeom prst="rect">
            <a:avLst/>
          </a:prstGeom>
          <a:ln>
            <a:noFill/>
          </a:ln>
        </p:spPr>
      </p:pic>
      <p:sp>
        <p:nvSpPr>
          <p:cNvPr id="7" name="TextBox 6"/>
          <p:cNvSpPr txBox="1"/>
          <p:nvPr/>
        </p:nvSpPr>
        <p:spPr>
          <a:xfrm>
            <a:off x="594360" y="4480560"/>
            <a:ext cx="11002975" cy="1645920"/>
          </a:xfrm>
          <a:prstGeom prst="rect">
            <a:avLst/>
          </a:prstGeom>
          <a:noFill/>
        </p:spPr>
        <p:txBody>
          <a:bodyPr wrap="square" anchor="t" lIns="0" tIns="0" rIns="0" bIns="0">
            <a:spAutoFit/>
          </a:bodyPr>
          <a:lstStyle/>
          <a:p>
            <a:pPr algn="l" marL="201168" indent="-201168">
              <a:spcAft>
                <a:spcPts val="500"/>
              </a:spcAft>
              <a:buFont typeface="Liberation Sans"/>
              <a:buChar char="•"/>
            </a:pPr>
            <a:r>
              <a:rPr sz="1500" b="1">
                <a:solidFill>
                  <a:srgbClr val="1E293B"/>
                </a:solidFill>
                <a:latin typeface="Liberation Sans"/>
              </a:rPr>
              <a:t>SIMULATED position fixes (every 5 s, sigma = 0.10 m): </a:t>
            </a:r>
            <a:r>
              <a:rPr sz="1400" b="0">
                <a:solidFill>
                  <a:srgbClr val="334155"/>
                </a:solidFill>
                <a:latin typeface="Liberation Sans"/>
              </a:rPr>
              <a:t>ESKF + fixes achieves 0.34 m at 30 s (Core PASS) and 0.36 m end error = 0.6% of path (Main PASS), but saw-tooth drift between fixes hits 1.95 m max (Bonus FAIL).</a:t>
            </a:r>
          </a:p>
          <a:p>
            <a:pPr algn="l" marL="201168" indent="-201168">
              <a:spcAft>
                <a:spcPts val="500"/>
              </a:spcAft>
              <a:buFont typeface="Liberation Sans"/>
              <a:buChar char="•"/>
            </a:pPr>
            <a:r>
              <a:rPr sz="1500" b="1">
                <a:solidFill>
                  <a:srgbClr val="1E293B"/>
                </a:solidFill>
                <a:latin typeface="Liberation Sans"/>
              </a:rPr>
              <a:t>Filter ablations with simulated fixes: </a:t>
            </a:r>
            <a:r>
              <a:rPr sz="1400" b="0">
                <a:solidFill>
                  <a:srgbClr val="334155"/>
                </a:solidFill>
                <a:latin typeface="Liberation Sans"/>
              </a:rPr>
              <a:t>Low-pass IMU reaches 0.33 m @30s / 0.39 m end (1.73 m max); removing the gravity update degrades @10s error from 0.43 m to 0.85 m (0.41 m end).</a:t>
            </a:r>
          </a:p>
          <a:p>
            <a:pPr algn="l" marL="201168" indent="-201168">
              <a:spcAft>
                <a:spcPts val="500"/>
              </a:spcAft>
              <a:buFont typeface="Liberation Sans"/>
              <a:buChar char="•"/>
            </a:pPr>
            <a:r>
              <a:rPr sz="1500" b="1">
                <a:solidFill>
                  <a:srgbClr val="1E293B"/>
                </a:solidFill>
                <a:latin typeface="Liberation Sans"/>
              </a:rPr>
              <a:t>Best run — SIMULATED UWB ranges (gated): </a:t>
            </a:r>
            <a:r>
              <a:rPr sz="1400" b="0">
                <a:solidFill>
                  <a:srgbClr val="334155"/>
                </a:solidFill>
                <a:latin typeface="Liberation Sans"/>
              </a:rPr>
              <a:t>Reaches 0.08 m @30s, 0.16 m end (0.3%), 0.12 m mean, 0.24 m 95th pct, and 0.43 m max — missing the 0.3 m Bonus limit by 0.13 m.</a:t>
            </a:r>
          </a:p>
        </p:txBody>
      </p:sp>
      <p:sp>
        <p:nvSpPr>
          <p:cNvPr id="8" name="TextBox 7"/>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Section 8 &amp; Figures 14–15: EuRoC Aided Runs (Simulated Sensors) (16/25)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Picture 3" descr="bleed_17.png"/>
          <p:cNvPicPr>
            <a:picLocks noChangeAspect="1"/>
          </p:cNvPicPr>
          <p:nvPr/>
        </p:nvPicPr>
        <p:blipFill>
          <a:blip r:embed="rId2"/>
          <a:stretch>
            <a:fillRect/>
          </a:stretch>
        </p:blipFill>
        <p:spPr>
          <a:xfrm>
            <a:off x="6096304" y="0"/>
            <a:ext cx="6095390" cy="6858000"/>
          </a:xfrm>
          <a:prstGeom prst="rect">
            <a:avLst/>
          </a:prstGeom>
          <a:ln>
            <a:noFill/>
          </a:ln>
        </p:spPr>
      </p:pic>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94360" y="384048"/>
            <a:ext cx="5257800"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8. FILTER UNCERTAINTY CALIBRATION &amp; OUTLIER GATE (FIGURE 16)</a:t>
            </a:r>
          </a:p>
          <a:p>
            <a:pPr algn="l"/>
            <a:r>
              <a:rPr sz="2300" b="1">
                <a:solidFill>
                  <a:srgbClr val="1E293B"/>
                </a:solidFill>
                <a:latin typeface="Liberation Sans"/>
              </a:rPr>
              <a:t>ESKF 1-sigma bounds actual error while chi-square gating cuts UWB peak error in half</a:t>
            </a:r>
          </a:p>
        </p:txBody>
      </p:sp>
      <p:sp>
        <p:nvSpPr>
          <p:cNvPr id="6" name="TextBox 5"/>
          <p:cNvSpPr txBox="1"/>
          <p:nvPr/>
        </p:nvSpPr>
        <p:spPr>
          <a:xfrm>
            <a:off x="594360" y="2057400"/>
            <a:ext cx="5257800" cy="3977639"/>
          </a:xfrm>
          <a:prstGeom prst="rect">
            <a:avLst/>
          </a:prstGeom>
          <a:noFill/>
        </p:spPr>
        <p:txBody>
          <a:bodyPr wrap="square" anchor="t" lIns="0" tIns="0" rIns="0" bIns="0">
            <a:spAutoFit/>
          </a:bodyPr>
          <a:lstStyle/>
          <a:p>
            <a:pPr algn="l" marL="201168" indent="-201168">
              <a:spcAft>
                <a:spcPts val="600"/>
              </a:spcAft>
              <a:buFont typeface="Liberation Sans"/>
              <a:buChar char="•"/>
            </a:pPr>
            <a:r>
              <a:rPr sz="1500" b="1">
                <a:solidFill>
                  <a:srgbClr val="1E293B"/>
                </a:solidFill>
                <a:latin typeface="Liberation Sans"/>
              </a:rPr>
              <a:t>Filter knows its uncertainty: </a:t>
            </a:r>
            <a:r>
              <a:rPr sz="1400" b="0">
                <a:solidFill>
                  <a:srgbClr val="334155"/>
                </a:solidFill>
                <a:latin typeface="Liberation Sans"/>
              </a:rPr>
              <a:t>In Figure 16 (left), the black dashed 1-sigma envelope for ESKF + simulated fixes tracks the 5 s saw-tooth growth and stays mostly above actual error.</a:t>
            </a:r>
          </a:p>
          <a:p>
            <a:pPr algn="l" marL="201168" indent="-201168">
              <a:spcAft>
                <a:spcPts val="600"/>
              </a:spcAft>
              <a:buFont typeface="Liberation Sans"/>
              <a:buChar char="•"/>
            </a:pPr>
            <a:r>
              <a:rPr sz="1500" b="1">
                <a:solidFill>
                  <a:srgbClr val="1E293B"/>
                </a:solidFill>
                <a:latin typeface="Liberation Sans"/>
              </a:rPr>
              <a:t>Chi-square 99% outlier gate: </a:t>
            </a:r>
            <a:r>
              <a:rPr sz="1400" b="0">
                <a:solidFill>
                  <a:srgbClr val="334155"/>
                </a:solidFill>
                <a:latin typeface="Liberation Sans"/>
              </a:rPr>
              <a:t>On simulated UWB ranges (with blocked readings), the gate rejected 297 outliers, cutting max error from 0.80 m (no gate) to 0.43 m (gated) and end error from 0.28 m to 0.16 m.</a:t>
            </a:r>
          </a:p>
          <a:p>
            <a:pPr algn="l" marL="201168" indent="-201168">
              <a:spcAft>
                <a:spcPts val="600"/>
              </a:spcAft>
              <a:buFont typeface="Liberation Sans"/>
              <a:buChar char="•"/>
            </a:pPr>
            <a:r>
              <a:rPr sz="1500" b="1">
                <a:solidFill>
                  <a:srgbClr val="1E293B"/>
                </a:solidFill>
                <a:latin typeface="Liberation Sans"/>
              </a:rPr>
              <a:t>What aiding adds (right panel): </a:t>
            </a:r>
            <a:r>
              <a:rPr sz="1400" b="0">
                <a:solidFill>
                  <a:srgbClr val="334155"/>
                </a:solidFill>
                <a:latin typeface="Liberation Sans"/>
              </a:rPr>
              <a:t>Comparing unaided ESKF (blue, drifting to 2,195 m) vs simulated fixes (orange, &lt;2 m) shows continuous flight requires outside fixes.</a:t>
            </a:r>
          </a:p>
          <a:p>
            <a:pPr algn="l" marL="201168" indent="-201168">
              <a:spcAft>
                <a:spcPts val="600"/>
              </a:spcAft>
              <a:buFont typeface="Liberation Sans"/>
              <a:buChar char="•"/>
            </a:pPr>
            <a:r>
              <a:rPr sz="1500" b="1">
                <a:solidFill>
                  <a:srgbClr val="1E293B"/>
                </a:solidFill>
                <a:latin typeface="Liberation Sans"/>
              </a:rPr>
              <a:t>Remaining EuRoC limits: </a:t>
            </a:r>
            <a:r>
              <a:rPr sz="1400" b="0">
                <a:solidFill>
                  <a:srgbClr val="334155"/>
                </a:solidFill>
                <a:latin typeface="Liberation Sans"/>
              </a:rPr>
              <a:t>Online y-accel bias stays underestimated (0.13 vs 0.55 m/s²), leaving 2.45° mean tilt error and ~10° final yaw drift (Appendix A2).</a:t>
            </a:r>
          </a:p>
        </p:txBody>
      </p:sp>
      <p:sp>
        <p:nvSpPr>
          <p:cNvPr id="7" name="TextBox 6"/>
          <p:cNvSpPr txBox="1"/>
          <p:nvPr/>
        </p:nvSpPr>
        <p:spPr>
          <a:xfrm>
            <a:off x="594360" y="6364224"/>
            <a:ext cx="5257800" cy="310896"/>
          </a:xfrm>
          <a:prstGeom prst="rect">
            <a:avLst/>
          </a:prstGeom>
          <a:noFill/>
        </p:spPr>
        <p:txBody>
          <a:bodyPr wrap="square" anchor="t" lIns="0" tIns="0" rIns="0" bIns="0">
            <a:spAutoFit/>
          </a:bodyPr>
          <a:lstStyle/>
          <a:p>
            <a:pPr algn="l"/>
            <a:r>
              <a:rPr sz="1400">
                <a:solidFill>
                  <a:srgbClr val="334155"/>
                </a:solidFill>
                <a:latin typeface="Liberation Sans"/>
              </a:rPr>
              <a:t>Team Pineapple | Figure 16: 1-Sigma &amp; Outlier Gate (17/25)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10 &amp; 12. LIVE / RECORDED DEMO &amp; REAL-TIME EMBEDDED CONSIDERATIONS</a:t>
            </a:r>
          </a:p>
          <a:p>
            <a:pPr algn="l"/>
            <a:r>
              <a:rPr sz="2600" b="1">
                <a:solidFill>
                  <a:srgbClr val="1E293B"/>
                </a:solidFill>
                <a:latin typeface="Liberation Sans"/>
              </a:rPr>
              <a:t>Five Colab cells in order reproduce calibration, filtering, scoring and the result plots</a:t>
            </a:r>
          </a:p>
        </p:txBody>
      </p:sp>
      <p:sp>
        <p:nvSpPr>
          <p:cNvPr id="5" name="Rounded Rectangle 4"/>
          <p:cNvSpPr/>
          <p:nvPr/>
        </p:nvSpPr>
        <p:spPr>
          <a:xfrm>
            <a:off x="594360" y="2057400"/>
            <a:ext cx="5303520" cy="3977639"/>
          </a:xfrm>
          <a:prstGeom prst="roundRect">
            <a:avLst>
              <a:gd name="adj" fmla="val 5000"/>
            </a:avLst>
          </a:prstGeom>
          <a:solidFill>
            <a:srgbClr val="EAF1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95528" y="2212848"/>
            <a:ext cx="4901184" cy="3657600"/>
          </a:xfrm>
          <a:prstGeom prst="rect">
            <a:avLst/>
          </a:prstGeom>
          <a:noFill/>
        </p:spPr>
        <p:txBody>
          <a:bodyPr wrap="square" anchor="t" lIns="0" tIns="0" rIns="0" bIns="0">
            <a:spAutoFit/>
          </a:bodyPr>
          <a:lstStyle/>
          <a:p>
            <a:pPr algn="l">
              <a:spcAft>
                <a:spcPts val="800"/>
              </a:spcAft>
            </a:pPr>
            <a:r>
              <a:rPr sz="2000" b="1">
                <a:solidFill>
                  <a:srgbClr val="2F4B7C"/>
                </a:solidFill>
                <a:latin typeface="Liberation Sans"/>
              </a:rPr>
              <a:t>Live / Recorded Demo Workflow</a:t>
            </a:r>
          </a:p>
          <a:p>
            <a:pPr algn="l" marL="201168" indent="-201168">
              <a:spcAft>
                <a:spcPts val="800"/>
              </a:spcAft>
              <a:buFont typeface="Liberation Sans"/>
              <a:buChar char="•"/>
            </a:pPr>
            <a:r>
              <a:rPr sz="1500" b="1">
                <a:solidFill>
                  <a:srgbClr val="1E293B"/>
                </a:solidFill>
                <a:latin typeface="Liberation Sans"/>
              </a:rPr>
              <a:t>1. Setup &amp; 2. Calibration cells: </a:t>
            </a:r>
            <a:r>
              <a:rPr sz="1400" b="0">
                <a:solidFill>
                  <a:srgbClr val="334155"/>
                </a:solidFill>
                <a:latin typeface="Liberation Sans"/>
              </a:rPr>
              <a:t>Mounts Drive, unzips EuRoC, runs 6-position least-squares &amp; per-axis cross-check, writes calibration.json (Figure 01).</a:t>
            </a:r>
          </a:p>
          <a:p>
            <a:pPr algn="l" marL="201168" indent="-201168">
              <a:spcAft>
                <a:spcPts val="800"/>
              </a:spcAft>
              <a:buFont typeface="Liberation Sans"/>
              <a:buChar char="•"/>
            </a:pPr>
            <a:r>
              <a:rPr sz="1500" b="1">
                <a:solidFill>
                  <a:srgbClr val="1E293B"/>
                </a:solidFill>
                <a:latin typeface="Liberation Sans"/>
              </a:rPr>
              <a:t>3. Cell 1 (Core Filter Engine): </a:t>
            </a:r>
            <a:r>
              <a:rPr sz="1400" b="0">
                <a:solidFill>
                  <a:srgbClr val="334155"/>
                </a:solidFill>
                <a:latin typeface="Liberation Sans"/>
              </a:rPr>
              <a:t>Loads 60 Hz data, finds 5 stops (STOP_MIN_S=0.8, STOP_BRIDGE_S=1.0), runs Stages A–E, prints health checks.</a:t>
            </a:r>
          </a:p>
          <a:p>
            <a:pPr algn="l" marL="201168" indent="-201168">
              <a:spcAft>
                <a:spcPts val="800"/>
              </a:spcAft>
              <a:buFont typeface="Liberation Sans"/>
              <a:buChar char="•"/>
            </a:pPr>
            <a:r>
              <a:rPr sz="1500" b="1">
                <a:solidFill>
                  <a:srgbClr val="1E293B"/>
                </a:solidFill>
                <a:latin typeface="Liberation Sans"/>
              </a:rPr>
              <a:t>4. Cell 2 &amp; 5. Cell 3 (Scoring &amp; Plots): </a:t>
            </a:r>
            <a:r>
              <a:rPr sz="1400" b="0">
                <a:solidFill>
                  <a:srgbClr val="334155"/>
                </a:solidFill>
                <a:latin typeface="Liberation Sans"/>
              </a:rPr>
              <a:t>Runs corner marks (MARK_SIGMA=0.05) and simulated EuRoC aids (SEED=0), then renders all 18 report figures.</a:t>
            </a:r>
          </a:p>
        </p:txBody>
      </p:sp>
      <p:sp>
        <p:nvSpPr>
          <p:cNvPr id="7" name="Rounded Rectangle 6"/>
          <p:cNvSpPr/>
          <p:nvPr/>
        </p:nvSpPr>
        <p:spPr>
          <a:xfrm>
            <a:off x="6263640" y="2057400"/>
            <a:ext cx="5330952" cy="3977639"/>
          </a:xfrm>
          <a:prstGeom prst="roundRect">
            <a:avLst>
              <a:gd name="adj" fmla="val 5000"/>
            </a:avLst>
          </a:prstGeom>
          <a:solidFill>
            <a:srgbClr val="FFF6E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464808" y="2212848"/>
            <a:ext cx="4928616" cy="3657600"/>
          </a:xfrm>
          <a:prstGeom prst="rect">
            <a:avLst/>
          </a:prstGeom>
          <a:noFill/>
        </p:spPr>
        <p:txBody>
          <a:bodyPr wrap="square" anchor="t" lIns="0" tIns="0" rIns="0" bIns="0">
            <a:spAutoFit/>
          </a:bodyPr>
          <a:lstStyle/>
          <a:p>
            <a:pPr algn="l">
              <a:spcAft>
                <a:spcPts val="800"/>
              </a:spcAft>
            </a:pPr>
            <a:r>
              <a:rPr sz="2000" b="1">
                <a:solidFill>
                  <a:srgbClr val="2F4B7C"/>
                </a:solidFill>
                <a:latin typeface="Liberation Sans"/>
              </a:rPr>
              <a:t>Embedded Implementation Assessment</a:t>
            </a:r>
          </a:p>
          <a:p>
            <a:pPr algn="l" marL="201168" indent="-201168">
              <a:spcAft>
                <a:spcPts val="800"/>
              </a:spcAft>
              <a:buFont typeface="Liberation Sans"/>
              <a:buChar char="•"/>
            </a:pPr>
            <a:r>
              <a:rPr sz="1500" b="1">
                <a:solidFill>
                  <a:srgbClr val="1E293B"/>
                </a:solidFill>
                <a:latin typeface="Liberation Sans"/>
              </a:rPr>
              <a:t>Sample-by-sample 60 Hz structure: </a:t>
            </a:r>
            <a:r>
              <a:rPr sz="1400" b="0">
                <a:solidFill>
                  <a:srgbClr val="334155"/>
                </a:solidFill>
                <a:latin typeface="Liberation Sans"/>
              </a:rPr>
              <a:t>The ESKF processes one sample at a time using fixed-size 15x15 matrices at 60 Hz, making a microcontroller port plausible.</a:t>
            </a:r>
          </a:p>
          <a:p>
            <a:pPr algn="l" marL="201168" indent="-201168">
              <a:spcAft>
                <a:spcPts val="800"/>
              </a:spcAft>
              <a:buFont typeface="Liberation Sans"/>
              <a:buChar char="•"/>
            </a:pPr>
            <a:r>
              <a:rPr sz="1500" b="1">
                <a:solidFill>
                  <a:srgbClr val="1E293B"/>
                </a:solidFill>
                <a:latin typeface="Liberation Sans"/>
              </a:rPr>
              <a:t>Honest embedded status: </a:t>
            </a:r>
            <a:r>
              <a:rPr sz="1400" b="0">
                <a:solidFill>
                  <a:srgbClr val="334155"/>
                </a:solidFill>
                <a:latin typeface="Liberation Sans"/>
              </a:rPr>
              <a:t>NOT implemented or tested on a microcontroller; all runs execute in floating-point Python in Google Colab.</a:t>
            </a:r>
          </a:p>
          <a:p>
            <a:pPr algn="l" marL="201168" indent="-201168">
              <a:spcAft>
                <a:spcPts val="800"/>
              </a:spcAft>
              <a:buFont typeface="Liberation Sans"/>
              <a:buChar char="•"/>
            </a:pPr>
            <a:r>
              <a:rPr sz="1500" b="1">
                <a:solidFill>
                  <a:srgbClr val="1E293B"/>
                </a:solidFill>
                <a:latin typeface="Liberation Sans"/>
              </a:rPr>
              <a:t>What a fixed-point MCU port needs: </a:t>
            </a:r>
            <a:r>
              <a:rPr sz="1400" b="0">
                <a:solidFill>
                  <a:srgbClr val="334155"/>
                </a:solidFill>
                <a:latin typeface="Liberation Sans"/>
              </a:rPr>
              <a:t>Requires scaling the 15x15 covariance matrix, replacing matrix solve with fixed-operation updates, and verifying numerical stability.</a:t>
            </a:r>
          </a:p>
        </p:txBody>
      </p:sp>
      <p:sp>
        <p:nvSpPr>
          <p:cNvPr id="9" name="TextBox 8"/>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Sections 10 &amp; 12: Demo Placeholder &amp; Microcontroller Feasibility (18/25)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7. HONEST PERFORMANCE TIER SCORECARD (SECTION 7)</a:t>
            </a:r>
          </a:p>
          <a:p>
            <a:pPr algn="l"/>
            <a:r>
              <a:rPr sz="2300" b="1">
                <a:solidFill>
                  <a:srgbClr val="1E293B"/>
                </a:solidFill>
                <a:latin typeface="Liberation Sans"/>
              </a:rPr>
              <a:t>Core passed only with non-real-time leg de-drift; Main and Bonus were not met, with or without floor marks</a:t>
            </a:r>
          </a:p>
        </p:txBody>
      </p:sp>
      <p:graphicFrame>
        <p:nvGraphicFramePr>
          <p:cNvPr id="5" name="Table 4"/>
          <p:cNvGraphicFramePr>
            <a:graphicFrameLocks noGrp="1"/>
          </p:cNvGraphicFramePr>
          <p:nvPr/>
        </p:nvGraphicFramePr>
        <p:xfrm>
          <a:off x="594360" y="2057400"/>
          <a:ext cx="11002975" cy="3191256"/>
        </p:xfrm>
        <a:graphic>
          <a:graphicData uri="http://schemas.openxmlformats.org/drawingml/2006/table">
            <a:tbl>
              <a:tblPr firstRow="1" bandRow="1">
                <a:tableStyleId>{5C22544A-7EE6-4342-B048-85BDC9FD1C3A}</a:tableStyleId>
              </a:tblPr>
              <a:tblGrid>
                <a:gridCol w="1371600"/>
                <a:gridCol w="3291840"/>
                <a:gridCol w="6339535"/>
              </a:tblGrid>
              <a:tr h="402336">
                <a:tc>
                  <a:txBody>
                    <a:bodyPr/>
                    <a:lstStyle/>
                    <a:p>
                      <a:pPr algn="l"/>
                      <a:r>
                        <a:rPr sz="1400" b="1">
                          <a:solidFill>
                            <a:srgbClr val="FFFFFF"/>
                          </a:solidFill>
                          <a:latin typeface="Liberation Sans"/>
                        </a:rPr>
                        <a:t>Tier</a:t>
                      </a:r>
                    </a:p>
                  </a:txBody>
                  <a:tcPr anchor="ctr" marL="73152" marR="73152" marT="27432" marB="27432">
                    <a:solidFill>
                      <a:srgbClr val="2F4B7C"/>
                    </a:solidFill>
                  </a:tcPr>
                </a:tc>
                <a:tc>
                  <a:txBody>
                    <a:bodyPr/>
                    <a:lstStyle/>
                    <a:p>
                      <a:pPr algn="l"/>
                      <a:r>
                        <a:rPr sz="1400" b="1">
                          <a:solidFill>
                            <a:srgbClr val="FFFFFF"/>
                          </a:solidFill>
                          <a:latin typeface="Liberation Sans"/>
                        </a:rPr>
                        <a:t>Problem Statement Target</a:t>
                      </a:r>
                    </a:p>
                  </a:txBody>
                  <a:tcPr anchor="ctr" marL="73152" marR="73152" marT="27432" marB="27432">
                    <a:solidFill>
                      <a:srgbClr val="2F4B7C"/>
                    </a:solidFill>
                  </a:tcPr>
                </a:tc>
                <a:tc>
                  <a:txBody>
                    <a:bodyPr/>
                    <a:lstStyle/>
                    <a:p>
                      <a:pPr algn="l"/>
                      <a:r>
                        <a:rPr sz="1400" b="1">
                          <a:solidFill>
                            <a:srgbClr val="FFFFFF"/>
                          </a:solidFill>
                          <a:latin typeface="Liberation Sans"/>
                        </a:rPr>
                        <a:t>Team Pineapple Honest Assessment</a:t>
                      </a:r>
                    </a:p>
                  </a:txBody>
                  <a:tcPr anchor="ctr" marL="73152" marR="73152" marT="27432" marB="27432">
                    <a:solidFill>
                      <a:srgbClr val="2F4B7C"/>
                    </a:solidFill>
                  </a:tcPr>
                </a:tc>
              </a:tr>
              <a:tr h="1051560">
                <a:tc>
                  <a:txBody>
                    <a:bodyPr/>
                    <a:lstStyle/>
                    <a:p>
                      <a:pPr algn="l"/>
                      <a:r>
                        <a:rPr sz="1400" b="1">
                          <a:solidFill>
                            <a:srgbClr val="1E293B"/>
                          </a:solidFill>
                          <a:latin typeface="Liberation Sans"/>
                        </a:rPr>
                        <a:t>Core</a:t>
                      </a:r>
                    </a:p>
                  </a:txBody>
                  <a:tcPr anchor="ctr" marL="73152" marR="73152" marT="27432" marB="27432">
                    <a:solidFill>
                      <a:srgbClr val="EAF1FA"/>
                    </a:solidFill>
                  </a:tcPr>
                </a:tc>
                <a:tc>
                  <a:txBody>
                    <a:bodyPr/>
                    <a:lstStyle/>
                    <a:p>
                      <a:pPr algn="l"/>
                      <a:r>
                        <a:rPr sz="1400" b="0">
                          <a:solidFill>
                            <a:srgbClr val="1E293B"/>
                          </a:solidFill>
                          <a:latin typeface="Liberation Sans"/>
                        </a:rPr>
                        <a:t>Calibrate bias, scale, misalignment; orientation; error &lt; 1 m in first 30 s</a:t>
                      </a:r>
                    </a:p>
                  </a:txBody>
                  <a:tcPr anchor="ctr" marL="73152" marR="73152" marT="27432" marB="27432">
                    <a:solidFill>
                      <a:srgbClr val="EAF1FA"/>
                    </a:solidFill>
                  </a:tcPr>
                </a:tc>
                <a:tc>
                  <a:txBody>
                    <a:bodyPr/>
                    <a:lstStyle/>
                    <a:p>
                      <a:pPr algn="l"/>
                      <a:r>
                        <a:rPr sz="1400" b="0">
                          <a:solidFill>
                            <a:srgbClr val="1E293B"/>
                          </a:solidFill>
                          <a:latin typeface="Liberation Sans"/>
                        </a:rPr>
                        <a:t>Bias &amp; scale calibrated; misalignment NOT calibrated. Phone: PASSED by non-real-time leg de-drift (0.74 m Mahony, 0.93 m ESKF — marginal: 1.01 m w/o cal); FAILED by real-time unaided ESKF (2.88 m). EuRoC: passed only with simulated aids.</a:t>
                      </a:r>
                    </a:p>
                  </a:txBody>
                  <a:tcPr anchor="ctr" marL="73152" marR="73152" marT="27432" marB="27432">
                    <a:solidFill>
                      <a:srgbClr val="EAF1FA"/>
                    </a:solidFill>
                  </a:tcPr>
                </a:tc>
              </a:tr>
              <a:tr h="868680">
                <a:tc>
                  <a:txBody>
                    <a:bodyPr/>
                    <a:lstStyle/>
                    <a:p>
                      <a:pPr algn="l"/>
                      <a:r>
                        <a:rPr sz="1400" b="1">
                          <a:solidFill>
                            <a:srgbClr val="78350F"/>
                          </a:solidFill>
                          <a:latin typeface="Liberation Sans"/>
                        </a:rPr>
                        <a:t>Main</a:t>
                      </a:r>
                    </a:p>
                  </a:txBody>
                  <a:tcPr anchor="ctr" marL="73152" marR="73152" marT="27432" marB="27432">
                    <a:solidFill>
                      <a:srgbClr val="FFF6E0"/>
                    </a:solidFill>
                  </a:tcPr>
                </a:tc>
                <a:tc>
                  <a:txBody>
                    <a:bodyPr/>
                    <a:lstStyle/>
                    <a:p>
                      <a:pPr algn="l"/>
                      <a:r>
                        <a:rPr sz="1400" b="1">
                          <a:solidFill>
                            <a:srgbClr val="78350F"/>
                          </a:solidFill>
                          <a:latin typeface="Liberation Sans"/>
                        </a:rPr>
                        <a:t>Position error &lt;= 3% on marked 50 m path (~1.5 m), return-to-start reported</a:t>
                      </a:r>
                    </a:p>
                  </a:txBody>
                  <a:tcPr anchor="ctr" marL="73152" marR="73152" marT="27432" marB="27432">
                    <a:solidFill>
                      <a:srgbClr val="FFF6E0"/>
                    </a:solidFill>
                  </a:tcPr>
                </a:tc>
                <a:tc>
                  <a:txBody>
                    <a:bodyPr/>
                    <a:lstStyle/>
                    <a:p>
                      <a:pPr algn="l"/>
                      <a:r>
                        <a:rPr sz="1400" b="1">
                          <a:solidFill>
                            <a:srgbClr val="78350F"/>
                          </a:solidFill>
                          <a:latin typeface="Liberation Sans"/>
                        </a:rPr>
                        <a:t>NOT MET. Walked path was 9.36 m (3% = 0.28 m); best final stop error 0.59 m (6.3%). No 50 m path available. EuRoC reaches 0.6% (0.36 m on 58.58 m) only with simulated fixes.</a:t>
                      </a:r>
                    </a:p>
                  </a:txBody>
                  <a:tcPr anchor="ctr" marL="73152" marR="73152" marT="27432" marB="27432">
                    <a:solidFill>
                      <a:srgbClr val="FFF6E0"/>
                    </a:solidFill>
                  </a:tcPr>
                </a:tc>
              </a:tr>
              <a:tr h="868680">
                <a:tc>
                  <a:txBody>
                    <a:bodyPr/>
                    <a:lstStyle/>
                    <a:p>
                      <a:pPr algn="l"/>
                      <a:r>
                        <a:rPr sz="1400" b="1">
                          <a:solidFill>
                            <a:srgbClr val="78350F"/>
                          </a:solidFill>
                          <a:latin typeface="Liberation Sans"/>
                        </a:rPr>
                        <a:t>Bonus</a:t>
                      </a:r>
                    </a:p>
                  </a:txBody>
                  <a:tcPr anchor="ctr" marL="73152" marR="73152" marT="27432" marB="27432">
                    <a:solidFill>
                      <a:srgbClr val="FFF6E0"/>
                    </a:solidFill>
                  </a:tcPr>
                </a:tc>
                <a:tc>
                  <a:txBody>
                    <a:bodyPr/>
                    <a:lstStyle/>
                    <a:p>
                      <a:pPr algn="l"/>
                      <a:r>
                        <a:rPr sz="1400" b="1">
                          <a:solidFill>
                            <a:srgbClr val="78350F"/>
                          </a:solidFill>
                          <a:latin typeface="Liberation Sans"/>
                        </a:rPr>
                        <a:t>Add low-cost aid &lt; 0.3 m, or run fixed-point on a microcontroller</a:t>
                      </a:r>
                    </a:p>
                  </a:txBody>
                  <a:tcPr anchor="ctr" marL="73152" marR="73152" marT="27432" marB="27432">
                    <a:solidFill>
                      <a:srgbClr val="FFF6E0"/>
                    </a:solidFill>
                  </a:tcPr>
                </a:tc>
                <a:tc>
                  <a:txBody>
                    <a:bodyPr/>
                    <a:lstStyle/>
                    <a:p>
                      <a:pPr algn="l"/>
                      <a:r>
                        <a:rPr sz="1400" b="1">
                          <a:solidFill>
                            <a:srgbClr val="78350F"/>
                          </a:solidFill>
                          <a:latin typeface="Liberation Sans"/>
                        </a:rPr>
                        <a:t>NOT MET. With floor marks, independent Stop 4 error was 0.66 m (de-drift) and 1.12 m (ESKF); simulated gated UWB max was 0.43 m. No microcontroller port was done.</a:t>
                      </a:r>
                    </a:p>
                  </a:txBody>
                  <a:tcPr anchor="ctr" marL="73152" marR="73152" marT="27432" marB="27432">
                    <a:solidFill>
                      <a:srgbClr val="FFF6E0"/>
                    </a:solidFill>
                  </a:tcPr>
                </a:tc>
              </a:tr>
            </a:tbl>
          </a:graphicData>
        </a:graphic>
      </p:graphicFrame>
      <p:sp>
        <p:nvSpPr>
          <p:cNvPr id="6" name="TextBox 5"/>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Section 7: Honest Performance Tier Scorecard (19/25)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1, 11 &amp; 13. DELIVERABLE TRACKER, EXPERIMENTAL LIMITATIONS &amp; NEXT STEPS</a:t>
            </a:r>
          </a:p>
          <a:p>
            <a:pPr algn="l"/>
            <a:r>
              <a:rPr sz="2400" b="1">
                <a:solidFill>
                  <a:srgbClr val="1E293B"/>
                </a:solidFill>
                <a:latin typeface="Liberation Sans"/>
              </a:rPr>
              <a:t>Every required deliverable is verified while six experimental limitations guide future work</a:t>
            </a:r>
          </a:p>
        </p:txBody>
      </p:sp>
      <p:sp>
        <p:nvSpPr>
          <p:cNvPr id="5" name="TextBox 4"/>
          <p:cNvSpPr txBox="1"/>
          <p:nvPr/>
        </p:nvSpPr>
        <p:spPr>
          <a:xfrm>
            <a:off x="594360" y="2057400"/>
            <a:ext cx="5303520" cy="3977639"/>
          </a:xfrm>
          <a:prstGeom prst="rect">
            <a:avLst/>
          </a:prstGeom>
          <a:noFill/>
        </p:spPr>
        <p:txBody>
          <a:bodyPr wrap="square" anchor="t" lIns="0" tIns="0" rIns="0" bIns="0">
            <a:spAutoFit/>
          </a:bodyPr>
          <a:lstStyle/>
          <a:p>
            <a:pPr algn="l">
              <a:spcAft>
                <a:spcPts val="800"/>
              </a:spcAft>
            </a:pPr>
            <a:r>
              <a:rPr sz="2000" b="1">
                <a:solidFill>
                  <a:srgbClr val="2F4B7C"/>
                </a:solidFill>
                <a:latin typeface="Liberation Sans"/>
              </a:rPr>
              <a:t>Problem-Statement Deliverable Tracker</a:t>
            </a:r>
          </a:p>
          <a:p>
            <a:pPr algn="l" marL="201168" indent="-201168">
              <a:spcAft>
                <a:spcPts val="800"/>
              </a:spcAft>
              <a:buFont typeface="Liberation Sans"/>
              <a:buChar char="•"/>
            </a:pPr>
            <a:r>
              <a:rPr sz="1500" b="1">
                <a:solidFill>
                  <a:srgbClr val="1E293B"/>
                </a:solidFill>
                <a:latin typeface="Liberation Sans"/>
              </a:rPr>
              <a:t>Code &amp; calibration procedure: </a:t>
            </a:r>
            <a:r>
              <a:rPr sz="1400" b="0">
                <a:solidFill>
                  <a:srgbClr val="334155"/>
                </a:solidFill>
                <a:latin typeface="Liberation Sans"/>
              </a:rPr>
              <a:t>Slides 5–6, 18 &amp; Figure 01 (least-squares + per-axis cross-check, 5-cell Colab reproduction).</a:t>
            </a:r>
          </a:p>
          <a:p>
            <a:pPr algn="l" marL="201168" indent="-201168">
              <a:spcAft>
                <a:spcPts val="800"/>
              </a:spcAft>
              <a:buFont typeface="Liberation Sans"/>
              <a:buChar char="•"/>
            </a:pPr>
            <a:r>
              <a:rPr sz="1500" b="1">
                <a:solidFill>
                  <a:srgbClr val="1E293B"/>
                </a:solidFill>
                <a:latin typeface="Liberation Sans"/>
              </a:rPr>
              <a:t>Trajectory plots vs ground truth: </a:t>
            </a:r>
            <a:r>
              <a:rPr sz="1400" b="0">
                <a:solidFill>
                  <a:srgbClr val="334155"/>
                </a:solidFill>
                <a:latin typeface="Liberation Sans"/>
              </a:rPr>
              <a:t>Phone walk: Slides 10–11 (Figures 04, 05). EuRoC drone flight: Slides 15–16 (Figures 12, 14).</a:t>
            </a:r>
          </a:p>
          <a:p>
            <a:pPr algn="l" marL="201168" indent="-201168">
              <a:spcAft>
                <a:spcPts val="800"/>
              </a:spcAft>
              <a:buFont typeface="Liberation Sans"/>
              <a:buChar char="•"/>
            </a:pPr>
            <a:r>
              <a:rPr sz="1500" b="1">
                <a:solidFill>
                  <a:srgbClr val="1E293B"/>
                </a:solidFill>
                <a:latin typeface="Liberation Sans"/>
              </a:rPr>
              <a:t>Error vs time &amp; distance + drift: </a:t>
            </a:r>
            <a:r>
              <a:rPr sz="1400" b="0">
                <a:solidFill>
                  <a:srgbClr val="334155"/>
                </a:solidFill>
                <a:latin typeface="Liberation Sans"/>
              </a:rPr>
              <a:t>Phone: Slides 12–14 (Figures 06, 07, 09, 10, 11). EuRoC: Slides 15–17 (Figures 13, 15, 16).</a:t>
            </a:r>
          </a:p>
          <a:p>
            <a:pPr algn="l" marL="201168" indent="-201168">
              <a:spcAft>
                <a:spcPts val="800"/>
              </a:spcAft>
              <a:buFont typeface="Liberation Sans"/>
              <a:buChar char="•"/>
            </a:pPr>
            <a:r>
              <a:rPr sz="1500" b="1">
                <a:solidFill>
                  <a:srgbClr val="1E293B"/>
                </a:solidFill>
                <a:latin typeface="Liberation Sans"/>
              </a:rPr>
              <a:t>Filter design, exact aids &amp; embedded: </a:t>
            </a:r>
            <a:r>
              <a:rPr sz="1400" b="0">
                <a:solidFill>
                  <a:srgbClr val="334155"/>
                </a:solidFill>
                <a:latin typeface="Liberation Sans"/>
              </a:rPr>
              <a:t>Slides 3–4, 7–8 (Figure 02), Slide 18 (embedded not implemented; stated openly).</a:t>
            </a:r>
          </a:p>
        </p:txBody>
      </p:sp>
      <p:sp>
        <p:nvSpPr>
          <p:cNvPr id="6" name="TextBox 5"/>
          <p:cNvSpPr txBox="1"/>
          <p:nvPr/>
        </p:nvSpPr>
        <p:spPr>
          <a:xfrm>
            <a:off x="6263640" y="2057400"/>
            <a:ext cx="5330952" cy="3977639"/>
          </a:xfrm>
          <a:prstGeom prst="rect">
            <a:avLst/>
          </a:prstGeom>
          <a:noFill/>
        </p:spPr>
        <p:txBody>
          <a:bodyPr wrap="square" anchor="t" lIns="0" tIns="0" rIns="0" bIns="0">
            <a:spAutoFit/>
          </a:bodyPr>
          <a:lstStyle/>
          <a:p>
            <a:pPr algn="l">
              <a:spcAft>
                <a:spcPts val="800"/>
              </a:spcAft>
            </a:pPr>
            <a:r>
              <a:rPr sz="2000" b="1">
                <a:solidFill>
                  <a:srgbClr val="2F4B7C"/>
                </a:solidFill>
                <a:latin typeface="Liberation Sans"/>
              </a:rPr>
              <a:t>Limitations &amp; Future Work</a:t>
            </a:r>
          </a:p>
          <a:p>
            <a:pPr algn="l" marL="201168" indent="-201168">
              <a:spcAft>
                <a:spcPts val="800"/>
              </a:spcAft>
              <a:buFont typeface="Liberation Sans"/>
              <a:buChar char="•"/>
            </a:pPr>
            <a:r>
              <a:rPr sz="1500" b="1">
                <a:solidFill>
                  <a:srgbClr val="1E293B"/>
                </a:solidFill>
                <a:latin typeface="Liberation Sans"/>
              </a:rPr>
              <a:t>Single recording (~0.1 m noise floor): </a:t>
            </a:r>
            <a:r>
              <a:rPr sz="1400" b="0">
                <a:solidFill>
                  <a:srgbClr val="334155"/>
                </a:solidFill>
                <a:latin typeface="Liberation Sans"/>
              </a:rPr>
              <a:t>Only one phone recording was evaluated (no error bars); differences of ~0.1 m are within noise.</a:t>
            </a:r>
          </a:p>
          <a:p>
            <a:pPr algn="l" marL="201168" indent="-201168">
              <a:spcAft>
                <a:spcPts val="800"/>
              </a:spcAft>
              <a:buFont typeface="Liberation Sans"/>
              <a:buChar char="•"/>
            </a:pPr>
            <a:r>
              <a:rPr sz="1500" b="1">
                <a:solidFill>
                  <a:srgbClr val="1E293B"/>
                </a:solidFill>
                <a:latin typeface="Liberation Sans"/>
              </a:rPr>
              <a:t>Parameters tuned on this recording: </a:t>
            </a:r>
            <a:r>
              <a:rPr sz="1400" b="0">
                <a:solidFill>
                  <a:srgbClr val="334155"/>
                </a:solidFill>
                <a:latin typeface="Liberation Sans"/>
              </a:rPr>
              <a:t>Noise inflation factors (x20/x10), gates, and thresholds were chosen by judgement while inspecting this dataset (risk of overfitting).</a:t>
            </a:r>
          </a:p>
          <a:p>
            <a:pPr algn="l" marL="201168" indent="-201168">
              <a:spcAft>
                <a:spcPts val="800"/>
              </a:spcAft>
              <a:buFont typeface="Liberation Sans"/>
              <a:buChar char="•"/>
            </a:pPr>
            <a:r>
              <a:rPr sz="1500" b="1">
                <a:solidFill>
                  <a:srgbClr val="1E293B"/>
                </a:solidFill>
                <a:latin typeface="Liberation Sans"/>
              </a:rPr>
              <a:t>Corner-only truth &amp; fitted 71° heading: </a:t>
            </a:r>
            <a:r>
              <a:rPr sz="1400" b="0">
                <a:solidFill>
                  <a:srgbClr val="334155"/>
                </a:solidFill>
                <a:latin typeface="Liberation Sans"/>
              </a:rPr>
              <a:t>Ground truth is 4 tape-measured corners on a 9.36 m path (not 50 m), with initial heading fitted from data.</a:t>
            </a:r>
          </a:p>
          <a:p>
            <a:pPr algn="l" marL="201168" indent="-201168">
              <a:spcAft>
                <a:spcPts val="800"/>
              </a:spcAft>
              <a:buFont typeface="Liberation Sans"/>
              <a:buChar char="•"/>
            </a:pPr>
            <a:r>
              <a:rPr sz="1500" b="1">
                <a:solidFill>
                  <a:srgbClr val="1E293B"/>
                </a:solidFill>
                <a:latin typeface="Liberation Sans"/>
              </a:rPr>
              <a:t>Concrete next steps: </a:t>
            </a:r>
            <a:r>
              <a:rPr sz="1400" b="0">
                <a:solidFill>
                  <a:srgbClr val="334155"/>
                </a:solidFill>
                <a:latin typeface="Liberation Sans"/>
              </a:rPr>
              <a:t>(1) Multi-orientation misalignment calibration, (2) 50 m marked course, (3) foot-mounted IMU for every-step ZUPTs, (4) fixed-point 15x15 MCU port.</a:t>
            </a:r>
          </a:p>
        </p:txBody>
      </p:sp>
      <p:sp>
        <p:nvSpPr>
          <p:cNvPr id="7" name="TextBox 6"/>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Sections 1, 11 &amp; 13: Deliverables, Limitations &amp; Next Steps (20/25)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Picture 3" descr="bleed_21.png"/>
          <p:cNvPicPr>
            <a:picLocks noChangeAspect="1"/>
          </p:cNvPicPr>
          <p:nvPr/>
        </p:nvPicPr>
        <p:blipFill>
          <a:blip r:embed="rId2"/>
          <a:stretch>
            <a:fillRect/>
          </a:stretch>
        </p:blipFill>
        <p:spPr>
          <a:xfrm>
            <a:off x="6096304" y="0"/>
            <a:ext cx="6095390" cy="6858000"/>
          </a:xfrm>
          <a:prstGeom prst="rect">
            <a:avLst/>
          </a:prstGeom>
          <a:ln>
            <a:noFill/>
          </a:ln>
        </p:spPr>
      </p:pic>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94360" y="384048"/>
            <a:ext cx="5257800"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APPENDIX A1. PHONE WALK VERTICAL STABILITY CHECK (FIGURE 08)</a:t>
            </a:r>
          </a:p>
          <a:p>
            <a:pPr algn="l"/>
            <a:r>
              <a:rPr sz="2400" b="1">
                <a:solidFill>
                  <a:srgbClr val="1E293B"/>
                </a:solidFill>
                <a:latin typeface="Liberation Sans"/>
              </a:rPr>
              <a:t>Height should stay near zero on a floor walk; this plot checks it</a:t>
            </a:r>
          </a:p>
        </p:txBody>
      </p:sp>
      <p:sp>
        <p:nvSpPr>
          <p:cNvPr id="6" name="TextBox 5"/>
          <p:cNvSpPr txBox="1"/>
          <p:nvPr/>
        </p:nvSpPr>
        <p:spPr>
          <a:xfrm>
            <a:off x="594360" y="2057400"/>
            <a:ext cx="5257800" cy="3977639"/>
          </a:xfrm>
          <a:prstGeom prst="rect">
            <a:avLst/>
          </a:prstGeom>
          <a:noFill/>
        </p:spPr>
        <p:txBody>
          <a:bodyPr wrap="square" anchor="t" lIns="0" tIns="0" rIns="0" bIns="0">
            <a:spAutoFit/>
          </a:bodyPr>
          <a:lstStyle/>
          <a:p>
            <a:pPr algn="l" marL="201168" indent="-201168">
              <a:spcAft>
                <a:spcPts val="800"/>
              </a:spcAft>
              <a:buFont typeface="Liberation Sans"/>
              <a:buChar char="•"/>
            </a:pPr>
            <a:r>
              <a:rPr sz="1500" b="1">
                <a:solidFill>
                  <a:srgbClr val="1E293B"/>
                </a:solidFill>
                <a:latin typeface="Liberation Sans"/>
              </a:rPr>
              <a:t>Flat-floor ground truth (Z ≈ 0 m): </a:t>
            </a:r>
            <a:r>
              <a:rPr sz="1400" b="0">
                <a:solidFill>
                  <a:srgbClr val="334155"/>
                </a:solidFill>
                <a:latin typeface="Liberation Sans"/>
              </a:rPr>
              <a:t>Because the 9.36 m square walk was performed on a level floor, vertical displacement Z provides a continuous sanity check that requires no horizontal truth.</a:t>
            </a:r>
          </a:p>
          <a:p>
            <a:pPr algn="l" marL="201168" indent="-201168">
              <a:spcAft>
                <a:spcPts val="800"/>
              </a:spcAft>
              <a:buFont typeface="Liberation Sans"/>
              <a:buChar char="•"/>
            </a:pPr>
            <a:r>
              <a:rPr sz="1500" b="1">
                <a:solidFill>
                  <a:srgbClr val="1E293B"/>
                </a:solidFill>
                <a:latin typeface="Liberation Sans"/>
              </a:rPr>
              <a:t>Unbounded runs omitted from scale: </a:t>
            </a:r>
            <a:r>
              <a:rPr sz="1400" b="0">
                <a:solidFill>
                  <a:srgbClr val="334155"/>
                </a:solidFill>
                <a:latin typeface="Liberation Sans"/>
              </a:rPr>
              <a:t>Raw and bias-removed runs drift hundreds to thousands of metres vertically because the uncalibrated z-axis bias is +0.2462 m/s².</a:t>
            </a:r>
          </a:p>
          <a:p>
            <a:pPr algn="l" marL="201168" indent="-201168">
              <a:spcAft>
                <a:spcPts val="800"/>
              </a:spcAft>
              <a:buFont typeface="Liberation Sans"/>
              <a:buChar char="•"/>
            </a:pPr>
            <a:r>
              <a:rPr sz="1500" b="1">
                <a:solidFill>
                  <a:srgbClr val="1E293B"/>
                </a:solidFill>
                <a:latin typeface="Liberation Sans"/>
              </a:rPr>
              <a:t>Mahony vs ZUPT alone: </a:t>
            </a:r>
            <a:r>
              <a:rPr sz="1400" b="0">
                <a:solidFill>
                  <a:srgbClr val="334155"/>
                </a:solidFill>
                <a:latin typeface="Liberation Sans"/>
              </a:rPr>
              <a:t>Bias + Mahony (green) still climbs past +5 m without velocity resets; Bias + ZUPT (red) drifts to about -1.6 m.</a:t>
            </a:r>
          </a:p>
          <a:p>
            <a:pPr algn="l" marL="201168" indent="-201168">
              <a:spcAft>
                <a:spcPts val="800"/>
              </a:spcAft>
              <a:buFont typeface="Liberation Sans"/>
              <a:buChar char="•"/>
            </a:pPr>
            <a:r>
              <a:rPr sz="1500" b="1">
                <a:solidFill>
                  <a:srgbClr val="1E293B"/>
                </a:solidFill>
                <a:latin typeface="Liberation Sans"/>
              </a:rPr>
              <a:t>Combined, ESKF &amp; de-drift stability: </a:t>
            </a:r>
            <a:r>
              <a:rPr sz="1400" b="0">
                <a:solidFill>
                  <a:srgbClr val="334155"/>
                </a:solidFill>
                <a:latin typeface="Liberation Sans"/>
              </a:rPr>
              <a:t>All combined (purple), unaided ESKF (brown), leg de-drift, and corner-mark runs clamp vertical velocity at every stop and hold Z near 0 m across all 80 s.</a:t>
            </a:r>
          </a:p>
        </p:txBody>
      </p:sp>
      <p:sp>
        <p:nvSpPr>
          <p:cNvPr id="7" name="TextBox 6"/>
          <p:cNvSpPr txBox="1"/>
          <p:nvPr/>
        </p:nvSpPr>
        <p:spPr>
          <a:xfrm>
            <a:off x="594360" y="6364224"/>
            <a:ext cx="5257800" cy="310896"/>
          </a:xfrm>
          <a:prstGeom prst="rect">
            <a:avLst/>
          </a:prstGeom>
          <a:noFill/>
        </p:spPr>
        <p:txBody>
          <a:bodyPr wrap="square" anchor="t" lIns="0" tIns="0" rIns="0" bIns="0">
            <a:spAutoFit/>
          </a:bodyPr>
          <a:lstStyle/>
          <a:p>
            <a:pPr algn="l"/>
            <a:r>
              <a:rPr sz="1400">
                <a:solidFill>
                  <a:srgbClr val="334155"/>
                </a:solidFill>
                <a:latin typeface="Liberation Sans"/>
              </a:rPr>
              <a:t>Team Pineapple | Appendix A1 &amp; Figure 08: Height Z vs Time (21/25)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APPENDIX A2. EUROC V1_01 BIAS &amp; ORIENTATION DIAGNOSTICS (FIGURES 17 &amp; 18)</a:t>
            </a:r>
          </a:p>
          <a:p>
            <a:pPr algn="l"/>
            <a:r>
              <a:rPr sz="2400" b="1">
                <a:solidFill>
                  <a:srgbClr val="1E293B"/>
                </a:solidFill>
                <a:latin typeface="Liberation Sans"/>
              </a:rPr>
              <a:t>ESKF bias estimates are tracked against the truth file; y accel bias stays under-estimated</a:t>
            </a:r>
          </a:p>
        </p:txBody>
      </p:sp>
      <p:pic>
        <p:nvPicPr>
          <p:cNvPr id="5" name="Picture 4" descr="inset_s22_1.png"/>
          <p:cNvPicPr>
            <a:picLocks noChangeAspect="1"/>
          </p:cNvPicPr>
          <p:nvPr/>
        </p:nvPicPr>
        <p:blipFill>
          <a:blip r:embed="rId2"/>
          <a:stretch>
            <a:fillRect/>
          </a:stretch>
        </p:blipFill>
        <p:spPr>
          <a:xfrm>
            <a:off x="594360" y="2029968"/>
            <a:ext cx="5321808" cy="2304288"/>
          </a:xfrm>
          <a:prstGeom prst="rect">
            <a:avLst/>
          </a:prstGeom>
          <a:ln>
            <a:noFill/>
          </a:ln>
        </p:spPr>
      </p:pic>
      <p:pic>
        <p:nvPicPr>
          <p:cNvPr id="6" name="Picture 5" descr="inset_s22_2.png"/>
          <p:cNvPicPr>
            <a:picLocks noChangeAspect="1"/>
          </p:cNvPicPr>
          <p:nvPr/>
        </p:nvPicPr>
        <p:blipFill>
          <a:blip r:embed="rId3"/>
          <a:stretch>
            <a:fillRect/>
          </a:stretch>
        </p:blipFill>
        <p:spPr>
          <a:xfrm>
            <a:off x="6272784" y="2029968"/>
            <a:ext cx="5321808" cy="2304288"/>
          </a:xfrm>
          <a:prstGeom prst="rect">
            <a:avLst/>
          </a:prstGeom>
          <a:ln>
            <a:noFill/>
          </a:ln>
        </p:spPr>
      </p:pic>
      <p:sp>
        <p:nvSpPr>
          <p:cNvPr id="7" name="TextBox 6"/>
          <p:cNvSpPr txBox="1"/>
          <p:nvPr/>
        </p:nvSpPr>
        <p:spPr>
          <a:xfrm>
            <a:off x="594360" y="4480560"/>
            <a:ext cx="11002975" cy="1645920"/>
          </a:xfrm>
          <a:prstGeom prst="rect">
            <a:avLst/>
          </a:prstGeom>
          <a:noFill/>
        </p:spPr>
        <p:txBody>
          <a:bodyPr wrap="square" anchor="t" lIns="0" tIns="0" rIns="0" bIns="0">
            <a:spAutoFit/>
          </a:bodyPr>
          <a:lstStyle/>
          <a:p>
            <a:pPr algn="l" marL="201168" indent="-201168">
              <a:spcAft>
                <a:spcPts val="500"/>
              </a:spcAft>
              <a:buFont typeface="Liberation Sans"/>
              <a:buChar char="•"/>
            </a:pPr>
            <a:r>
              <a:rPr sz="1500" b="1">
                <a:solidFill>
                  <a:srgbClr val="1E293B"/>
                </a:solidFill>
                <a:latin typeface="Liberation Sans"/>
              </a:rPr>
              <a:t>Gyroscope &amp; x/z accel biases lock onto truth: </a:t>
            </a:r>
            <a:r>
              <a:rPr sz="1400" b="0">
                <a:solidFill>
                  <a:srgbClr val="334155"/>
                </a:solidFill>
                <a:latin typeface="Liberation Sans"/>
              </a:rPr>
              <a:t>In Figure 17 (right), all three online gyro bias estimates converge rapidly to the EuRoC ground-truth lines and remain flat across 145 s; x and z accel biases also match truth.</a:t>
            </a:r>
          </a:p>
          <a:p>
            <a:pPr algn="l" marL="201168" indent="-201168">
              <a:spcAft>
                <a:spcPts val="500"/>
              </a:spcAft>
              <a:buFont typeface="Liberation Sans"/>
              <a:buChar char="•"/>
            </a:pPr>
            <a:r>
              <a:rPr sz="1500" b="1">
                <a:solidFill>
                  <a:srgbClr val="1E293B"/>
                </a:solidFill>
                <a:latin typeface="Liberation Sans"/>
              </a:rPr>
              <a:t>Why y-accel bias stays under-estimated (0.13 vs 0.55 m/s²): </a:t>
            </a:r>
            <a:r>
              <a:rPr sz="1400" b="0">
                <a:solidFill>
                  <a:srgbClr val="334155"/>
                </a:solidFill>
                <a:latin typeface="Liberation Sans"/>
              </a:rPr>
              <a:t>In Figure 17 (left) and Figure 18 (right), estimated y-accel bias settles near 0.13 m/s² vs ~0.55 m/s² data-consistent truth because roll/pitch tilt and horizontal bias are coupled at startup.</a:t>
            </a:r>
          </a:p>
          <a:p>
            <a:pPr algn="l" marL="201168" indent="-201168">
              <a:spcAft>
                <a:spcPts val="500"/>
              </a:spcAft>
              <a:buFont typeface="Liberation Sans"/>
              <a:buChar char="•"/>
            </a:pPr>
            <a:r>
              <a:rPr sz="1500" b="1">
                <a:solidFill>
                  <a:srgbClr val="1E293B"/>
                </a:solidFill>
                <a:latin typeface="Liberation Sans"/>
              </a:rPr>
              <a:t>Orientation error vs truth (Figure 18 left): </a:t>
            </a:r>
            <a:r>
              <a:rPr sz="1400" b="0">
                <a:solidFill>
                  <a:srgbClr val="334155"/>
                </a:solidFill>
                <a:latin typeface="Liberation Sans"/>
              </a:rPr>
              <a:t>Mean total tilt error is 2.45°, while heading error (red) grows to ~10° by 145 s because neither gravity nor position fixes constrain yaw.</a:t>
            </a:r>
          </a:p>
        </p:txBody>
      </p:sp>
      <p:sp>
        <p:nvSpPr>
          <p:cNvPr id="8" name="TextBox 7"/>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Appendix A2 &amp; Figures 17–18: EuRoC Bias &amp; Orientation Diagnostics (22/25)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APPENDIX A3. COMPLETE SMARTPHONE SQUARE-WALK NUMERICAL REFERENCE (SECTION 6)</a:t>
            </a:r>
          </a:p>
          <a:p>
            <a:pPr algn="l"/>
            <a:r>
              <a:rPr sz="2400" b="1">
                <a:solidFill>
                  <a:srgbClr val="1E293B"/>
                </a:solidFill>
                <a:latin typeface="Liberation Sans"/>
              </a:rPr>
              <a:t>Complete phone walk stop-error table across all ten calibrated and uncalibrated runs</a:t>
            </a:r>
          </a:p>
        </p:txBody>
      </p:sp>
      <p:graphicFrame>
        <p:nvGraphicFramePr>
          <p:cNvPr id="5" name="Table 4"/>
          <p:cNvGraphicFramePr>
            <a:graphicFrameLocks noGrp="1"/>
          </p:cNvGraphicFramePr>
          <p:nvPr/>
        </p:nvGraphicFramePr>
        <p:xfrm>
          <a:off x="594360" y="2048256"/>
          <a:ext cx="11002975" cy="3931920"/>
        </p:xfrm>
        <a:graphic>
          <a:graphicData uri="http://schemas.openxmlformats.org/drawingml/2006/table">
            <a:tbl>
              <a:tblPr firstRow="1" bandRow="1">
                <a:tableStyleId>{5C22544A-7EE6-4342-B048-85BDC9FD1C3A}</a:tableStyleId>
              </a:tblPr>
              <a:tblGrid>
                <a:gridCol w="2423160"/>
                <a:gridCol w="822960"/>
                <a:gridCol w="822960"/>
                <a:gridCol w="822960"/>
                <a:gridCol w="960120"/>
                <a:gridCol w="1051560"/>
                <a:gridCol w="1005840"/>
                <a:gridCol w="960120"/>
                <a:gridCol w="2133295"/>
              </a:tblGrid>
              <a:tr h="365760">
                <a:tc>
                  <a:txBody>
                    <a:bodyPr/>
                    <a:lstStyle/>
                    <a:p>
                      <a:pPr algn="l"/>
                      <a:r>
                        <a:rPr sz="1200" b="1">
                          <a:solidFill>
                            <a:srgbClr val="FFFFFF"/>
                          </a:solidFill>
                          <a:latin typeface="Liberation Sans"/>
                        </a:rPr>
                        <a:t>Run Family</a:t>
                      </a:r>
                    </a:p>
                  </a:txBody>
                  <a:tcPr anchor="ctr" marL="73152" marR="73152" marT="27432" marB="27432">
                    <a:solidFill>
                      <a:srgbClr val="2F4B7C"/>
                    </a:solidFill>
                  </a:tcPr>
                </a:tc>
                <a:tc>
                  <a:txBody>
                    <a:bodyPr/>
                    <a:lstStyle/>
                    <a:p>
                      <a:pPr algn="l"/>
                      <a:r>
                        <a:rPr sz="1200" b="1">
                          <a:solidFill>
                            <a:srgbClr val="FFFFFF"/>
                          </a:solidFill>
                          <a:latin typeface="Liberation Sans"/>
                        </a:rPr>
                        <a:t>Stop 1</a:t>
                      </a:r>
                    </a:p>
                  </a:txBody>
                  <a:tcPr anchor="ctr" marL="73152" marR="73152" marT="27432" marB="27432">
                    <a:solidFill>
                      <a:srgbClr val="2F4B7C"/>
                    </a:solidFill>
                  </a:tcPr>
                </a:tc>
                <a:tc>
                  <a:txBody>
                    <a:bodyPr/>
                    <a:lstStyle/>
                    <a:p>
                      <a:pPr algn="l"/>
                      <a:r>
                        <a:rPr sz="1200" b="1">
                          <a:solidFill>
                            <a:srgbClr val="FFFFFF"/>
                          </a:solidFill>
                          <a:latin typeface="Liberation Sans"/>
                        </a:rPr>
                        <a:t>Stop 2</a:t>
                      </a:r>
                    </a:p>
                  </a:txBody>
                  <a:tcPr anchor="ctr" marL="73152" marR="73152" marT="27432" marB="27432">
                    <a:solidFill>
                      <a:srgbClr val="2F4B7C"/>
                    </a:solidFill>
                  </a:tcPr>
                </a:tc>
                <a:tc>
                  <a:txBody>
                    <a:bodyPr/>
                    <a:lstStyle/>
                    <a:p>
                      <a:pPr algn="l"/>
                      <a:r>
                        <a:rPr sz="1200" b="1">
                          <a:solidFill>
                            <a:srgbClr val="FFFFFF"/>
                          </a:solidFill>
                          <a:latin typeface="Liberation Sans"/>
                        </a:rPr>
                        <a:t>Stop 3</a:t>
                      </a:r>
                    </a:p>
                  </a:txBody>
                  <a:tcPr anchor="ctr" marL="73152" marR="73152" marT="27432" marB="27432">
                    <a:solidFill>
                      <a:srgbClr val="2F4B7C"/>
                    </a:solidFill>
                  </a:tcPr>
                </a:tc>
                <a:tc>
                  <a:txBody>
                    <a:bodyPr/>
                    <a:lstStyle/>
                    <a:p>
                      <a:pPr algn="l"/>
                      <a:r>
                        <a:rPr sz="1200" b="1">
                          <a:solidFill>
                            <a:srgbClr val="FFFFFF"/>
                          </a:solidFill>
                          <a:latin typeface="Liberation Sans"/>
                        </a:rPr>
                        <a:t>Stop 4</a:t>
                      </a:r>
                    </a:p>
                  </a:txBody>
                  <a:tcPr anchor="ctr" marL="73152" marR="73152" marT="27432" marB="27432">
                    <a:solidFill>
                      <a:srgbClr val="2F4B7C"/>
                    </a:solidFill>
                  </a:tcPr>
                </a:tc>
                <a:tc>
                  <a:txBody>
                    <a:bodyPr/>
                    <a:lstStyle/>
                    <a:p>
                      <a:pPr algn="l"/>
                      <a:r>
                        <a:rPr sz="1200" b="1">
                          <a:solidFill>
                            <a:srgbClr val="FFFFFF"/>
                          </a:solidFill>
                          <a:latin typeface="Liberation Sans"/>
                        </a:rPr>
                        <a:t>Mean Err</a:t>
                      </a:r>
                    </a:p>
                  </a:txBody>
                  <a:tcPr anchor="ctr" marL="73152" marR="73152" marT="27432" marB="27432">
                    <a:solidFill>
                      <a:srgbClr val="2F4B7C"/>
                    </a:solidFill>
                  </a:tcPr>
                </a:tc>
                <a:tc>
                  <a:txBody>
                    <a:bodyPr/>
                    <a:lstStyle/>
                    <a:p>
                      <a:pPr algn="l"/>
                      <a:r>
                        <a:rPr sz="1200" b="1">
                          <a:solidFill>
                            <a:srgbClr val="FFFFFF"/>
                          </a:solidFill>
                          <a:latin typeface="Liberation Sans"/>
                        </a:rPr>
                        <a:t>Mean %</a:t>
                      </a:r>
                    </a:p>
                  </a:txBody>
                  <a:tcPr anchor="ctr" marL="73152" marR="73152" marT="27432" marB="27432">
                    <a:solidFill>
                      <a:srgbClr val="2F4B7C"/>
                    </a:solidFill>
                  </a:tcPr>
                </a:tc>
                <a:tc>
                  <a:txBody>
                    <a:bodyPr/>
                    <a:lstStyle/>
                    <a:p>
                      <a:pPr algn="l"/>
                      <a:r>
                        <a:rPr sz="1200" b="1">
                          <a:solidFill>
                            <a:srgbClr val="FFFFFF"/>
                          </a:solidFill>
                          <a:latin typeface="Liberation Sans"/>
                        </a:rPr>
                        <a:t>Final %</a:t>
                      </a:r>
                    </a:p>
                  </a:txBody>
                  <a:tcPr anchor="ctr" marL="73152" marR="73152" marT="27432" marB="27432">
                    <a:solidFill>
                      <a:srgbClr val="2F4B7C"/>
                    </a:solidFill>
                  </a:tcPr>
                </a:tc>
                <a:tc>
                  <a:txBody>
                    <a:bodyPr/>
                    <a:lstStyle/>
                    <a:p>
                      <a:pPr algn="l"/>
                      <a:r>
                        <a:rPr sz="1200" b="1">
                          <a:solidFill>
                            <a:srgbClr val="FFFFFF"/>
                          </a:solidFill>
                          <a:latin typeface="Liberation Sans"/>
                        </a:rPr>
                        <a:t>Cal Off: Mean / Stop 4</a:t>
                      </a:r>
                    </a:p>
                  </a:txBody>
                  <a:tcPr anchor="ctr" marL="73152" marR="73152" marT="27432" marB="27432">
                    <a:solidFill>
                      <a:srgbClr val="2F4B7C"/>
                    </a:solidFill>
                  </a:tcPr>
                </a:tc>
              </a:tr>
              <a:tr h="356616">
                <a:tc>
                  <a:txBody>
                    <a:bodyPr/>
                    <a:lstStyle/>
                    <a:p>
                      <a:pPr algn="l"/>
                      <a:r>
                        <a:rPr sz="1200" b="1">
                          <a:solidFill>
                            <a:srgbClr val="1E293B"/>
                          </a:solidFill>
                          <a:latin typeface="Liberation Sans"/>
                        </a:rPr>
                        <a:t>raw</a:t>
                      </a:r>
                    </a:p>
                  </a:txBody>
                  <a:tcPr anchor="ctr" marL="73152" marR="73152" marT="27432" marB="27432">
                    <a:solidFill>
                      <a:srgbClr val="EAF1FA"/>
                    </a:solidFill>
                  </a:tcPr>
                </a:tc>
                <a:tc>
                  <a:txBody>
                    <a:bodyPr/>
                    <a:lstStyle/>
                    <a:p>
                      <a:pPr algn="l"/>
                      <a:r>
                        <a:rPr sz="1200" b="0">
                          <a:solidFill>
                            <a:srgbClr val="1E293B"/>
                          </a:solidFill>
                          <a:latin typeface="Liberation Sans"/>
                        </a:rPr>
                        <a:t>1.26</a:t>
                      </a:r>
                    </a:p>
                  </a:txBody>
                  <a:tcPr anchor="ctr" marL="73152" marR="73152" marT="27432" marB="27432">
                    <a:solidFill>
                      <a:srgbClr val="EAF1FA"/>
                    </a:solidFill>
                  </a:tcPr>
                </a:tc>
                <a:tc>
                  <a:txBody>
                    <a:bodyPr/>
                    <a:lstStyle/>
                    <a:p>
                      <a:pPr algn="l"/>
                      <a:r>
                        <a:rPr sz="1200" b="0">
                          <a:solidFill>
                            <a:srgbClr val="1E293B"/>
                          </a:solidFill>
                          <a:latin typeface="Liberation Sans"/>
                        </a:rPr>
                        <a:t>18.03</a:t>
                      </a:r>
                    </a:p>
                  </a:txBody>
                  <a:tcPr anchor="ctr" marL="73152" marR="73152" marT="27432" marB="27432">
                    <a:solidFill>
                      <a:srgbClr val="EAF1FA"/>
                    </a:solidFill>
                  </a:tcPr>
                </a:tc>
                <a:tc>
                  <a:txBody>
                    <a:bodyPr/>
                    <a:lstStyle/>
                    <a:p>
                      <a:pPr algn="l"/>
                      <a:r>
                        <a:rPr sz="1200" b="0">
                          <a:solidFill>
                            <a:srgbClr val="1E293B"/>
                          </a:solidFill>
                          <a:latin typeface="Liberation Sans"/>
                        </a:rPr>
                        <a:t>68.44</a:t>
                      </a:r>
                    </a:p>
                  </a:txBody>
                  <a:tcPr anchor="ctr" marL="73152" marR="73152" marT="27432" marB="27432">
                    <a:solidFill>
                      <a:srgbClr val="EAF1FA"/>
                    </a:solidFill>
                  </a:tcPr>
                </a:tc>
                <a:tc>
                  <a:txBody>
                    <a:bodyPr/>
                    <a:lstStyle/>
                    <a:p>
                      <a:pPr algn="l"/>
                      <a:r>
                        <a:rPr sz="1200" b="0">
                          <a:solidFill>
                            <a:srgbClr val="1E293B"/>
                          </a:solidFill>
                          <a:latin typeface="Liberation Sans"/>
                        </a:rPr>
                        <a:t>143.92</a:t>
                      </a:r>
                    </a:p>
                  </a:txBody>
                  <a:tcPr anchor="ctr" marL="73152" marR="73152" marT="27432" marB="27432">
                    <a:solidFill>
                      <a:srgbClr val="EAF1FA"/>
                    </a:solidFill>
                  </a:tcPr>
                </a:tc>
                <a:tc>
                  <a:txBody>
                    <a:bodyPr/>
                    <a:lstStyle/>
                    <a:p>
                      <a:pPr algn="l"/>
                      <a:r>
                        <a:rPr sz="1200" b="0">
                          <a:solidFill>
                            <a:srgbClr val="1E293B"/>
                          </a:solidFill>
                          <a:latin typeface="Liberation Sans"/>
                        </a:rPr>
                        <a:t>57.91 m</a:t>
                      </a:r>
                    </a:p>
                  </a:txBody>
                  <a:tcPr anchor="ctr" marL="73152" marR="73152" marT="27432" marB="27432">
                    <a:solidFill>
                      <a:srgbClr val="EAF1FA"/>
                    </a:solidFill>
                  </a:tcPr>
                </a:tc>
                <a:tc>
                  <a:txBody>
                    <a:bodyPr/>
                    <a:lstStyle/>
                    <a:p>
                      <a:pPr algn="l"/>
                      <a:r>
                        <a:rPr sz="1200" b="0">
                          <a:solidFill>
                            <a:srgbClr val="1E293B"/>
                          </a:solidFill>
                          <a:latin typeface="Liberation Sans"/>
                        </a:rPr>
                        <a:t>618.7%</a:t>
                      </a:r>
                    </a:p>
                  </a:txBody>
                  <a:tcPr anchor="ctr" marL="73152" marR="73152" marT="27432" marB="27432">
                    <a:solidFill>
                      <a:srgbClr val="EAF1FA"/>
                    </a:solidFill>
                  </a:tcPr>
                </a:tc>
                <a:tc>
                  <a:txBody>
                    <a:bodyPr/>
                    <a:lstStyle/>
                    <a:p>
                      <a:pPr algn="l"/>
                      <a:r>
                        <a:rPr sz="1200" b="0">
                          <a:solidFill>
                            <a:srgbClr val="1E293B"/>
                          </a:solidFill>
                          <a:latin typeface="Liberation Sans"/>
                        </a:rPr>
                        <a:t>1537.6%</a:t>
                      </a:r>
                    </a:p>
                  </a:txBody>
                  <a:tcPr anchor="ctr" marL="73152" marR="73152" marT="27432" marB="27432">
                    <a:solidFill>
                      <a:srgbClr val="EAF1FA"/>
                    </a:solidFill>
                  </a:tcPr>
                </a:tc>
                <a:tc>
                  <a:txBody>
                    <a:bodyPr/>
                    <a:lstStyle/>
                    <a:p>
                      <a:pPr algn="l"/>
                      <a:r>
                        <a:rPr sz="1200" b="0">
                          <a:solidFill>
                            <a:srgbClr val="1E293B"/>
                          </a:solidFill>
                          <a:latin typeface="Liberation Sans"/>
                        </a:rPr>
                        <a:t>1493.84 m / 3627.41 m</a:t>
                      </a:r>
                    </a:p>
                  </a:txBody>
                  <a:tcPr anchor="ctr" marL="73152" marR="73152" marT="27432" marB="27432">
                    <a:solidFill>
                      <a:srgbClr val="EAF1FA"/>
                    </a:solidFill>
                  </a:tcPr>
                </a:tc>
              </a:tr>
              <a:tr h="356616">
                <a:tc>
                  <a:txBody>
                    <a:bodyPr/>
                    <a:lstStyle/>
                    <a:p>
                      <a:pPr algn="l"/>
                      <a:r>
                        <a:rPr sz="1200" b="1">
                          <a:solidFill>
                            <a:srgbClr val="1E293B"/>
                          </a:solidFill>
                          <a:latin typeface="Liberation Sans"/>
                        </a:rPr>
                        <a:t>bias removed</a:t>
                      </a:r>
                    </a:p>
                  </a:txBody>
                  <a:tcPr anchor="ctr" marL="73152" marR="73152" marT="27432" marB="27432">
                    <a:solidFill>
                      <a:srgbClr val="FFFFFF"/>
                    </a:solidFill>
                  </a:tcPr>
                </a:tc>
                <a:tc>
                  <a:txBody>
                    <a:bodyPr/>
                    <a:lstStyle/>
                    <a:p>
                      <a:pPr algn="l"/>
                      <a:r>
                        <a:rPr sz="1200" b="0">
                          <a:solidFill>
                            <a:srgbClr val="1E293B"/>
                          </a:solidFill>
                          <a:latin typeface="Liberation Sans"/>
                        </a:rPr>
                        <a:t>6.08</a:t>
                      </a:r>
                    </a:p>
                  </a:txBody>
                  <a:tcPr anchor="ctr" marL="73152" marR="73152" marT="27432" marB="27432">
                    <a:solidFill>
                      <a:srgbClr val="FFFFFF"/>
                    </a:solidFill>
                  </a:tcPr>
                </a:tc>
                <a:tc>
                  <a:txBody>
                    <a:bodyPr/>
                    <a:lstStyle/>
                    <a:p>
                      <a:pPr algn="l"/>
                      <a:r>
                        <a:rPr sz="1200" b="0">
                          <a:solidFill>
                            <a:srgbClr val="1E293B"/>
                          </a:solidFill>
                          <a:latin typeface="Liberation Sans"/>
                        </a:rPr>
                        <a:t>91.37</a:t>
                      </a:r>
                    </a:p>
                  </a:txBody>
                  <a:tcPr anchor="ctr" marL="73152" marR="73152" marT="27432" marB="27432">
                    <a:solidFill>
                      <a:srgbClr val="FFFFFF"/>
                    </a:solidFill>
                  </a:tcPr>
                </a:tc>
                <a:tc>
                  <a:txBody>
                    <a:bodyPr/>
                    <a:lstStyle/>
                    <a:p>
                      <a:pPr algn="l"/>
                      <a:r>
                        <a:rPr sz="1200" b="0">
                          <a:solidFill>
                            <a:srgbClr val="1E293B"/>
                          </a:solidFill>
                          <a:latin typeface="Liberation Sans"/>
                        </a:rPr>
                        <a:t>378.52</a:t>
                      </a:r>
                    </a:p>
                  </a:txBody>
                  <a:tcPr anchor="ctr" marL="73152" marR="73152" marT="27432" marB="27432">
                    <a:solidFill>
                      <a:srgbClr val="FFFFFF"/>
                    </a:solidFill>
                  </a:tcPr>
                </a:tc>
                <a:tc>
                  <a:txBody>
                    <a:bodyPr/>
                    <a:lstStyle/>
                    <a:p>
                      <a:pPr algn="l"/>
                      <a:r>
                        <a:rPr sz="1200" b="0">
                          <a:solidFill>
                            <a:srgbClr val="1E293B"/>
                          </a:solidFill>
                          <a:latin typeface="Liberation Sans"/>
                        </a:rPr>
                        <a:t>797.78</a:t>
                      </a:r>
                    </a:p>
                  </a:txBody>
                  <a:tcPr anchor="ctr" marL="73152" marR="73152" marT="27432" marB="27432">
                    <a:solidFill>
                      <a:srgbClr val="FFFFFF"/>
                    </a:solidFill>
                  </a:tcPr>
                </a:tc>
                <a:tc>
                  <a:txBody>
                    <a:bodyPr/>
                    <a:lstStyle/>
                    <a:p>
                      <a:pPr algn="l"/>
                      <a:r>
                        <a:rPr sz="1200" b="0">
                          <a:solidFill>
                            <a:srgbClr val="1E293B"/>
                          </a:solidFill>
                          <a:latin typeface="Liberation Sans"/>
                        </a:rPr>
                        <a:t>318.44 m</a:t>
                      </a:r>
                    </a:p>
                  </a:txBody>
                  <a:tcPr anchor="ctr" marL="73152" marR="73152" marT="27432" marB="27432">
                    <a:solidFill>
                      <a:srgbClr val="FFFFFF"/>
                    </a:solidFill>
                  </a:tcPr>
                </a:tc>
                <a:tc>
                  <a:txBody>
                    <a:bodyPr/>
                    <a:lstStyle/>
                    <a:p>
                      <a:pPr algn="l"/>
                      <a:r>
                        <a:rPr sz="1200" b="0">
                          <a:solidFill>
                            <a:srgbClr val="1E293B"/>
                          </a:solidFill>
                          <a:latin typeface="Liberation Sans"/>
                        </a:rPr>
                        <a:t>3402.1%</a:t>
                      </a:r>
                    </a:p>
                  </a:txBody>
                  <a:tcPr anchor="ctr" marL="73152" marR="73152" marT="27432" marB="27432">
                    <a:solidFill>
                      <a:srgbClr val="FFFFFF"/>
                    </a:solidFill>
                  </a:tcPr>
                </a:tc>
                <a:tc>
                  <a:txBody>
                    <a:bodyPr/>
                    <a:lstStyle/>
                    <a:p>
                      <a:pPr algn="l"/>
                      <a:r>
                        <a:rPr sz="1200" b="0">
                          <a:solidFill>
                            <a:srgbClr val="1E293B"/>
                          </a:solidFill>
                          <a:latin typeface="Liberation Sans"/>
                        </a:rPr>
                        <a:t>8523.3%</a:t>
                      </a:r>
                    </a:p>
                  </a:txBody>
                  <a:tcPr anchor="ctr" marL="73152" marR="73152" marT="27432" marB="27432">
                    <a:solidFill>
                      <a:srgbClr val="FFFFFF"/>
                    </a:solidFill>
                  </a:tcPr>
                </a:tc>
                <a:tc>
                  <a:txBody>
                    <a:bodyPr/>
                    <a:lstStyle/>
                    <a:p>
                      <a:pPr algn="l"/>
                      <a:r>
                        <a:rPr sz="1200" b="0">
                          <a:solidFill>
                            <a:srgbClr val="1E293B"/>
                          </a:solidFill>
                          <a:latin typeface="Liberation Sans"/>
                        </a:rPr>
                        <a:t>359.85 m / 903.21 m</a:t>
                      </a:r>
                    </a:p>
                  </a:txBody>
                  <a:tcPr anchor="ctr" marL="73152" marR="73152" marT="27432" marB="27432">
                    <a:solidFill>
                      <a:srgbClr val="FFFFFF"/>
                    </a:solidFill>
                  </a:tcPr>
                </a:tc>
              </a:tr>
              <a:tr h="356616">
                <a:tc>
                  <a:txBody>
                    <a:bodyPr/>
                    <a:lstStyle/>
                    <a:p>
                      <a:pPr algn="l"/>
                      <a:r>
                        <a:rPr sz="1200" b="1">
                          <a:solidFill>
                            <a:srgbClr val="1E293B"/>
                          </a:solidFill>
                          <a:latin typeface="Liberation Sans"/>
                        </a:rPr>
                        <a:t>bias + Mahony</a:t>
                      </a:r>
                    </a:p>
                  </a:txBody>
                  <a:tcPr anchor="ctr" marL="73152" marR="73152" marT="27432" marB="27432">
                    <a:solidFill>
                      <a:srgbClr val="EAF1FA"/>
                    </a:solidFill>
                  </a:tcPr>
                </a:tc>
                <a:tc>
                  <a:txBody>
                    <a:bodyPr/>
                    <a:lstStyle/>
                    <a:p>
                      <a:pPr algn="l"/>
                      <a:r>
                        <a:rPr sz="1200" b="0">
                          <a:solidFill>
                            <a:srgbClr val="1E293B"/>
                          </a:solidFill>
                          <a:latin typeface="Liberation Sans"/>
                        </a:rPr>
                        <a:t>7.41</a:t>
                      </a:r>
                    </a:p>
                  </a:txBody>
                  <a:tcPr anchor="ctr" marL="73152" marR="73152" marT="27432" marB="27432">
                    <a:solidFill>
                      <a:srgbClr val="EAF1FA"/>
                    </a:solidFill>
                  </a:tcPr>
                </a:tc>
                <a:tc>
                  <a:txBody>
                    <a:bodyPr/>
                    <a:lstStyle/>
                    <a:p>
                      <a:pPr algn="l"/>
                      <a:r>
                        <a:rPr sz="1200" b="0">
                          <a:solidFill>
                            <a:srgbClr val="1E293B"/>
                          </a:solidFill>
                          <a:latin typeface="Liberation Sans"/>
                        </a:rPr>
                        <a:t>42.48</a:t>
                      </a:r>
                    </a:p>
                  </a:txBody>
                  <a:tcPr anchor="ctr" marL="73152" marR="73152" marT="27432" marB="27432">
                    <a:solidFill>
                      <a:srgbClr val="EAF1FA"/>
                    </a:solidFill>
                  </a:tcPr>
                </a:tc>
                <a:tc>
                  <a:txBody>
                    <a:bodyPr/>
                    <a:lstStyle/>
                    <a:p>
                      <a:pPr algn="l"/>
                      <a:r>
                        <a:rPr sz="1200" b="0">
                          <a:solidFill>
                            <a:srgbClr val="1E293B"/>
                          </a:solidFill>
                          <a:latin typeface="Liberation Sans"/>
                        </a:rPr>
                        <a:t>95.82</a:t>
                      </a:r>
                    </a:p>
                  </a:txBody>
                  <a:tcPr anchor="ctr" marL="73152" marR="73152" marT="27432" marB="27432">
                    <a:solidFill>
                      <a:srgbClr val="EAF1FA"/>
                    </a:solidFill>
                  </a:tcPr>
                </a:tc>
                <a:tc>
                  <a:txBody>
                    <a:bodyPr/>
                    <a:lstStyle/>
                    <a:p>
                      <a:pPr algn="l"/>
                      <a:r>
                        <a:rPr sz="1200" b="0">
                          <a:solidFill>
                            <a:srgbClr val="1E293B"/>
                          </a:solidFill>
                          <a:latin typeface="Liberation Sans"/>
                        </a:rPr>
                        <a:t>125.57</a:t>
                      </a:r>
                    </a:p>
                  </a:txBody>
                  <a:tcPr anchor="ctr" marL="73152" marR="73152" marT="27432" marB="27432">
                    <a:solidFill>
                      <a:srgbClr val="EAF1FA"/>
                    </a:solidFill>
                  </a:tcPr>
                </a:tc>
                <a:tc>
                  <a:txBody>
                    <a:bodyPr/>
                    <a:lstStyle/>
                    <a:p>
                      <a:pPr algn="l"/>
                      <a:r>
                        <a:rPr sz="1200" b="0">
                          <a:solidFill>
                            <a:srgbClr val="1E293B"/>
                          </a:solidFill>
                          <a:latin typeface="Liberation Sans"/>
                        </a:rPr>
                        <a:t>67.82 m</a:t>
                      </a:r>
                    </a:p>
                  </a:txBody>
                  <a:tcPr anchor="ctr" marL="73152" marR="73152" marT="27432" marB="27432">
                    <a:solidFill>
                      <a:srgbClr val="EAF1FA"/>
                    </a:solidFill>
                  </a:tcPr>
                </a:tc>
                <a:tc>
                  <a:txBody>
                    <a:bodyPr/>
                    <a:lstStyle/>
                    <a:p>
                      <a:pPr algn="l"/>
                      <a:r>
                        <a:rPr sz="1200" b="0">
                          <a:solidFill>
                            <a:srgbClr val="1E293B"/>
                          </a:solidFill>
                          <a:latin typeface="Liberation Sans"/>
                        </a:rPr>
                        <a:t>724.6%</a:t>
                      </a:r>
                    </a:p>
                  </a:txBody>
                  <a:tcPr anchor="ctr" marL="73152" marR="73152" marT="27432" marB="27432">
                    <a:solidFill>
                      <a:srgbClr val="EAF1FA"/>
                    </a:solidFill>
                  </a:tcPr>
                </a:tc>
                <a:tc>
                  <a:txBody>
                    <a:bodyPr/>
                    <a:lstStyle/>
                    <a:p>
                      <a:pPr algn="l"/>
                      <a:r>
                        <a:rPr sz="1200" b="0">
                          <a:solidFill>
                            <a:srgbClr val="1E293B"/>
                          </a:solidFill>
                          <a:latin typeface="Liberation Sans"/>
                        </a:rPr>
                        <a:t>1341.5%</a:t>
                      </a:r>
                    </a:p>
                  </a:txBody>
                  <a:tcPr anchor="ctr" marL="73152" marR="73152" marT="27432" marB="27432">
                    <a:solidFill>
                      <a:srgbClr val="EAF1FA"/>
                    </a:solidFill>
                  </a:tcPr>
                </a:tc>
                <a:tc>
                  <a:txBody>
                    <a:bodyPr/>
                    <a:lstStyle/>
                    <a:p>
                      <a:pPr algn="l"/>
                      <a:r>
                        <a:rPr sz="1200" b="0">
                          <a:solidFill>
                            <a:srgbClr val="1E293B"/>
                          </a:solidFill>
                          <a:latin typeface="Liberation Sans"/>
                        </a:rPr>
                        <a:t>68.49 m / 127.15 m</a:t>
                      </a:r>
                    </a:p>
                  </a:txBody>
                  <a:tcPr anchor="ctr" marL="73152" marR="73152" marT="27432" marB="27432">
                    <a:solidFill>
                      <a:srgbClr val="EAF1FA"/>
                    </a:solidFill>
                  </a:tcPr>
                </a:tc>
              </a:tr>
              <a:tr h="356616">
                <a:tc>
                  <a:txBody>
                    <a:bodyPr/>
                    <a:lstStyle/>
                    <a:p>
                      <a:pPr algn="l"/>
                      <a:r>
                        <a:rPr sz="1200" b="1">
                          <a:solidFill>
                            <a:srgbClr val="1E293B"/>
                          </a:solidFill>
                          <a:latin typeface="Liberation Sans"/>
                        </a:rPr>
                        <a:t>bias + ZUPT</a:t>
                      </a:r>
                    </a:p>
                  </a:txBody>
                  <a:tcPr anchor="ctr" marL="73152" marR="73152" marT="27432" marB="27432">
                    <a:solidFill>
                      <a:srgbClr val="FFFFFF"/>
                    </a:solidFill>
                  </a:tcPr>
                </a:tc>
                <a:tc>
                  <a:txBody>
                    <a:bodyPr/>
                    <a:lstStyle/>
                    <a:p>
                      <a:pPr algn="l"/>
                      <a:r>
                        <a:rPr sz="1200" b="0">
                          <a:solidFill>
                            <a:srgbClr val="1E293B"/>
                          </a:solidFill>
                          <a:latin typeface="Liberation Sans"/>
                        </a:rPr>
                        <a:t>4.87</a:t>
                      </a:r>
                    </a:p>
                  </a:txBody>
                  <a:tcPr anchor="ctr" marL="73152" marR="73152" marT="27432" marB="27432">
                    <a:solidFill>
                      <a:srgbClr val="FFFFFF"/>
                    </a:solidFill>
                  </a:tcPr>
                </a:tc>
                <a:tc>
                  <a:txBody>
                    <a:bodyPr/>
                    <a:lstStyle/>
                    <a:p>
                      <a:pPr algn="l"/>
                      <a:r>
                        <a:rPr sz="1200" b="0">
                          <a:solidFill>
                            <a:srgbClr val="1E293B"/>
                          </a:solidFill>
                          <a:latin typeface="Liberation Sans"/>
                        </a:rPr>
                        <a:t>17.04</a:t>
                      </a:r>
                    </a:p>
                  </a:txBody>
                  <a:tcPr anchor="ctr" marL="73152" marR="73152" marT="27432" marB="27432">
                    <a:solidFill>
                      <a:srgbClr val="FFFFFF"/>
                    </a:solidFill>
                  </a:tcPr>
                </a:tc>
                <a:tc>
                  <a:txBody>
                    <a:bodyPr/>
                    <a:lstStyle/>
                    <a:p>
                      <a:pPr algn="l"/>
                      <a:r>
                        <a:rPr sz="1200" b="0">
                          <a:solidFill>
                            <a:srgbClr val="1E293B"/>
                          </a:solidFill>
                          <a:latin typeface="Liberation Sans"/>
                        </a:rPr>
                        <a:t>38.16</a:t>
                      </a:r>
                    </a:p>
                  </a:txBody>
                  <a:tcPr anchor="ctr" marL="73152" marR="73152" marT="27432" marB="27432">
                    <a:solidFill>
                      <a:srgbClr val="FFFFFF"/>
                    </a:solidFill>
                  </a:tcPr>
                </a:tc>
                <a:tc>
                  <a:txBody>
                    <a:bodyPr/>
                    <a:lstStyle/>
                    <a:p>
                      <a:pPr algn="l"/>
                      <a:r>
                        <a:rPr sz="1200" b="0">
                          <a:solidFill>
                            <a:srgbClr val="1E293B"/>
                          </a:solidFill>
                          <a:latin typeface="Liberation Sans"/>
                        </a:rPr>
                        <a:t>56.27</a:t>
                      </a:r>
                    </a:p>
                  </a:txBody>
                  <a:tcPr anchor="ctr" marL="73152" marR="73152" marT="27432" marB="27432">
                    <a:solidFill>
                      <a:srgbClr val="FFFFFF"/>
                    </a:solidFill>
                  </a:tcPr>
                </a:tc>
                <a:tc>
                  <a:txBody>
                    <a:bodyPr/>
                    <a:lstStyle/>
                    <a:p>
                      <a:pPr algn="l"/>
                      <a:r>
                        <a:rPr sz="1200" b="0">
                          <a:solidFill>
                            <a:srgbClr val="1E293B"/>
                          </a:solidFill>
                          <a:latin typeface="Liberation Sans"/>
                        </a:rPr>
                        <a:t>29.08 m</a:t>
                      </a:r>
                    </a:p>
                  </a:txBody>
                  <a:tcPr anchor="ctr" marL="73152" marR="73152" marT="27432" marB="27432">
                    <a:solidFill>
                      <a:srgbClr val="FFFFFF"/>
                    </a:solidFill>
                  </a:tcPr>
                </a:tc>
                <a:tc>
                  <a:txBody>
                    <a:bodyPr/>
                    <a:lstStyle/>
                    <a:p>
                      <a:pPr algn="l"/>
                      <a:r>
                        <a:rPr sz="1200" b="0">
                          <a:solidFill>
                            <a:srgbClr val="1E293B"/>
                          </a:solidFill>
                          <a:latin typeface="Liberation Sans"/>
                        </a:rPr>
                        <a:t>310.7%</a:t>
                      </a:r>
                    </a:p>
                  </a:txBody>
                  <a:tcPr anchor="ctr" marL="73152" marR="73152" marT="27432" marB="27432">
                    <a:solidFill>
                      <a:srgbClr val="FFFFFF"/>
                    </a:solidFill>
                  </a:tcPr>
                </a:tc>
                <a:tc>
                  <a:txBody>
                    <a:bodyPr/>
                    <a:lstStyle/>
                    <a:p>
                      <a:pPr algn="l"/>
                      <a:r>
                        <a:rPr sz="1200" b="0">
                          <a:solidFill>
                            <a:srgbClr val="1E293B"/>
                          </a:solidFill>
                          <a:latin typeface="Liberation Sans"/>
                        </a:rPr>
                        <a:t>601.2%</a:t>
                      </a:r>
                    </a:p>
                  </a:txBody>
                  <a:tcPr anchor="ctr" marL="73152" marR="73152" marT="27432" marB="27432">
                    <a:solidFill>
                      <a:srgbClr val="FFFFFF"/>
                    </a:solidFill>
                  </a:tcPr>
                </a:tc>
                <a:tc>
                  <a:txBody>
                    <a:bodyPr/>
                    <a:lstStyle/>
                    <a:p>
                      <a:pPr algn="l"/>
                      <a:r>
                        <a:rPr sz="1200" b="0">
                          <a:solidFill>
                            <a:srgbClr val="1E293B"/>
                          </a:solidFill>
                          <a:latin typeface="Liberation Sans"/>
                        </a:rPr>
                        <a:t>32.50 m / 63.53 m</a:t>
                      </a:r>
                    </a:p>
                  </a:txBody>
                  <a:tcPr anchor="ctr" marL="73152" marR="73152" marT="27432" marB="27432">
                    <a:solidFill>
                      <a:srgbClr val="FFFFFF"/>
                    </a:solidFill>
                  </a:tcPr>
                </a:tc>
              </a:tr>
              <a:tr h="356616">
                <a:tc>
                  <a:txBody>
                    <a:bodyPr/>
                    <a:lstStyle/>
                    <a:p>
                      <a:pPr algn="l"/>
                      <a:r>
                        <a:rPr sz="1200" b="1">
                          <a:solidFill>
                            <a:srgbClr val="1E293B"/>
                          </a:solidFill>
                          <a:latin typeface="Liberation Sans"/>
                        </a:rPr>
                        <a:t>all combined</a:t>
                      </a:r>
                    </a:p>
                  </a:txBody>
                  <a:tcPr anchor="ctr" marL="73152" marR="73152" marT="27432" marB="27432">
                    <a:solidFill>
                      <a:srgbClr val="EAF1FA"/>
                    </a:solidFill>
                  </a:tcPr>
                </a:tc>
                <a:tc>
                  <a:txBody>
                    <a:bodyPr/>
                    <a:lstStyle/>
                    <a:p>
                      <a:pPr algn="l"/>
                      <a:r>
                        <a:rPr sz="1200" b="0">
                          <a:solidFill>
                            <a:srgbClr val="1E293B"/>
                          </a:solidFill>
                          <a:latin typeface="Liberation Sans"/>
                        </a:rPr>
                        <a:t>6.60</a:t>
                      </a:r>
                    </a:p>
                  </a:txBody>
                  <a:tcPr anchor="ctr" marL="73152" marR="73152" marT="27432" marB="27432">
                    <a:solidFill>
                      <a:srgbClr val="EAF1FA"/>
                    </a:solidFill>
                  </a:tcPr>
                </a:tc>
                <a:tc>
                  <a:txBody>
                    <a:bodyPr/>
                    <a:lstStyle/>
                    <a:p>
                      <a:pPr algn="l"/>
                      <a:r>
                        <a:rPr sz="1200" b="0">
                          <a:solidFill>
                            <a:srgbClr val="1E293B"/>
                          </a:solidFill>
                          <a:latin typeface="Liberation Sans"/>
                        </a:rPr>
                        <a:t>11.48</a:t>
                      </a:r>
                    </a:p>
                  </a:txBody>
                  <a:tcPr anchor="ctr" marL="73152" marR="73152" marT="27432" marB="27432">
                    <a:solidFill>
                      <a:srgbClr val="EAF1FA"/>
                    </a:solidFill>
                  </a:tcPr>
                </a:tc>
                <a:tc>
                  <a:txBody>
                    <a:bodyPr/>
                    <a:lstStyle/>
                    <a:p>
                      <a:pPr algn="l"/>
                      <a:r>
                        <a:rPr sz="1200" b="0">
                          <a:solidFill>
                            <a:srgbClr val="1E293B"/>
                          </a:solidFill>
                          <a:latin typeface="Liberation Sans"/>
                        </a:rPr>
                        <a:t>8.81</a:t>
                      </a:r>
                    </a:p>
                  </a:txBody>
                  <a:tcPr anchor="ctr" marL="73152" marR="73152" marT="27432" marB="27432">
                    <a:solidFill>
                      <a:srgbClr val="EAF1FA"/>
                    </a:solidFill>
                  </a:tcPr>
                </a:tc>
                <a:tc>
                  <a:txBody>
                    <a:bodyPr/>
                    <a:lstStyle/>
                    <a:p>
                      <a:pPr algn="l"/>
                      <a:r>
                        <a:rPr sz="1200" b="0">
                          <a:solidFill>
                            <a:srgbClr val="1E293B"/>
                          </a:solidFill>
                          <a:latin typeface="Liberation Sans"/>
                        </a:rPr>
                        <a:t>1.96</a:t>
                      </a:r>
                    </a:p>
                  </a:txBody>
                  <a:tcPr anchor="ctr" marL="73152" marR="73152" marT="27432" marB="27432">
                    <a:solidFill>
                      <a:srgbClr val="EAF1FA"/>
                    </a:solidFill>
                  </a:tcPr>
                </a:tc>
                <a:tc>
                  <a:txBody>
                    <a:bodyPr/>
                    <a:lstStyle/>
                    <a:p>
                      <a:pPr algn="l"/>
                      <a:r>
                        <a:rPr sz="1200" b="0">
                          <a:solidFill>
                            <a:srgbClr val="1E293B"/>
                          </a:solidFill>
                          <a:latin typeface="Liberation Sans"/>
                        </a:rPr>
                        <a:t>7.21 m</a:t>
                      </a:r>
                    </a:p>
                  </a:txBody>
                  <a:tcPr anchor="ctr" marL="73152" marR="73152" marT="27432" marB="27432">
                    <a:solidFill>
                      <a:srgbClr val="EAF1FA"/>
                    </a:solidFill>
                  </a:tcPr>
                </a:tc>
                <a:tc>
                  <a:txBody>
                    <a:bodyPr/>
                    <a:lstStyle/>
                    <a:p>
                      <a:pPr algn="l"/>
                      <a:r>
                        <a:rPr sz="1200" b="0">
                          <a:solidFill>
                            <a:srgbClr val="1E293B"/>
                          </a:solidFill>
                          <a:latin typeface="Liberation Sans"/>
                        </a:rPr>
                        <a:t>77.0%</a:t>
                      </a:r>
                    </a:p>
                  </a:txBody>
                  <a:tcPr anchor="ctr" marL="73152" marR="73152" marT="27432" marB="27432">
                    <a:solidFill>
                      <a:srgbClr val="EAF1FA"/>
                    </a:solidFill>
                  </a:tcPr>
                </a:tc>
                <a:tc>
                  <a:txBody>
                    <a:bodyPr/>
                    <a:lstStyle/>
                    <a:p>
                      <a:pPr algn="l"/>
                      <a:r>
                        <a:rPr sz="1200" b="0">
                          <a:solidFill>
                            <a:srgbClr val="1E293B"/>
                          </a:solidFill>
                          <a:latin typeface="Liberation Sans"/>
                        </a:rPr>
                        <a:t>20.9%</a:t>
                      </a:r>
                    </a:p>
                  </a:txBody>
                  <a:tcPr anchor="ctr" marL="73152" marR="73152" marT="27432" marB="27432">
                    <a:solidFill>
                      <a:srgbClr val="EAF1FA"/>
                    </a:solidFill>
                  </a:tcPr>
                </a:tc>
                <a:tc>
                  <a:txBody>
                    <a:bodyPr/>
                    <a:lstStyle/>
                    <a:p>
                      <a:pPr algn="l"/>
                      <a:r>
                        <a:rPr sz="1200" b="0">
                          <a:solidFill>
                            <a:srgbClr val="1E293B"/>
                          </a:solidFill>
                          <a:latin typeface="Liberation Sans"/>
                        </a:rPr>
                        <a:t>7.08 m / 1.88 m</a:t>
                      </a:r>
                    </a:p>
                  </a:txBody>
                  <a:tcPr anchor="ctr" marL="73152" marR="73152" marT="27432" marB="27432">
                    <a:solidFill>
                      <a:srgbClr val="EAF1FA"/>
                    </a:solidFill>
                  </a:tcPr>
                </a:tc>
              </a:tr>
              <a:tr h="356616">
                <a:tc>
                  <a:txBody>
                    <a:bodyPr/>
                    <a:lstStyle/>
                    <a:p>
                      <a:pPr algn="l"/>
                      <a:r>
                        <a:rPr sz="1200" b="1">
                          <a:solidFill>
                            <a:srgbClr val="1E293B"/>
                          </a:solidFill>
                          <a:latin typeface="Liberation Sans"/>
                        </a:rPr>
                        <a:t>ESKF (no aiding)</a:t>
                      </a:r>
                    </a:p>
                  </a:txBody>
                  <a:tcPr anchor="ctr" marL="73152" marR="73152" marT="27432" marB="27432">
                    <a:solidFill>
                      <a:srgbClr val="FFFFFF"/>
                    </a:solidFill>
                  </a:tcPr>
                </a:tc>
                <a:tc>
                  <a:txBody>
                    <a:bodyPr/>
                    <a:lstStyle/>
                    <a:p>
                      <a:pPr algn="l"/>
                      <a:r>
                        <a:rPr sz="1200" b="0">
                          <a:solidFill>
                            <a:srgbClr val="1E293B"/>
                          </a:solidFill>
                          <a:latin typeface="Liberation Sans"/>
                        </a:rPr>
                        <a:t>2.88</a:t>
                      </a:r>
                    </a:p>
                  </a:txBody>
                  <a:tcPr anchor="ctr" marL="73152" marR="73152" marT="27432" marB="27432">
                    <a:solidFill>
                      <a:srgbClr val="FFFFFF"/>
                    </a:solidFill>
                  </a:tcPr>
                </a:tc>
                <a:tc>
                  <a:txBody>
                    <a:bodyPr/>
                    <a:lstStyle/>
                    <a:p>
                      <a:pPr algn="l"/>
                      <a:r>
                        <a:rPr sz="1200" b="0">
                          <a:solidFill>
                            <a:srgbClr val="1E293B"/>
                          </a:solidFill>
                          <a:latin typeface="Liberation Sans"/>
                        </a:rPr>
                        <a:t>1.42</a:t>
                      </a:r>
                    </a:p>
                  </a:txBody>
                  <a:tcPr anchor="ctr" marL="73152" marR="73152" marT="27432" marB="27432">
                    <a:solidFill>
                      <a:srgbClr val="FFFFFF"/>
                    </a:solidFill>
                  </a:tcPr>
                </a:tc>
                <a:tc>
                  <a:txBody>
                    <a:bodyPr/>
                    <a:lstStyle/>
                    <a:p>
                      <a:pPr algn="l"/>
                      <a:r>
                        <a:rPr sz="1200" b="0">
                          <a:solidFill>
                            <a:srgbClr val="1E293B"/>
                          </a:solidFill>
                          <a:latin typeface="Liberation Sans"/>
                        </a:rPr>
                        <a:t>1.27</a:t>
                      </a:r>
                    </a:p>
                  </a:txBody>
                  <a:tcPr anchor="ctr" marL="73152" marR="73152" marT="27432" marB="27432">
                    <a:solidFill>
                      <a:srgbClr val="FFFFFF"/>
                    </a:solidFill>
                  </a:tcPr>
                </a:tc>
                <a:tc>
                  <a:txBody>
                    <a:bodyPr/>
                    <a:lstStyle/>
                    <a:p>
                      <a:pPr algn="l"/>
                      <a:r>
                        <a:rPr sz="1200" b="0">
                          <a:solidFill>
                            <a:srgbClr val="1E293B"/>
                          </a:solidFill>
                          <a:latin typeface="Liberation Sans"/>
                        </a:rPr>
                        <a:t>1.15</a:t>
                      </a:r>
                    </a:p>
                  </a:txBody>
                  <a:tcPr anchor="ctr" marL="73152" marR="73152" marT="27432" marB="27432">
                    <a:solidFill>
                      <a:srgbClr val="FFFFFF"/>
                    </a:solidFill>
                  </a:tcPr>
                </a:tc>
                <a:tc>
                  <a:txBody>
                    <a:bodyPr/>
                    <a:lstStyle/>
                    <a:p>
                      <a:pPr algn="l"/>
                      <a:r>
                        <a:rPr sz="1200" b="0">
                          <a:solidFill>
                            <a:srgbClr val="1E293B"/>
                          </a:solidFill>
                          <a:latin typeface="Liberation Sans"/>
                        </a:rPr>
                        <a:t>1.68 m</a:t>
                      </a:r>
                    </a:p>
                  </a:txBody>
                  <a:tcPr anchor="ctr" marL="73152" marR="73152" marT="27432" marB="27432">
                    <a:solidFill>
                      <a:srgbClr val="FFFFFF"/>
                    </a:solidFill>
                  </a:tcPr>
                </a:tc>
                <a:tc>
                  <a:txBody>
                    <a:bodyPr/>
                    <a:lstStyle/>
                    <a:p>
                      <a:pPr algn="l"/>
                      <a:r>
                        <a:rPr sz="1200" b="0">
                          <a:solidFill>
                            <a:srgbClr val="1E293B"/>
                          </a:solidFill>
                          <a:latin typeface="Liberation Sans"/>
                        </a:rPr>
                        <a:t>18.0%</a:t>
                      </a:r>
                    </a:p>
                  </a:txBody>
                  <a:tcPr anchor="ctr" marL="73152" marR="73152" marT="27432" marB="27432">
                    <a:solidFill>
                      <a:srgbClr val="FFFFFF"/>
                    </a:solidFill>
                  </a:tcPr>
                </a:tc>
                <a:tc>
                  <a:txBody>
                    <a:bodyPr/>
                    <a:lstStyle/>
                    <a:p>
                      <a:pPr algn="l"/>
                      <a:r>
                        <a:rPr sz="1200" b="0">
                          <a:solidFill>
                            <a:srgbClr val="1E293B"/>
                          </a:solidFill>
                          <a:latin typeface="Liberation Sans"/>
                        </a:rPr>
                        <a:t>12.2%</a:t>
                      </a:r>
                    </a:p>
                  </a:txBody>
                  <a:tcPr anchor="ctr" marL="73152" marR="73152" marT="27432" marB="27432">
                    <a:solidFill>
                      <a:srgbClr val="FFFFFF"/>
                    </a:solidFill>
                  </a:tcPr>
                </a:tc>
                <a:tc>
                  <a:txBody>
                    <a:bodyPr/>
                    <a:lstStyle/>
                    <a:p>
                      <a:pPr algn="l"/>
                      <a:r>
                        <a:rPr sz="1200" b="0">
                          <a:solidFill>
                            <a:srgbClr val="1E293B"/>
                          </a:solidFill>
                          <a:latin typeface="Liberation Sans"/>
                        </a:rPr>
                        <a:t>1.64 m / 1.10 m</a:t>
                      </a:r>
                    </a:p>
                  </a:txBody>
                  <a:tcPr anchor="ctr" marL="73152" marR="73152" marT="27432" marB="27432">
                    <a:solidFill>
                      <a:srgbClr val="FFFFFF"/>
                    </a:solidFill>
                  </a:tcPr>
                </a:tc>
              </a:tr>
              <a:tr h="356616">
                <a:tc>
                  <a:txBody>
                    <a:bodyPr/>
                    <a:lstStyle/>
                    <a:p>
                      <a:pPr algn="l"/>
                      <a:r>
                        <a:rPr sz="1200" b="1">
                          <a:solidFill>
                            <a:srgbClr val="78350F"/>
                          </a:solidFill>
                          <a:latin typeface="Liberation Sans"/>
                        </a:rPr>
                        <a:t>leg de-drift (Mahony)</a:t>
                      </a:r>
                    </a:p>
                  </a:txBody>
                  <a:tcPr anchor="ctr" marL="73152" marR="73152" marT="27432" marB="27432">
                    <a:solidFill>
                      <a:srgbClr val="FFF6E0"/>
                    </a:solidFill>
                  </a:tcPr>
                </a:tc>
                <a:tc>
                  <a:txBody>
                    <a:bodyPr/>
                    <a:lstStyle/>
                    <a:p>
                      <a:pPr algn="l"/>
                      <a:r>
                        <a:rPr sz="1200" b="1">
                          <a:solidFill>
                            <a:srgbClr val="78350F"/>
                          </a:solidFill>
                          <a:latin typeface="Liberation Sans"/>
                        </a:rPr>
                        <a:t>0.74</a:t>
                      </a:r>
                    </a:p>
                  </a:txBody>
                  <a:tcPr anchor="ctr" marL="73152" marR="73152" marT="27432" marB="27432">
                    <a:solidFill>
                      <a:srgbClr val="FFF6E0"/>
                    </a:solidFill>
                  </a:tcPr>
                </a:tc>
                <a:tc>
                  <a:txBody>
                    <a:bodyPr/>
                    <a:lstStyle/>
                    <a:p>
                      <a:pPr algn="l"/>
                      <a:r>
                        <a:rPr sz="1200" b="1">
                          <a:solidFill>
                            <a:srgbClr val="78350F"/>
                          </a:solidFill>
                          <a:latin typeface="Liberation Sans"/>
                        </a:rPr>
                        <a:t>0.43</a:t>
                      </a:r>
                    </a:p>
                  </a:txBody>
                  <a:tcPr anchor="ctr" marL="73152" marR="73152" marT="27432" marB="27432">
                    <a:solidFill>
                      <a:srgbClr val="FFF6E0"/>
                    </a:solidFill>
                  </a:tcPr>
                </a:tc>
                <a:tc>
                  <a:txBody>
                    <a:bodyPr/>
                    <a:lstStyle/>
                    <a:p>
                      <a:pPr algn="l"/>
                      <a:r>
                        <a:rPr sz="1200" b="1">
                          <a:solidFill>
                            <a:srgbClr val="78350F"/>
                          </a:solidFill>
                          <a:latin typeface="Liberation Sans"/>
                        </a:rPr>
                        <a:t>0.88</a:t>
                      </a:r>
                    </a:p>
                  </a:txBody>
                  <a:tcPr anchor="ctr" marL="73152" marR="73152" marT="27432" marB="27432">
                    <a:solidFill>
                      <a:srgbClr val="FFF6E0"/>
                    </a:solidFill>
                  </a:tcPr>
                </a:tc>
                <a:tc>
                  <a:txBody>
                    <a:bodyPr/>
                    <a:lstStyle/>
                    <a:p>
                      <a:pPr algn="l"/>
                      <a:r>
                        <a:rPr sz="1200" b="1">
                          <a:solidFill>
                            <a:srgbClr val="78350F"/>
                          </a:solidFill>
                          <a:latin typeface="Liberation Sans"/>
                        </a:rPr>
                        <a:t>1.04</a:t>
                      </a:r>
                    </a:p>
                  </a:txBody>
                  <a:tcPr anchor="ctr" marL="73152" marR="73152" marT="27432" marB="27432">
                    <a:solidFill>
                      <a:srgbClr val="FFF6E0"/>
                    </a:solidFill>
                  </a:tcPr>
                </a:tc>
                <a:tc>
                  <a:txBody>
                    <a:bodyPr/>
                    <a:lstStyle/>
                    <a:p>
                      <a:pPr algn="l"/>
                      <a:r>
                        <a:rPr sz="1200" b="1">
                          <a:solidFill>
                            <a:srgbClr val="78350F"/>
                          </a:solidFill>
                          <a:latin typeface="Liberation Sans"/>
                        </a:rPr>
                        <a:t>0.77 m</a:t>
                      </a:r>
                    </a:p>
                  </a:txBody>
                  <a:tcPr anchor="ctr" marL="73152" marR="73152" marT="27432" marB="27432">
                    <a:solidFill>
                      <a:srgbClr val="FFF6E0"/>
                    </a:solidFill>
                  </a:tcPr>
                </a:tc>
                <a:tc>
                  <a:txBody>
                    <a:bodyPr/>
                    <a:lstStyle/>
                    <a:p>
                      <a:pPr algn="l"/>
                      <a:r>
                        <a:rPr sz="1200" b="1">
                          <a:solidFill>
                            <a:srgbClr val="78350F"/>
                          </a:solidFill>
                          <a:latin typeface="Liberation Sans"/>
                        </a:rPr>
                        <a:t>8.3%</a:t>
                      </a:r>
                    </a:p>
                  </a:txBody>
                  <a:tcPr anchor="ctr" marL="73152" marR="73152" marT="27432" marB="27432">
                    <a:solidFill>
                      <a:srgbClr val="FFF6E0"/>
                    </a:solidFill>
                  </a:tcPr>
                </a:tc>
                <a:tc>
                  <a:txBody>
                    <a:bodyPr/>
                    <a:lstStyle/>
                    <a:p>
                      <a:pPr algn="l"/>
                      <a:r>
                        <a:rPr sz="1200" b="1">
                          <a:solidFill>
                            <a:srgbClr val="78350F"/>
                          </a:solidFill>
                          <a:latin typeface="Liberation Sans"/>
                        </a:rPr>
                        <a:t>11.2%</a:t>
                      </a:r>
                    </a:p>
                  </a:txBody>
                  <a:tcPr anchor="ctr" marL="73152" marR="73152" marT="27432" marB="27432">
                    <a:solidFill>
                      <a:srgbClr val="FFF6E0"/>
                    </a:solidFill>
                  </a:tcPr>
                </a:tc>
                <a:tc>
                  <a:txBody>
                    <a:bodyPr/>
                    <a:lstStyle/>
                    <a:p>
                      <a:pPr algn="l"/>
                      <a:r>
                        <a:rPr sz="1200" b="1">
                          <a:solidFill>
                            <a:srgbClr val="78350F"/>
                          </a:solidFill>
                          <a:latin typeface="Liberation Sans"/>
                        </a:rPr>
                        <a:t>0.80 m / 1.05 m</a:t>
                      </a:r>
                    </a:p>
                  </a:txBody>
                  <a:tcPr anchor="ctr" marL="73152" marR="73152" marT="27432" marB="27432">
                    <a:solidFill>
                      <a:srgbClr val="FFF6E0"/>
                    </a:solidFill>
                  </a:tcPr>
                </a:tc>
              </a:tr>
              <a:tr h="356616">
                <a:tc>
                  <a:txBody>
                    <a:bodyPr/>
                    <a:lstStyle/>
                    <a:p>
                      <a:pPr algn="l"/>
                      <a:r>
                        <a:rPr sz="1200" b="1">
                          <a:solidFill>
                            <a:srgbClr val="78350F"/>
                          </a:solidFill>
                          <a:latin typeface="Liberation Sans"/>
                        </a:rPr>
                        <a:t>leg de-drift (ESKF)</a:t>
                      </a:r>
                    </a:p>
                  </a:txBody>
                  <a:tcPr anchor="ctr" marL="73152" marR="73152" marT="27432" marB="27432">
                    <a:solidFill>
                      <a:srgbClr val="FFF6E0"/>
                    </a:solidFill>
                  </a:tcPr>
                </a:tc>
                <a:tc>
                  <a:txBody>
                    <a:bodyPr/>
                    <a:lstStyle/>
                    <a:p>
                      <a:pPr algn="l"/>
                      <a:r>
                        <a:rPr sz="1200" b="1">
                          <a:solidFill>
                            <a:srgbClr val="78350F"/>
                          </a:solidFill>
                          <a:latin typeface="Liberation Sans"/>
                        </a:rPr>
                        <a:t>0.93</a:t>
                      </a:r>
                    </a:p>
                  </a:txBody>
                  <a:tcPr anchor="ctr" marL="73152" marR="73152" marT="27432" marB="27432">
                    <a:solidFill>
                      <a:srgbClr val="FFF6E0"/>
                    </a:solidFill>
                  </a:tcPr>
                </a:tc>
                <a:tc>
                  <a:txBody>
                    <a:bodyPr/>
                    <a:lstStyle/>
                    <a:p>
                      <a:pPr algn="l"/>
                      <a:r>
                        <a:rPr sz="1200" b="1">
                          <a:solidFill>
                            <a:srgbClr val="78350F"/>
                          </a:solidFill>
                          <a:latin typeface="Liberation Sans"/>
                        </a:rPr>
                        <a:t>0.29</a:t>
                      </a:r>
                    </a:p>
                  </a:txBody>
                  <a:tcPr anchor="ctr" marL="73152" marR="73152" marT="27432" marB="27432">
                    <a:solidFill>
                      <a:srgbClr val="FFF6E0"/>
                    </a:solidFill>
                  </a:tcPr>
                </a:tc>
                <a:tc>
                  <a:txBody>
                    <a:bodyPr/>
                    <a:lstStyle/>
                    <a:p>
                      <a:pPr algn="l"/>
                      <a:r>
                        <a:rPr sz="1200" b="1">
                          <a:solidFill>
                            <a:srgbClr val="78350F"/>
                          </a:solidFill>
                          <a:latin typeface="Liberation Sans"/>
                        </a:rPr>
                        <a:t>1.09</a:t>
                      </a:r>
                    </a:p>
                  </a:txBody>
                  <a:tcPr anchor="ctr" marL="73152" marR="73152" marT="27432" marB="27432">
                    <a:solidFill>
                      <a:srgbClr val="FFF6E0"/>
                    </a:solidFill>
                  </a:tcPr>
                </a:tc>
                <a:tc>
                  <a:txBody>
                    <a:bodyPr/>
                    <a:lstStyle/>
                    <a:p>
                      <a:pPr algn="l"/>
                      <a:r>
                        <a:rPr sz="1200" b="1">
                          <a:solidFill>
                            <a:srgbClr val="78350F"/>
                          </a:solidFill>
                          <a:latin typeface="Liberation Sans"/>
                        </a:rPr>
                        <a:t>0.59</a:t>
                      </a:r>
                    </a:p>
                  </a:txBody>
                  <a:tcPr anchor="ctr" marL="73152" marR="73152" marT="27432" marB="27432">
                    <a:solidFill>
                      <a:srgbClr val="FFF6E0"/>
                    </a:solidFill>
                  </a:tcPr>
                </a:tc>
                <a:tc>
                  <a:txBody>
                    <a:bodyPr/>
                    <a:lstStyle/>
                    <a:p>
                      <a:pPr algn="l"/>
                      <a:r>
                        <a:rPr sz="1200" b="1">
                          <a:solidFill>
                            <a:srgbClr val="78350F"/>
                          </a:solidFill>
                          <a:latin typeface="Liberation Sans"/>
                        </a:rPr>
                        <a:t>0.72 m</a:t>
                      </a:r>
                    </a:p>
                  </a:txBody>
                  <a:tcPr anchor="ctr" marL="73152" marR="73152" marT="27432" marB="27432">
                    <a:solidFill>
                      <a:srgbClr val="FFF6E0"/>
                    </a:solidFill>
                  </a:tcPr>
                </a:tc>
                <a:tc>
                  <a:txBody>
                    <a:bodyPr/>
                    <a:lstStyle/>
                    <a:p>
                      <a:pPr algn="l"/>
                      <a:r>
                        <a:rPr sz="1200" b="1">
                          <a:solidFill>
                            <a:srgbClr val="78350F"/>
                          </a:solidFill>
                          <a:latin typeface="Liberation Sans"/>
                        </a:rPr>
                        <a:t>7.7%</a:t>
                      </a:r>
                    </a:p>
                  </a:txBody>
                  <a:tcPr anchor="ctr" marL="73152" marR="73152" marT="27432" marB="27432">
                    <a:solidFill>
                      <a:srgbClr val="FFF6E0"/>
                    </a:solidFill>
                  </a:tcPr>
                </a:tc>
                <a:tc>
                  <a:txBody>
                    <a:bodyPr/>
                    <a:lstStyle/>
                    <a:p>
                      <a:pPr algn="l"/>
                      <a:r>
                        <a:rPr sz="1200" b="1">
                          <a:solidFill>
                            <a:srgbClr val="78350F"/>
                          </a:solidFill>
                          <a:latin typeface="Liberation Sans"/>
                        </a:rPr>
                        <a:t>6.3%</a:t>
                      </a:r>
                    </a:p>
                  </a:txBody>
                  <a:tcPr anchor="ctr" marL="73152" marR="73152" marT="27432" marB="27432">
                    <a:solidFill>
                      <a:srgbClr val="FFF6E0"/>
                    </a:solidFill>
                  </a:tcPr>
                </a:tc>
                <a:tc>
                  <a:txBody>
                    <a:bodyPr/>
                    <a:lstStyle/>
                    <a:p>
                      <a:pPr algn="l"/>
                      <a:r>
                        <a:rPr sz="1200" b="1">
                          <a:solidFill>
                            <a:srgbClr val="78350F"/>
                          </a:solidFill>
                          <a:latin typeface="Liberation Sans"/>
                        </a:rPr>
                        <a:t>0.92 m / 0.74 m (S1: 1.01)</a:t>
                      </a:r>
                    </a:p>
                  </a:txBody>
                  <a:tcPr anchor="ctr" marL="73152" marR="73152" marT="27432" marB="27432">
                    <a:solidFill>
                      <a:srgbClr val="FFF6E0"/>
                    </a:solidFill>
                  </a:tcPr>
                </a:tc>
              </a:tr>
              <a:tr h="356616">
                <a:tc>
                  <a:txBody>
                    <a:bodyPr/>
                    <a:lstStyle/>
                    <a:p>
                      <a:pPr algn="l"/>
                      <a:r>
                        <a:rPr sz="1200" b="1">
                          <a:solidFill>
                            <a:srgbClr val="78350F"/>
                          </a:solidFill>
                          <a:latin typeface="Liberation Sans"/>
                        </a:rPr>
                        <a:t>ESKF + corner marks</a:t>
                      </a:r>
                    </a:p>
                  </a:txBody>
                  <a:tcPr anchor="ctr" marL="73152" marR="73152" marT="27432" marB="27432">
                    <a:solidFill>
                      <a:srgbClr val="FFF6E0"/>
                    </a:solidFill>
                  </a:tcPr>
                </a:tc>
                <a:tc>
                  <a:txBody>
                    <a:bodyPr/>
                    <a:lstStyle/>
                    <a:p>
                      <a:pPr algn="l"/>
                      <a:r>
                        <a:rPr sz="1200" b="1">
                          <a:solidFill>
                            <a:srgbClr val="78350F"/>
                          </a:solidFill>
                          <a:latin typeface="Liberation Sans"/>
                        </a:rPr>
                        <a:t>2.88*</a:t>
                      </a:r>
                    </a:p>
                  </a:txBody>
                  <a:tcPr anchor="ctr" marL="73152" marR="73152" marT="27432" marB="27432">
                    <a:solidFill>
                      <a:srgbClr val="FFF6E0"/>
                    </a:solidFill>
                  </a:tcPr>
                </a:tc>
                <a:tc>
                  <a:txBody>
                    <a:bodyPr/>
                    <a:lstStyle/>
                    <a:p>
                      <a:pPr algn="l"/>
                      <a:r>
                        <a:rPr sz="1200" b="1">
                          <a:solidFill>
                            <a:srgbClr val="78350F"/>
                          </a:solidFill>
                          <a:latin typeface="Liberation Sans"/>
                        </a:rPr>
                        <a:t>1.08*</a:t>
                      </a:r>
                    </a:p>
                  </a:txBody>
                  <a:tcPr anchor="ctr" marL="73152" marR="73152" marT="27432" marB="27432">
                    <a:solidFill>
                      <a:srgbClr val="FFF6E0"/>
                    </a:solidFill>
                  </a:tcPr>
                </a:tc>
                <a:tc>
                  <a:txBody>
                    <a:bodyPr/>
                    <a:lstStyle/>
                    <a:p>
                      <a:pPr algn="l"/>
                      <a:r>
                        <a:rPr sz="1200" b="1">
                          <a:solidFill>
                            <a:srgbClr val="78350F"/>
                          </a:solidFill>
                          <a:latin typeface="Liberation Sans"/>
                        </a:rPr>
                        <a:t>1.37*</a:t>
                      </a:r>
                    </a:p>
                  </a:txBody>
                  <a:tcPr anchor="ctr" marL="73152" marR="73152" marT="27432" marB="27432">
                    <a:solidFill>
                      <a:srgbClr val="FFF6E0"/>
                    </a:solidFill>
                  </a:tcPr>
                </a:tc>
                <a:tc>
                  <a:txBody>
                    <a:bodyPr/>
                    <a:lstStyle/>
                    <a:p>
                      <a:pPr algn="l"/>
                      <a:r>
                        <a:rPr sz="1200" b="1">
                          <a:solidFill>
                            <a:srgbClr val="78350F"/>
                          </a:solidFill>
                          <a:latin typeface="Liberation Sans"/>
                        </a:rPr>
                        <a:t>1.12</a:t>
                      </a:r>
                    </a:p>
                  </a:txBody>
                  <a:tcPr anchor="ctr" marL="73152" marR="73152" marT="27432" marB="27432">
                    <a:solidFill>
                      <a:srgbClr val="FFF6E0"/>
                    </a:solidFill>
                  </a:tcPr>
                </a:tc>
                <a:tc>
                  <a:txBody>
                    <a:bodyPr/>
                    <a:lstStyle/>
                    <a:p>
                      <a:pPr algn="l"/>
                      <a:r>
                        <a:rPr sz="1200" b="1">
                          <a:solidFill>
                            <a:srgbClr val="78350F"/>
                          </a:solidFill>
                          <a:latin typeface="Liberation Sans"/>
                        </a:rPr>
                        <a:t>1.61 m</a:t>
                      </a:r>
                    </a:p>
                  </a:txBody>
                  <a:tcPr anchor="ctr" marL="73152" marR="73152" marT="27432" marB="27432">
                    <a:solidFill>
                      <a:srgbClr val="FFF6E0"/>
                    </a:solidFill>
                  </a:tcPr>
                </a:tc>
                <a:tc>
                  <a:txBody>
                    <a:bodyPr/>
                    <a:lstStyle/>
                    <a:p>
                      <a:pPr algn="l"/>
                      <a:r>
                        <a:rPr sz="1200" b="1">
                          <a:solidFill>
                            <a:srgbClr val="78350F"/>
                          </a:solidFill>
                          <a:latin typeface="Liberation Sans"/>
                        </a:rPr>
                        <a:t>17.2%</a:t>
                      </a:r>
                    </a:p>
                  </a:txBody>
                  <a:tcPr anchor="ctr" marL="73152" marR="73152" marT="27432" marB="27432">
                    <a:solidFill>
                      <a:srgbClr val="FFF6E0"/>
                    </a:solidFill>
                  </a:tcPr>
                </a:tc>
                <a:tc>
                  <a:txBody>
                    <a:bodyPr/>
                    <a:lstStyle/>
                    <a:p>
                      <a:pPr algn="l"/>
                      <a:r>
                        <a:rPr sz="1200" b="1">
                          <a:solidFill>
                            <a:srgbClr val="78350F"/>
                          </a:solidFill>
                          <a:latin typeface="Liberation Sans"/>
                        </a:rPr>
                        <a:t>12.0%</a:t>
                      </a:r>
                    </a:p>
                  </a:txBody>
                  <a:tcPr anchor="ctr" marL="73152" marR="73152" marT="27432" marB="27432">
                    <a:solidFill>
                      <a:srgbClr val="FFF6E0"/>
                    </a:solidFill>
                  </a:tcPr>
                </a:tc>
                <a:tc>
                  <a:txBody>
                    <a:bodyPr/>
                    <a:lstStyle/>
                    <a:p>
                      <a:pPr algn="l"/>
                      <a:r>
                        <a:rPr sz="1200" b="1">
                          <a:solidFill>
                            <a:srgbClr val="78350F"/>
                          </a:solidFill>
                          <a:latin typeface="Liberation Sans"/>
                        </a:rPr>
                        <a:t>Cal off Stop 4: 0.89 m</a:t>
                      </a:r>
                    </a:p>
                  </a:txBody>
                  <a:tcPr anchor="ctr" marL="73152" marR="73152" marT="27432" marB="27432">
                    <a:solidFill>
                      <a:srgbClr val="FFF6E0"/>
                    </a:solidFill>
                  </a:tcPr>
                </a:tc>
              </a:tr>
              <a:tr h="356616">
                <a:tc>
                  <a:txBody>
                    <a:bodyPr/>
                    <a:lstStyle/>
                    <a:p>
                      <a:pPr algn="l"/>
                      <a:r>
                        <a:rPr sz="1200" b="1">
                          <a:solidFill>
                            <a:srgbClr val="78350F"/>
                          </a:solidFill>
                          <a:latin typeface="Liberation Sans"/>
                        </a:rPr>
                        <a:t>leg de-drift + marks</a:t>
                      </a:r>
                    </a:p>
                  </a:txBody>
                  <a:tcPr anchor="ctr" marL="73152" marR="73152" marT="27432" marB="27432">
                    <a:solidFill>
                      <a:srgbClr val="FFF6E0"/>
                    </a:solidFill>
                  </a:tcPr>
                </a:tc>
                <a:tc>
                  <a:txBody>
                    <a:bodyPr/>
                    <a:lstStyle/>
                    <a:p>
                      <a:pPr algn="l"/>
                      <a:r>
                        <a:rPr sz="1200" b="1">
                          <a:solidFill>
                            <a:srgbClr val="78350F"/>
                          </a:solidFill>
                          <a:latin typeface="Liberation Sans"/>
                        </a:rPr>
                        <a:t>0.00*</a:t>
                      </a:r>
                    </a:p>
                  </a:txBody>
                  <a:tcPr anchor="ctr" marL="73152" marR="73152" marT="27432" marB="27432">
                    <a:solidFill>
                      <a:srgbClr val="FFF6E0"/>
                    </a:solidFill>
                  </a:tcPr>
                </a:tc>
                <a:tc>
                  <a:txBody>
                    <a:bodyPr/>
                    <a:lstStyle/>
                    <a:p>
                      <a:pPr algn="l"/>
                      <a:r>
                        <a:rPr sz="1200" b="1">
                          <a:solidFill>
                            <a:srgbClr val="78350F"/>
                          </a:solidFill>
                          <a:latin typeface="Liberation Sans"/>
                        </a:rPr>
                        <a:t>0.00*</a:t>
                      </a:r>
                    </a:p>
                  </a:txBody>
                  <a:tcPr anchor="ctr" marL="73152" marR="73152" marT="27432" marB="27432">
                    <a:solidFill>
                      <a:srgbClr val="FFF6E0"/>
                    </a:solidFill>
                  </a:tcPr>
                </a:tc>
                <a:tc>
                  <a:txBody>
                    <a:bodyPr/>
                    <a:lstStyle/>
                    <a:p>
                      <a:pPr algn="l"/>
                      <a:r>
                        <a:rPr sz="1200" b="1">
                          <a:solidFill>
                            <a:srgbClr val="78350F"/>
                          </a:solidFill>
                          <a:latin typeface="Liberation Sans"/>
                        </a:rPr>
                        <a:t>0.00*</a:t>
                      </a:r>
                    </a:p>
                  </a:txBody>
                  <a:tcPr anchor="ctr" marL="73152" marR="73152" marT="27432" marB="27432">
                    <a:solidFill>
                      <a:srgbClr val="FFF6E0"/>
                    </a:solidFill>
                  </a:tcPr>
                </a:tc>
                <a:tc>
                  <a:txBody>
                    <a:bodyPr/>
                    <a:lstStyle/>
                    <a:p>
                      <a:pPr algn="l"/>
                      <a:r>
                        <a:rPr sz="1200" b="1">
                          <a:solidFill>
                            <a:srgbClr val="78350F"/>
                          </a:solidFill>
                          <a:latin typeface="Liberation Sans"/>
                        </a:rPr>
                        <a:t>0.66</a:t>
                      </a:r>
                    </a:p>
                  </a:txBody>
                  <a:tcPr anchor="ctr" marL="73152" marR="73152" marT="27432" marB="27432">
                    <a:solidFill>
                      <a:srgbClr val="FFF6E0"/>
                    </a:solidFill>
                  </a:tcPr>
                </a:tc>
                <a:tc>
                  <a:txBody>
                    <a:bodyPr/>
                    <a:lstStyle/>
                    <a:p>
                      <a:pPr algn="l"/>
                      <a:r>
                        <a:rPr sz="1200" b="1">
                          <a:solidFill>
                            <a:srgbClr val="78350F"/>
                          </a:solidFill>
                          <a:latin typeface="Liberation Sans"/>
                        </a:rPr>
                        <a:t>N/A*</a:t>
                      </a:r>
                    </a:p>
                  </a:txBody>
                  <a:tcPr anchor="ctr" marL="73152" marR="73152" marT="27432" marB="27432">
                    <a:solidFill>
                      <a:srgbClr val="FFF6E0"/>
                    </a:solidFill>
                  </a:tcPr>
                </a:tc>
                <a:tc>
                  <a:txBody>
                    <a:bodyPr/>
                    <a:lstStyle/>
                    <a:p>
                      <a:pPr algn="l"/>
                      <a:r>
                        <a:rPr sz="1200" b="1">
                          <a:solidFill>
                            <a:srgbClr val="78350F"/>
                          </a:solidFill>
                          <a:latin typeface="Liberation Sans"/>
                        </a:rPr>
                        <a:t>N/A*</a:t>
                      </a:r>
                    </a:p>
                  </a:txBody>
                  <a:tcPr anchor="ctr" marL="73152" marR="73152" marT="27432" marB="27432">
                    <a:solidFill>
                      <a:srgbClr val="FFF6E0"/>
                    </a:solidFill>
                  </a:tcPr>
                </a:tc>
                <a:tc>
                  <a:txBody>
                    <a:bodyPr/>
                    <a:lstStyle/>
                    <a:p>
                      <a:pPr algn="l"/>
                      <a:r>
                        <a:rPr sz="1200" b="1">
                          <a:solidFill>
                            <a:srgbClr val="78350F"/>
                          </a:solidFill>
                          <a:latin typeface="Liberation Sans"/>
                        </a:rPr>
                        <a:t>7.0%</a:t>
                      </a:r>
                    </a:p>
                  </a:txBody>
                  <a:tcPr anchor="ctr" marL="73152" marR="73152" marT="27432" marB="27432">
                    <a:solidFill>
                      <a:srgbClr val="FFF6E0"/>
                    </a:solidFill>
                  </a:tcPr>
                </a:tc>
                <a:tc>
                  <a:txBody>
                    <a:bodyPr/>
                    <a:lstStyle/>
                    <a:p>
                      <a:pPr algn="l"/>
                      <a:r>
                        <a:rPr sz="1200" b="1">
                          <a:solidFill>
                            <a:srgbClr val="78350F"/>
                          </a:solidFill>
                          <a:latin typeface="Liberation Sans"/>
                        </a:rPr>
                        <a:t>Cal off Stop 4: 0.64 m</a:t>
                      </a:r>
                    </a:p>
                  </a:txBody>
                  <a:tcPr anchor="ctr" marL="73152" marR="73152" marT="27432" marB="27432">
                    <a:solidFill>
                      <a:srgbClr val="FFF6E0"/>
                    </a:solidFill>
                  </a:tcPr>
                </a:tc>
              </a:tr>
            </a:tbl>
          </a:graphicData>
        </a:graphic>
      </p:graphicFrame>
      <p:sp>
        <p:nvSpPr>
          <p:cNvPr id="6" name="TextBox 5"/>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Appendix A3: Complete Phone Walk Stop-Error &amp; Cal-Off Table (* = mark given to filter) (23/25)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384048"/>
            <a:ext cx="11002975" cy="1417320"/>
          </a:xfrm>
          <a:prstGeom prst="rect">
            <a:avLst/>
          </a:prstGeom>
          <a:noFill/>
        </p:spPr>
        <p:txBody>
          <a:bodyPr wrap="square" anchor="t" lIns="0" tIns="0" rIns="0" bIns="0">
            <a:spAutoFit/>
          </a:bodyPr>
          <a:lstStyle/>
          <a:p>
            <a:pPr algn="l">
              <a:spcAft>
                <a:spcPts val="400"/>
              </a:spcAft>
            </a:pPr>
            <a:r>
              <a:rPr sz="1400" b="1">
                <a:solidFill>
                  <a:srgbClr val="2F4B7C"/>
                </a:solidFill>
                <a:latin typeface="Liberation Sans"/>
              </a:rPr>
              <a:t>APPENDIX A4. COMPLETE EUROC V1_01 NUMERICAL REFERENCE (SECTION 8)</a:t>
            </a:r>
          </a:p>
          <a:p>
            <a:pPr algn="l"/>
            <a:r>
              <a:rPr sz="2400" b="1">
                <a:solidFill>
                  <a:srgbClr val="1E293B"/>
                </a:solidFill>
                <a:latin typeface="Liberation Sans"/>
              </a:rPr>
              <a:t>Complete EuRoC V1_01 tier scorecard across unaided and simulated-aid filter runs</a:t>
            </a:r>
          </a:p>
        </p:txBody>
      </p:sp>
      <p:graphicFrame>
        <p:nvGraphicFramePr>
          <p:cNvPr id="5" name="Table 4"/>
          <p:cNvGraphicFramePr>
            <a:graphicFrameLocks noGrp="1"/>
          </p:cNvGraphicFramePr>
          <p:nvPr/>
        </p:nvGraphicFramePr>
        <p:xfrm>
          <a:off x="594360" y="2048256"/>
          <a:ext cx="11002975" cy="4078224"/>
        </p:xfrm>
        <a:graphic>
          <a:graphicData uri="http://schemas.openxmlformats.org/drawingml/2006/table">
            <a:tbl>
              <a:tblPr firstRow="1" bandRow="1">
                <a:tableStyleId>{5C22544A-7EE6-4342-B048-85BDC9FD1C3A}</a:tableStyleId>
              </a:tblPr>
              <a:tblGrid>
                <a:gridCol w="2514600"/>
                <a:gridCol w="914400"/>
                <a:gridCol w="960120"/>
                <a:gridCol w="1005840"/>
                <a:gridCol w="868680"/>
                <a:gridCol w="1005840"/>
                <a:gridCol w="1783080"/>
                <a:gridCol w="1950415"/>
              </a:tblGrid>
              <a:tr h="347472">
                <a:tc>
                  <a:txBody>
                    <a:bodyPr/>
                    <a:lstStyle/>
                    <a:p>
                      <a:pPr algn="l"/>
                      <a:r>
                        <a:rPr sz="1100" b="1">
                          <a:solidFill>
                            <a:srgbClr val="FFFFFF"/>
                          </a:solidFill>
                          <a:latin typeface="Liberation Sans"/>
                        </a:rPr>
                        <a:t>EuRoC V1_01 Run (58.58 m)</a:t>
                      </a:r>
                    </a:p>
                  </a:txBody>
                  <a:tcPr anchor="ctr" marL="73152" marR="73152" marT="27432" marB="27432">
                    <a:solidFill>
                      <a:srgbClr val="2F4B7C"/>
                    </a:solidFill>
                  </a:tcPr>
                </a:tc>
                <a:tc>
                  <a:txBody>
                    <a:bodyPr/>
                    <a:lstStyle/>
                    <a:p>
                      <a:pPr algn="l"/>
                      <a:r>
                        <a:rPr sz="1100" b="1">
                          <a:solidFill>
                            <a:srgbClr val="FFFFFF"/>
                          </a:solidFill>
                          <a:latin typeface="Liberation Sans"/>
                        </a:rPr>
                        <a:t>Err @10s</a:t>
                      </a:r>
                    </a:p>
                  </a:txBody>
                  <a:tcPr anchor="ctr" marL="73152" marR="73152" marT="27432" marB="27432">
                    <a:solidFill>
                      <a:srgbClr val="2F4B7C"/>
                    </a:solidFill>
                  </a:tcPr>
                </a:tc>
                <a:tc>
                  <a:txBody>
                    <a:bodyPr/>
                    <a:lstStyle/>
                    <a:p>
                      <a:pPr algn="l"/>
                      <a:r>
                        <a:rPr sz="1100" b="1">
                          <a:solidFill>
                            <a:srgbClr val="FFFFFF"/>
                          </a:solidFill>
                          <a:latin typeface="Liberation Sans"/>
                        </a:rPr>
                        <a:t>Err @30s</a:t>
                      </a:r>
                    </a:p>
                  </a:txBody>
                  <a:tcPr anchor="ctr" marL="73152" marR="73152" marT="27432" marB="27432">
                    <a:solidFill>
                      <a:srgbClr val="2F4B7C"/>
                    </a:solidFill>
                  </a:tcPr>
                </a:tc>
                <a:tc>
                  <a:txBody>
                    <a:bodyPr/>
                    <a:lstStyle/>
                    <a:p>
                      <a:pPr algn="l"/>
                      <a:r>
                        <a:rPr sz="1100" b="1">
                          <a:solidFill>
                            <a:srgbClr val="FFFFFF"/>
                          </a:solidFill>
                          <a:latin typeface="Liberation Sans"/>
                        </a:rPr>
                        <a:t>End Err</a:t>
                      </a:r>
                    </a:p>
                  </a:txBody>
                  <a:tcPr anchor="ctr" marL="73152" marR="73152" marT="27432" marB="27432">
                    <a:solidFill>
                      <a:srgbClr val="2F4B7C"/>
                    </a:solidFill>
                  </a:tcPr>
                </a:tc>
                <a:tc>
                  <a:txBody>
                    <a:bodyPr/>
                    <a:lstStyle/>
                    <a:p>
                      <a:pPr algn="l"/>
                      <a:r>
                        <a:rPr sz="1100" b="1">
                          <a:solidFill>
                            <a:srgbClr val="FFFFFF"/>
                          </a:solidFill>
                          <a:latin typeface="Liberation Sans"/>
                        </a:rPr>
                        <a:t>End %</a:t>
                      </a:r>
                    </a:p>
                  </a:txBody>
                  <a:tcPr anchor="ctr" marL="73152" marR="73152" marT="27432" marB="27432">
                    <a:solidFill>
                      <a:srgbClr val="2F4B7C"/>
                    </a:solidFill>
                  </a:tcPr>
                </a:tc>
                <a:tc>
                  <a:txBody>
                    <a:bodyPr/>
                    <a:lstStyle/>
                    <a:p>
                      <a:pPr algn="l"/>
                      <a:r>
                        <a:rPr sz="1100" b="1">
                          <a:solidFill>
                            <a:srgbClr val="FFFFFF"/>
                          </a:solidFill>
                          <a:latin typeface="Liberation Sans"/>
                        </a:rPr>
                        <a:t>Return</a:t>
                      </a:r>
                    </a:p>
                  </a:txBody>
                  <a:tcPr anchor="ctr" marL="73152" marR="73152" marT="27432" marB="27432">
                    <a:solidFill>
                      <a:srgbClr val="2F4B7C"/>
                    </a:solidFill>
                  </a:tcPr>
                </a:tc>
                <a:tc>
                  <a:txBody>
                    <a:bodyPr/>
                    <a:lstStyle/>
                    <a:p>
                      <a:pPr algn="l"/>
                      <a:r>
                        <a:rPr sz="1100" b="1">
                          <a:solidFill>
                            <a:srgbClr val="FFFFFF"/>
                          </a:solidFill>
                          <a:latin typeface="Liberation Sans"/>
                        </a:rPr>
                        <a:t>Mean / 95% / Max</a:t>
                      </a:r>
                    </a:p>
                  </a:txBody>
                  <a:tcPr anchor="ctr" marL="73152" marR="73152" marT="27432" marB="27432">
                    <a:solidFill>
                      <a:srgbClr val="2F4B7C"/>
                    </a:solidFill>
                  </a:tcPr>
                </a:tc>
                <a:tc>
                  <a:txBody>
                    <a:bodyPr/>
                    <a:lstStyle/>
                    <a:p>
                      <a:pPr algn="l"/>
                      <a:r>
                        <a:rPr sz="1100" b="1">
                          <a:solidFill>
                            <a:srgbClr val="FFFFFF"/>
                          </a:solidFill>
                          <a:latin typeface="Liberation Sans"/>
                        </a:rPr>
                        <a:t>Core / Main / Bonus</a:t>
                      </a:r>
                    </a:p>
                  </a:txBody>
                  <a:tcPr anchor="ctr" marL="73152" marR="73152" marT="27432" marB="27432">
                    <a:solidFill>
                      <a:srgbClr val="2F4B7C"/>
                    </a:solidFill>
                  </a:tcPr>
                </a:tc>
              </a:tr>
              <a:tr h="310896">
                <a:tc>
                  <a:txBody>
                    <a:bodyPr/>
                    <a:lstStyle/>
                    <a:p>
                      <a:pPr algn="l"/>
                      <a:r>
                        <a:rPr sz="1100" b="1">
                          <a:solidFill>
                            <a:srgbClr val="1E293B"/>
                          </a:solidFill>
                          <a:latin typeface="Liberation Sans"/>
                        </a:rPr>
                        <a:t>raw (unaided)</a:t>
                      </a:r>
                    </a:p>
                  </a:txBody>
                  <a:tcPr anchor="ctr" marL="73152" marR="73152" marT="27432" marB="27432">
                    <a:solidFill>
                      <a:srgbClr val="EAF1FA"/>
                    </a:solidFill>
                  </a:tcPr>
                </a:tc>
                <a:tc>
                  <a:txBody>
                    <a:bodyPr/>
                    <a:lstStyle/>
                    <a:p>
                      <a:pPr algn="l"/>
                      <a:r>
                        <a:rPr sz="1100" b="0">
                          <a:solidFill>
                            <a:srgbClr val="1E293B"/>
                          </a:solidFill>
                          <a:latin typeface="Liberation Sans"/>
                        </a:rPr>
                        <a:t>247.18</a:t>
                      </a:r>
                    </a:p>
                  </a:txBody>
                  <a:tcPr anchor="ctr" marL="73152" marR="73152" marT="27432" marB="27432">
                    <a:solidFill>
                      <a:srgbClr val="EAF1FA"/>
                    </a:solidFill>
                  </a:tcPr>
                </a:tc>
                <a:tc>
                  <a:txBody>
                    <a:bodyPr/>
                    <a:lstStyle/>
                    <a:p>
                      <a:pPr algn="l"/>
                      <a:r>
                        <a:rPr sz="1100" b="0">
                          <a:solidFill>
                            <a:srgbClr val="1E293B"/>
                          </a:solidFill>
                          <a:latin typeface="Liberation Sans"/>
                        </a:rPr>
                        <a:t>2256.39</a:t>
                      </a:r>
                    </a:p>
                  </a:txBody>
                  <a:tcPr anchor="ctr" marL="73152" marR="73152" marT="27432" marB="27432">
                    <a:solidFill>
                      <a:srgbClr val="EAF1FA"/>
                    </a:solidFill>
                  </a:tcPr>
                </a:tc>
                <a:tc>
                  <a:txBody>
                    <a:bodyPr/>
                    <a:lstStyle/>
                    <a:p>
                      <a:pPr algn="l"/>
                      <a:r>
                        <a:rPr sz="1100" b="0">
                          <a:solidFill>
                            <a:srgbClr val="1E293B"/>
                          </a:solidFill>
                          <a:latin typeface="Liberation Sans"/>
                        </a:rPr>
                        <a:t>75322.93</a:t>
                      </a:r>
                    </a:p>
                  </a:txBody>
                  <a:tcPr anchor="ctr" marL="73152" marR="73152" marT="27432" marB="27432">
                    <a:solidFill>
                      <a:srgbClr val="EAF1FA"/>
                    </a:solidFill>
                  </a:tcPr>
                </a:tc>
                <a:tc>
                  <a:txBody>
                    <a:bodyPr/>
                    <a:lstStyle/>
                    <a:p>
                      <a:pPr algn="l"/>
                      <a:r>
                        <a:rPr sz="1100" b="0">
                          <a:solidFill>
                            <a:srgbClr val="1E293B"/>
                          </a:solidFill>
                          <a:latin typeface="Liberation Sans"/>
                        </a:rPr>
                        <a:t>128571%</a:t>
                      </a:r>
                    </a:p>
                  </a:txBody>
                  <a:tcPr anchor="ctr" marL="73152" marR="73152" marT="27432" marB="27432">
                    <a:solidFill>
                      <a:srgbClr val="EAF1FA"/>
                    </a:solidFill>
                  </a:tcPr>
                </a:tc>
                <a:tc>
                  <a:txBody>
                    <a:bodyPr/>
                    <a:lstStyle/>
                    <a:p>
                      <a:pPr algn="l"/>
                      <a:r>
                        <a:rPr sz="1100" b="0">
                          <a:solidFill>
                            <a:srgbClr val="1E293B"/>
                          </a:solidFill>
                          <a:latin typeface="Liberation Sans"/>
                        </a:rPr>
                        <a:t>75323.16</a:t>
                      </a:r>
                    </a:p>
                  </a:txBody>
                  <a:tcPr anchor="ctr" marL="73152" marR="73152" marT="27432" marB="27432">
                    <a:solidFill>
                      <a:srgbClr val="EAF1FA"/>
                    </a:solidFill>
                  </a:tcPr>
                </a:tc>
                <a:tc>
                  <a:txBody>
                    <a:bodyPr/>
                    <a:lstStyle/>
                    <a:p>
                      <a:pPr algn="l"/>
                      <a:r>
                        <a:rPr sz="1100" b="0">
                          <a:solidFill>
                            <a:srgbClr val="1E293B"/>
                          </a:solidFill>
                          <a:latin typeface="Liberation Sans"/>
                        </a:rPr>
                        <a:t>24826 / 68503 / 75323</a:t>
                      </a:r>
                    </a:p>
                  </a:txBody>
                  <a:tcPr anchor="ctr" marL="73152" marR="73152" marT="27432" marB="27432">
                    <a:solidFill>
                      <a:srgbClr val="EAF1FA"/>
                    </a:solidFill>
                  </a:tcPr>
                </a:tc>
                <a:tc>
                  <a:txBody>
                    <a:bodyPr/>
                    <a:lstStyle/>
                    <a:p>
                      <a:pPr algn="l"/>
                      <a:r>
                        <a:rPr sz="1100" b="0">
                          <a:solidFill>
                            <a:srgbClr val="1E293B"/>
                          </a:solidFill>
                          <a:latin typeface="Liberation Sans"/>
                        </a:rPr>
                        <a:t>fail / fail / fail</a:t>
                      </a:r>
                    </a:p>
                  </a:txBody>
                  <a:tcPr anchor="ctr" marL="73152" marR="73152" marT="27432" marB="27432">
                    <a:solidFill>
                      <a:srgbClr val="EAF1FA"/>
                    </a:solidFill>
                  </a:tcPr>
                </a:tc>
              </a:tr>
              <a:tr h="310896">
                <a:tc>
                  <a:txBody>
                    <a:bodyPr/>
                    <a:lstStyle/>
                    <a:p>
                      <a:pPr algn="l"/>
                      <a:r>
                        <a:rPr sz="1100" b="1">
                          <a:solidFill>
                            <a:srgbClr val="1E293B"/>
                          </a:solidFill>
                          <a:latin typeface="Liberation Sans"/>
                        </a:rPr>
                        <a:t>bias removed (unaided)</a:t>
                      </a:r>
                    </a:p>
                  </a:txBody>
                  <a:tcPr anchor="ctr" marL="73152" marR="73152" marT="27432" marB="27432">
                    <a:solidFill>
                      <a:srgbClr val="FFFFFF"/>
                    </a:solidFill>
                  </a:tcPr>
                </a:tc>
                <a:tc>
                  <a:txBody>
                    <a:bodyPr/>
                    <a:lstStyle/>
                    <a:p>
                      <a:pPr algn="l"/>
                      <a:r>
                        <a:rPr sz="1100" b="0">
                          <a:solidFill>
                            <a:srgbClr val="1E293B"/>
                          </a:solidFill>
                          <a:latin typeface="Liberation Sans"/>
                        </a:rPr>
                        <a:t>2.25</a:t>
                      </a:r>
                    </a:p>
                  </a:txBody>
                  <a:tcPr anchor="ctr" marL="73152" marR="73152" marT="27432" marB="27432">
                    <a:solidFill>
                      <a:srgbClr val="FFFFFF"/>
                    </a:solidFill>
                  </a:tcPr>
                </a:tc>
                <a:tc>
                  <a:txBody>
                    <a:bodyPr/>
                    <a:lstStyle/>
                    <a:p>
                      <a:pPr algn="l"/>
                      <a:r>
                        <a:rPr sz="1100" b="0">
                          <a:solidFill>
                            <a:srgbClr val="1E293B"/>
                          </a:solidFill>
                          <a:latin typeface="Liberation Sans"/>
                        </a:rPr>
                        <a:t>31.97</a:t>
                      </a:r>
                    </a:p>
                  </a:txBody>
                  <a:tcPr anchor="ctr" marL="73152" marR="73152" marT="27432" marB="27432">
                    <a:solidFill>
                      <a:srgbClr val="FFFFFF"/>
                    </a:solidFill>
                  </a:tcPr>
                </a:tc>
                <a:tc>
                  <a:txBody>
                    <a:bodyPr/>
                    <a:lstStyle/>
                    <a:p>
                      <a:pPr algn="l"/>
                      <a:r>
                        <a:rPr sz="1100" b="0">
                          <a:solidFill>
                            <a:srgbClr val="1E293B"/>
                          </a:solidFill>
                          <a:latin typeface="Liberation Sans"/>
                        </a:rPr>
                        <a:t>2979.24</a:t>
                      </a:r>
                    </a:p>
                  </a:txBody>
                  <a:tcPr anchor="ctr" marL="73152" marR="73152" marT="27432" marB="27432">
                    <a:solidFill>
                      <a:srgbClr val="FFFFFF"/>
                    </a:solidFill>
                  </a:tcPr>
                </a:tc>
                <a:tc>
                  <a:txBody>
                    <a:bodyPr/>
                    <a:lstStyle/>
                    <a:p>
                      <a:pPr algn="l"/>
                      <a:r>
                        <a:rPr sz="1100" b="0">
                          <a:solidFill>
                            <a:srgbClr val="1E293B"/>
                          </a:solidFill>
                          <a:latin typeface="Liberation Sans"/>
                        </a:rPr>
                        <a:t>5085.3%</a:t>
                      </a:r>
                    </a:p>
                  </a:txBody>
                  <a:tcPr anchor="ctr" marL="73152" marR="73152" marT="27432" marB="27432">
                    <a:solidFill>
                      <a:srgbClr val="FFFFFF"/>
                    </a:solidFill>
                  </a:tcPr>
                </a:tc>
                <a:tc>
                  <a:txBody>
                    <a:bodyPr/>
                    <a:lstStyle/>
                    <a:p>
                      <a:pPr algn="l"/>
                      <a:r>
                        <a:rPr sz="1100" b="0">
                          <a:solidFill>
                            <a:srgbClr val="1E293B"/>
                          </a:solidFill>
                          <a:latin typeface="Liberation Sans"/>
                        </a:rPr>
                        <a:t>2979.65</a:t>
                      </a:r>
                    </a:p>
                  </a:txBody>
                  <a:tcPr anchor="ctr" marL="73152" marR="73152" marT="27432" marB="27432">
                    <a:solidFill>
                      <a:srgbClr val="FFFFFF"/>
                    </a:solidFill>
                  </a:tcPr>
                </a:tc>
                <a:tc>
                  <a:txBody>
                    <a:bodyPr/>
                    <a:lstStyle/>
                    <a:p>
                      <a:pPr algn="l"/>
                      <a:r>
                        <a:rPr sz="1100" b="0">
                          <a:solidFill>
                            <a:srgbClr val="1E293B"/>
                          </a:solidFill>
                          <a:latin typeface="Liberation Sans"/>
                        </a:rPr>
                        <a:t>728.0 / 2522.7 / 2979.2</a:t>
                      </a:r>
                    </a:p>
                  </a:txBody>
                  <a:tcPr anchor="ctr" marL="73152" marR="73152" marT="27432" marB="27432">
                    <a:solidFill>
                      <a:srgbClr val="FFFFFF"/>
                    </a:solidFill>
                  </a:tcPr>
                </a:tc>
                <a:tc>
                  <a:txBody>
                    <a:bodyPr/>
                    <a:lstStyle/>
                    <a:p>
                      <a:pPr algn="l"/>
                      <a:r>
                        <a:rPr sz="1100" b="0">
                          <a:solidFill>
                            <a:srgbClr val="1E293B"/>
                          </a:solidFill>
                          <a:latin typeface="Liberation Sans"/>
                        </a:rPr>
                        <a:t>fail / fail / fail</a:t>
                      </a:r>
                    </a:p>
                  </a:txBody>
                  <a:tcPr anchor="ctr" marL="73152" marR="73152" marT="27432" marB="27432">
                    <a:solidFill>
                      <a:srgbClr val="FFFFFF"/>
                    </a:solidFill>
                  </a:tcPr>
                </a:tc>
              </a:tr>
              <a:tr h="310896">
                <a:tc>
                  <a:txBody>
                    <a:bodyPr/>
                    <a:lstStyle/>
                    <a:p>
                      <a:pPr algn="l"/>
                      <a:r>
                        <a:rPr sz="1100" b="1">
                          <a:solidFill>
                            <a:srgbClr val="1E293B"/>
                          </a:solidFill>
                          <a:latin typeface="Liberation Sans"/>
                        </a:rPr>
                        <a:t>bias + Mahony (unaided)</a:t>
                      </a:r>
                    </a:p>
                  </a:txBody>
                  <a:tcPr anchor="ctr" marL="73152" marR="73152" marT="27432" marB="27432">
                    <a:solidFill>
                      <a:srgbClr val="EAF1FA"/>
                    </a:solidFill>
                  </a:tcPr>
                </a:tc>
                <a:tc>
                  <a:txBody>
                    <a:bodyPr/>
                    <a:lstStyle/>
                    <a:p>
                      <a:pPr algn="l"/>
                      <a:r>
                        <a:rPr sz="1100" b="0">
                          <a:solidFill>
                            <a:srgbClr val="1E293B"/>
                          </a:solidFill>
                          <a:latin typeface="Liberation Sans"/>
                        </a:rPr>
                        <a:t>1.67</a:t>
                      </a:r>
                    </a:p>
                  </a:txBody>
                  <a:tcPr anchor="ctr" marL="73152" marR="73152" marT="27432" marB="27432">
                    <a:solidFill>
                      <a:srgbClr val="EAF1FA"/>
                    </a:solidFill>
                  </a:tcPr>
                </a:tc>
                <a:tc>
                  <a:txBody>
                    <a:bodyPr/>
                    <a:lstStyle/>
                    <a:p>
                      <a:pPr algn="l"/>
                      <a:r>
                        <a:rPr sz="1100" b="0">
                          <a:solidFill>
                            <a:srgbClr val="1E293B"/>
                          </a:solidFill>
                          <a:latin typeface="Liberation Sans"/>
                        </a:rPr>
                        <a:t>11.97</a:t>
                      </a:r>
                    </a:p>
                  </a:txBody>
                  <a:tcPr anchor="ctr" marL="73152" marR="73152" marT="27432" marB="27432">
                    <a:solidFill>
                      <a:srgbClr val="EAF1FA"/>
                    </a:solidFill>
                  </a:tcPr>
                </a:tc>
                <a:tc>
                  <a:txBody>
                    <a:bodyPr/>
                    <a:lstStyle/>
                    <a:p>
                      <a:pPr algn="l"/>
                      <a:r>
                        <a:rPr sz="1100" b="0">
                          <a:solidFill>
                            <a:srgbClr val="1E293B"/>
                          </a:solidFill>
                          <a:latin typeface="Liberation Sans"/>
                        </a:rPr>
                        <a:t>287.73</a:t>
                      </a:r>
                    </a:p>
                  </a:txBody>
                  <a:tcPr anchor="ctr" marL="73152" marR="73152" marT="27432" marB="27432">
                    <a:solidFill>
                      <a:srgbClr val="EAF1FA"/>
                    </a:solidFill>
                  </a:tcPr>
                </a:tc>
                <a:tc>
                  <a:txBody>
                    <a:bodyPr/>
                    <a:lstStyle/>
                    <a:p>
                      <a:pPr algn="l"/>
                      <a:r>
                        <a:rPr sz="1100" b="0">
                          <a:solidFill>
                            <a:srgbClr val="1E293B"/>
                          </a:solidFill>
                          <a:latin typeface="Liberation Sans"/>
                        </a:rPr>
                        <a:t>491.1%</a:t>
                      </a:r>
                    </a:p>
                  </a:txBody>
                  <a:tcPr anchor="ctr" marL="73152" marR="73152" marT="27432" marB="27432">
                    <a:solidFill>
                      <a:srgbClr val="EAF1FA"/>
                    </a:solidFill>
                  </a:tcPr>
                </a:tc>
                <a:tc>
                  <a:txBody>
                    <a:bodyPr/>
                    <a:lstStyle/>
                    <a:p>
                      <a:pPr algn="l"/>
                      <a:r>
                        <a:rPr sz="1100" b="0">
                          <a:solidFill>
                            <a:srgbClr val="1E293B"/>
                          </a:solidFill>
                          <a:latin typeface="Liberation Sans"/>
                        </a:rPr>
                        <a:t>287.84</a:t>
                      </a:r>
                    </a:p>
                  </a:txBody>
                  <a:tcPr anchor="ctr" marL="73152" marR="73152" marT="27432" marB="27432">
                    <a:solidFill>
                      <a:srgbClr val="EAF1FA"/>
                    </a:solidFill>
                  </a:tcPr>
                </a:tc>
                <a:tc>
                  <a:txBody>
                    <a:bodyPr/>
                    <a:lstStyle/>
                    <a:p>
                      <a:pPr algn="l"/>
                      <a:r>
                        <a:rPr sz="1100" b="0">
                          <a:solidFill>
                            <a:srgbClr val="1E293B"/>
                          </a:solidFill>
                          <a:latin typeface="Liberation Sans"/>
                        </a:rPr>
                        <a:t>90.87 / 258.11 / 287.73</a:t>
                      </a:r>
                    </a:p>
                  </a:txBody>
                  <a:tcPr anchor="ctr" marL="73152" marR="73152" marT="27432" marB="27432">
                    <a:solidFill>
                      <a:srgbClr val="EAF1FA"/>
                    </a:solidFill>
                  </a:tcPr>
                </a:tc>
                <a:tc>
                  <a:txBody>
                    <a:bodyPr/>
                    <a:lstStyle/>
                    <a:p>
                      <a:pPr algn="l"/>
                      <a:r>
                        <a:rPr sz="1100" b="0">
                          <a:solidFill>
                            <a:srgbClr val="1E293B"/>
                          </a:solidFill>
                          <a:latin typeface="Liberation Sans"/>
                        </a:rPr>
                        <a:t>fail / fail / fail</a:t>
                      </a:r>
                    </a:p>
                  </a:txBody>
                  <a:tcPr anchor="ctr" marL="73152" marR="73152" marT="27432" marB="27432">
                    <a:solidFill>
                      <a:srgbClr val="EAF1FA"/>
                    </a:solidFill>
                  </a:tcPr>
                </a:tc>
              </a:tr>
              <a:tr h="310896">
                <a:tc>
                  <a:txBody>
                    <a:bodyPr/>
                    <a:lstStyle/>
                    <a:p>
                      <a:pPr algn="l"/>
                      <a:r>
                        <a:rPr sz="1100" b="1">
                          <a:solidFill>
                            <a:srgbClr val="1E293B"/>
                          </a:solidFill>
                          <a:latin typeface="Liberation Sans"/>
                        </a:rPr>
                        <a:t>bias + ZUPT (unaided)</a:t>
                      </a:r>
                    </a:p>
                  </a:txBody>
                  <a:tcPr anchor="ctr" marL="73152" marR="73152" marT="27432" marB="27432">
                    <a:solidFill>
                      <a:srgbClr val="FFFFFF"/>
                    </a:solidFill>
                  </a:tcPr>
                </a:tc>
                <a:tc>
                  <a:txBody>
                    <a:bodyPr/>
                    <a:lstStyle/>
                    <a:p>
                      <a:pPr algn="l"/>
                      <a:r>
                        <a:rPr sz="1100" b="0">
                          <a:solidFill>
                            <a:srgbClr val="1E293B"/>
                          </a:solidFill>
                          <a:latin typeface="Liberation Sans"/>
                        </a:rPr>
                        <a:t>2.20</a:t>
                      </a:r>
                    </a:p>
                  </a:txBody>
                  <a:tcPr anchor="ctr" marL="73152" marR="73152" marT="27432" marB="27432">
                    <a:solidFill>
                      <a:srgbClr val="FFFFFF"/>
                    </a:solidFill>
                  </a:tcPr>
                </a:tc>
                <a:tc>
                  <a:txBody>
                    <a:bodyPr/>
                    <a:lstStyle/>
                    <a:p>
                      <a:pPr algn="l"/>
                      <a:r>
                        <a:rPr sz="1100" b="0">
                          <a:solidFill>
                            <a:srgbClr val="1E293B"/>
                          </a:solidFill>
                          <a:latin typeface="Liberation Sans"/>
                        </a:rPr>
                        <a:t>31.84</a:t>
                      </a:r>
                    </a:p>
                  </a:txBody>
                  <a:tcPr anchor="ctr" marL="73152" marR="73152" marT="27432" marB="27432">
                    <a:solidFill>
                      <a:srgbClr val="FFFFFF"/>
                    </a:solidFill>
                  </a:tcPr>
                </a:tc>
                <a:tc>
                  <a:txBody>
                    <a:bodyPr/>
                    <a:lstStyle/>
                    <a:p>
                      <a:pPr algn="l"/>
                      <a:r>
                        <a:rPr sz="1100" b="0">
                          <a:solidFill>
                            <a:srgbClr val="1E293B"/>
                          </a:solidFill>
                          <a:latin typeface="Liberation Sans"/>
                        </a:rPr>
                        <a:t>2972.48</a:t>
                      </a:r>
                    </a:p>
                  </a:txBody>
                  <a:tcPr anchor="ctr" marL="73152" marR="73152" marT="27432" marB="27432">
                    <a:solidFill>
                      <a:srgbClr val="FFFFFF"/>
                    </a:solidFill>
                  </a:tcPr>
                </a:tc>
                <a:tc>
                  <a:txBody>
                    <a:bodyPr/>
                    <a:lstStyle/>
                    <a:p>
                      <a:pPr algn="l"/>
                      <a:r>
                        <a:rPr sz="1100" b="0">
                          <a:solidFill>
                            <a:srgbClr val="1E293B"/>
                          </a:solidFill>
                          <a:latin typeface="Liberation Sans"/>
                        </a:rPr>
                        <a:t>5073.8%</a:t>
                      </a:r>
                    </a:p>
                  </a:txBody>
                  <a:tcPr anchor="ctr" marL="73152" marR="73152" marT="27432" marB="27432">
                    <a:solidFill>
                      <a:srgbClr val="FFFFFF"/>
                    </a:solidFill>
                  </a:tcPr>
                </a:tc>
                <a:tc>
                  <a:txBody>
                    <a:bodyPr/>
                    <a:lstStyle/>
                    <a:p>
                      <a:pPr algn="l"/>
                      <a:r>
                        <a:rPr sz="1100" b="0">
                          <a:solidFill>
                            <a:srgbClr val="1E293B"/>
                          </a:solidFill>
                          <a:latin typeface="Liberation Sans"/>
                        </a:rPr>
                        <a:t>2972.88</a:t>
                      </a:r>
                    </a:p>
                  </a:txBody>
                  <a:tcPr anchor="ctr" marL="73152" marR="73152" marT="27432" marB="27432">
                    <a:solidFill>
                      <a:srgbClr val="FFFFFF"/>
                    </a:solidFill>
                  </a:tcPr>
                </a:tc>
                <a:tc>
                  <a:txBody>
                    <a:bodyPr/>
                    <a:lstStyle/>
                    <a:p>
                      <a:pPr algn="l"/>
                      <a:r>
                        <a:rPr sz="1100" b="0">
                          <a:solidFill>
                            <a:srgbClr val="1E293B"/>
                          </a:solidFill>
                          <a:latin typeface="Liberation Sans"/>
                        </a:rPr>
                        <a:t>727.7 / 2522.2 / 2972.5</a:t>
                      </a:r>
                    </a:p>
                  </a:txBody>
                  <a:tcPr anchor="ctr" marL="73152" marR="73152" marT="27432" marB="27432">
                    <a:solidFill>
                      <a:srgbClr val="FFFFFF"/>
                    </a:solidFill>
                  </a:tcPr>
                </a:tc>
                <a:tc>
                  <a:txBody>
                    <a:bodyPr/>
                    <a:lstStyle/>
                    <a:p>
                      <a:pPr algn="l"/>
                      <a:r>
                        <a:rPr sz="1100" b="0">
                          <a:solidFill>
                            <a:srgbClr val="1E293B"/>
                          </a:solidFill>
                          <a:latin typeface="Liberation Sans"/>
                        </a:rPr>
                        <a:t>fail / fail / fail</a:t>
                      </a:r>
                    </a:p>
                  </a:txBody>
                  <a:tcPr anchor="ctr" marL="73152" marR="73152" marT="27432" marB="27432">
                    <a:solidFill>
                      <a:srgbClr val="FFFFFF"/>
                    </a:solidFill>
                  </a:tcPr>
                </a:tc>
              </a:tr>
              <a:tr h="310896">
                <a:tc>
                  <a:txBody>
                    <a:bodyPr/>
                    <a:lstStyle/>
                    <a:p>
                      <a:pPr algn="l"/>
                      <a:r>
                        <a:rPr sz="1100" b="1">
                          <a:solidFill>
                            <a:srgbClr val="1E293B"/>
                          </a:solidFill>
                          <a:latin typeface="Liberation Sans"/>
                        </a:rPr>
                        <a:t>all combined (unaided)</a:t>
                      </a:r>
                    </a:p>
                  </a:txBody>
                  <a:tcPr anchor="ctr" marL="73152" marR="73152" marT="27432" marB="27432">
                    <a:solidFill>
                      <a:srgbClr val="EAF1FA"/>
                    </a:solidFill>
                  </a:tcPr>
                </a:tc>
                <a:tc>
                  <a:txBody>
                    <a:bodyPr/>
                    <a:lstStyle/>
                    <a:p>
                      <a:pPr algn="l"/>
                      <a:r>
                        <a:rPr sz="1100" b="0">
                          <a:solidFill>
                            <a:srgbClr val="1E293B"/>
                          </a:solidFill>
                          <a:latin typeface="Liberation Sans"/>
                        </a:rPr>
                        <a:t>1.66</a:t>
                      </a:r>
                    </a:p>
                  </a:txBody>
                  <a:tcPr anchor="ctr" marL="73152" marR="73152" marT="27432" marB="27432">
                    <a:solidFill>
                      <a:srgbClr val="EAF1FA"/>
                    </a:solidFill>
                  </a:tcPr>
                </a:tc>
                <a:tc>
                  <a:txBody>
                    <a:bodyPr/>
                    <a:lstStyle/>
                    <a:p>
                      <a:pPr algn="l"/>
                      <a:r>
                        <a:rPr sz="1100" b="0">
                          <a:solidFill>
                            <a:srgbClr val="1E293B"/>
                          </a:solidFill>
                          <a:latin typeface="Liberation Sans"/>
                        </a:rPr>
                        <a:t>11.89</a:t>
                      </a:r>
                    </a:p>
                  </a:txBody>
                  <a:tcPr anchor="ctr" marL="73152" marR="73152" marT="27432" marB="27432">
                    <a:solidFill>
                      <a:srgbClr val="EAF1FA"/>
                    </a:solidFill>
                  </a:tcPr>
                </a:tc>
                <a:tc>
                  <a:txBody>
                    <a:bodyPr/>
                    <a:lstStyle/>
                    <a:p>
                      <a:pPr algn="l"/>
                      <a:r>
                        <a:rPr sz="1100" b="0">
                          <a:solidFill>
                            <a:srgbClr val="1E293B"/>
                          </a:solidFill>
                          <a:latin typeface="Liberation Sans"/>
                        </a:rPr>
                        <a:t>286.84</a:t>
                      </a:r>
                    </a:p>
                  </a:txBody>
                  <a:tcPr anchor="ctr" marL="73152" marR="73152" marT="27432" marB="27432">
                    <a:solidFill>
                      <a:srgbClr val="EAF1FA"/>
                    </a:solidFill>
                  </a:tcPr>
                </a:tc>
                <a:tc>
                  <a:txBody>
                    <a:bodyPr/>
                    <a:lstStyle/>
                    <a:p>
                      <a:pPr algn="l"/>
                      <a:r>
                        <a:rPr sz="1100" b="0">
                          <a:solidFill>
                            <a:srgbClr val="1E293B"/>
                          </a:solidFill>
                          <a:latin typeface="Liberation Sans"/>
                        </a:rPr>
                        <a:t>489.6%</a:t>
                      </a:r>
                    </a:p>
                  </a:txBody>
                  <a:tcPr anchor="ctr" marL="73152" marR="73152" marT="27432" marB="27432">
                    <a:solidFill>
                      <a:srgbClr val="EAF1FA"/>
                    </a:solidFill>
                  </a:tcPr>
                </a:tc>
                <a:tc>
                  <a:txBody>
                    <a:bodyPr/>
                    <a:lstStyle/>
                    <a:p>
                      <a:pPr algn="l"/>
                      <a:r>
                        <a:rPr sz="1100" b="0">
                          <a:solidFill>
                            <a:srgbClr val="1E293B"/>
                          </a:solidFill>
                          <a:latin typeface="Liberation Sans"/>
                        </a:rPr>
                        <a:t>286.94</a:t>
                      </a:r>
                    </a:p>
                  </a:txBody>
                  <a:tcPr anchor="ctr" marL="73152" marR="73152" marT="27432" marB="27432">
                    <a:solidFill>
                      <a:srgbClr val="EAF1FA"/>
                    </a:solidFill>
                  </a:tcPr>
                </a:tc>
                <a:tc>
                  <a:txBody>
                    <a:bodyPr/>
                    <a:lstStyle/>
                    <a:p>
                      <a:pPr algn="l"/>
                      <a:r>
                        <a:rPr sz="1100" b="0">
                          <a:solidFill>
                            <a:srgbClr val="1E293B"/>
                          </a:solidFill>
                          <a:latin typeface="Liberation Sans"/>
                        </a:rPr>
                        <a:t>90.65 / 257.65 / 286.84</a:t>
                      </a:r>
                    </a:p>
                  </a:txBody>
                  <a:tcPr anchor="ctr" marL="73152" marR="73152" marT="27432" marB="27432">
                    <a:solidFill>
                      <a:srgbClr val="EAF1FA"/>
                    </a:solidFill>
                  </a:tcPr>
                </a:tc>
                <a:tc>
                  <a:txBody>
                    <a:bodyPr/>
                    <a:lstStyle/>
                    <a:p>
                      <a:pPr algn="l"/>
                      <a:r>
                        <a:rPr sz="1100" b="0">
                          <a:solidFill>
                            <a:srgbClr val="1E293B"/>
                          </a:solidFill>
                          <a:latin typeface="Liberation Sans"/>
                        </a:rPr>
                        <a:t>fail / fail / fail</a:t>
                      </a:r>
                    </a:p>
                  </a:txBody>
                  <a:tcPr anchor="ctr" marL="73152" marR="73152" marT="27432" marB="27432">
                    <a:solidFill>
                      <a:srgbClr val="EAF1FA"/>
                    </a:solidFill>
                  </a:tcPr>
                </a:tc>
              </a:tr>
              <a:tr h="310896">
                <a:tc>
                  <a:txBody>
                    <a:bodyPr/>
                    <a:lstStyle/>
                    <a:p>
                      <a:pPr algn="l"/>
                      <a:r>
                        <a:rPr sz="1100" b="1">
                          <a:solidFill>
                            <a:srgbClr val="1E293B"/>
                          </a:solidFill>
                          <a:latin typeface="Liberation Sans"/>
                        </a:rPr>
                        <a:t>ESKF (no aiding)</a:t>
                      </a:r>
                    </a:p>
                  </a:txBody>
                  <a:tcPr anchor="ctr" marL="73152" marR="73152" marT="27432" marB="27432">
                    <a:solidFill>
                      <a:srgbClr val="FFFFFF"/>
                    </a:solidFill>
                  </a:tcPr>
                </a:tc>
                <a:tc>
                  <a:txBody>
                    <a:bodyPr/>
                    <a:lstStyle/>
                    <a:p>
                      <a:pPr algn="l"/>
                      <a:r>
                        <a:rPr sz="1100" b="0">
                          <a:solidFill>
                            <a:srgbClr val="1E293B"/>
                          </a:solidFill>
                          <a:latin typeface="Liberation Sans"/>
                        </a:rPr>
                        <a:t>8.49</a:t>
                      </a:r>
                    </a:p>
                  </a:txBody>
                  <a:tcPr anchor="ctr" marL="73152" marR="73152" marT="27432" marB="27432">
                    <a:solidFill>
                      <a:srgbClr val="FFFFFF"/>
                    </a:solidFill>
                  </a:tcPr>
                </a:tc>
                <a:tc>
                  <a:txBody>
                    <a:bodyPr/>
                    <a:lstStyle/>
                    <a:p>
                      <a:pPr algn="l"/>
                      <a:r>
                        <a:rPr sz="1100" b="0">
                          <a:solidFill>
                            <a:srgbClr val="1E293B"/>
                          </a:solidFill>
                          <a:latin typeface="Liberation Sans"/>
                        </a:rPr>
                        <a:t>80.51</a:t>
                      </a:r>
                    </a:p>
                  </a:txBody>
                  <a:tcPr anchor="ctr" marL="73152" marR="73152" marT="27432" marB="27432">
                    <a:solidFill>
                      <a:srgbClr val="FFFFFF"/>
                    </a:solidFill>
                  </a:tcPr>
                </a:tc>
                <a:tc>
                  <a:txBody>
                    <a:bodyPr/>
                    <a:lstStyle/>
                    <a:p>
                      <a:pPr algn="l"/>
                      <a:r>
                        <a:rPr sz="1100" b="0">
                          <a:solidFill>
                            <a:srgbClr val="1E293B"/>
                          </a:solidFill>
                          <a:latin typeface="Liberation Sans"/>
                        </a:rPr>
                        <a:t>2194.80</a:t>
                      </a:r>
                    </a:p>
                  </a:txBody>
                  <a:tcPr anchor="ctr" marL="73152" marR="73152" marT="27432" marB="27432">
                    <a:solidFill>
                      <a:srgbClr val="FFFFFF"/>
                    </a:solidFill>
                  </a:tcPr>
                </a:tc>
                <a:tc>
                  <a:txBody>
                    <a:bodyPr/>
                    <a:lstStyle/>
                    <a:p>
                      <a:pPr algn="l"/>
                      <a:r>
                        <a:rPr sz="1100" b="0">
                          <a:solidFill>
                            <a:srgbClr val="1E293B"/>
                          </a:solidFill>
                          <a:latin typeface="Liberation Sans"/>
                        </a:rPr>
                        <a:t>3746.4%</a:t>
                      </a:r>
                    </a:p>
                  </a:txBody>
                  <a:tcPr anchor="ctr" marL="73152" marR="73152" marT="27432" marB="27432">
                    <a:solidFill>
                      <a:srgbClr val="FFFFFF"/>
                    </a:solidFill>
                  </a:tcPr>
                </a:tc>
                <a:tc>
                  <a:txBody>
                    <a:bodyPr/>
                    <a:lstStyle/>
                    <a:p>
                      <a:pPr algn="l"/>
                      <a:r>
                        <a:rPr sz="1100" b="0">
                          <a:solidFill>
                            <a:srgbClr val="1E293B"/>
                          </a:solidFill>
                          <a:latin typeface="Liberation Sans"/>
                        </a:rPr>
                        <a:t>2194.82</a:t>
                      </a:r>
                    </a:p>
                  </a:txBody>
                  <a:tcPr anchor="ctr" marL="73152" marR="73152" marT="27432" marB="27432">
                    <a:solidFill>
                      <a:srgbClr val="FFFFFF"/>
                    </a:solidFill>
                  </a:tcPr>
                </a:tc>
                <a:tc>
                  <a:txBody>
                    <a:bodyPr/>
                    <a:lstStyle/>
                    <a:p>
                      <a:pPr algn="l"/>
                      <a:r>
                        <a:rPr sz="1100" b="0">
                          <a:solidFill>
                            <a:srgbClr val="1E293B"/>
                          </a:solidFill>
                          <a:latin typeface="Liberation Sans"/>
                        </a:rPr>
                        <a:t>727.0 / 1966.3 / 2194.8</a:t>
                      </a:r>
                    </a:p>
                  </a:txBody>
                  <a:tcPr anchor="ctr" marL="73152" marR="73152" marT="27432" marB="27432">
                    <a:solidFill>
                      <a:srgbClr val="FFFFFF"/>
                    </a:solidFill>
                  </a:tcPr>
                </a:tc>
                <a:tc>
                  <a:txBody>
                    <a:bodyPr/>
                    <a:lstStyle/>
                    <a:p>
                      <a:pPr algn="l"/>
                      <a:r>
                        <a:rPr sz="1100" b="0">
                          <a:solidFill>
                            <a:srgbClr val="1E293B"/>
                          </a:solidFill>
                          <a:latin typeface="Liberation Sans"/>
                        </a:rPr>
                        <a:t>fail / fail / fail</a:t>
                      </a:r>
                    </a:p>
                  </a:txBody>
                  <a:tcPr anchor="ctr" marL="73152" marR="73152" marT="27432" marB="27432">
                    <a:solidFill>
                      <a:srgbClr val="FFFFFF"/>
                    </a:solidFill>
                  </a:tcPr>
                </a:tc>
              </a:tr>
              <a:tr h="310896">
                <a:tc>
                  <a:txBody>
                    <a:bodyPr/>
                    <a:lstStyle/>
                    <a:p>
                      <a:pPr algn="l"/>
                      <a:r>
                        <a:rPr sz="1100" b="1">
                          <a:solidFill>
                            <a:srgbClr val="78350F"/>
                          </a:solidFill>
                          <a:latin typeface="Liberation Sans"/>
                        </a:rPr>
                        <a:t>aided (simple KF, sim)</a:t>
                      </a:r>
                    </a:p>
                  </a:txBody>
                  <a:tcPr anchor="ctr" marL="73152" marR="73152" marT="27432" marB="27432">
                    <a:solidFill>
                      <a:srgbClr val="FFF6E0"/>
                    </a:solidFill>
                  </a:tcPr>
                </a:tc>
                <a:tc>
                  <a:txBody>
                    <a:bodyPr/>
                    <a:lstStyle/>
                    <a:p>
                      <a:pPr algn="l"/>
                      <a:r>
                        <a:rPr sz="1100" b="1">
                          <a:solidFill>
                            <a:srgbClr val="78350F"/>
                          </a:solidFill>
                          <a:latin typeface="Liberation Sans"/>
                        </a:rPr>
                        <a:t>0.79</a:t>
                      </a:r>
                    </a:p>
                  </a:txBody>
                  <a:tcPr anchor="ctr" marL="73152" marR="73152" marT="27432" marB="27432">
                    <a:solidFill>
                      <a:srgbClr val="FFF6E0"/>
                    </a:solidFill>
                  </a:tcPr>
                </a:tc>
                <a:tc>
                  <a:txBody>
                    <a:bodyPr/>
                    <a:lstStyle/>
                    <a:p>
                      <a:pPr algn="l"/>
                      <a:r>
                        <a:rPr sz="1100" b="1">
                          <a:solidFill>
                            <a:srgbClr val="78350F"/>
                          </a:solidFill>
                          <a:latin typeface="Liberation Sans"/>
                        </a:rPr>
                        <a:t>1.10</a:t>
                      </a:r>
                    </a:p>
                  </a:txBody>
                  <a:tcPr anchor="ctr" marL="73152" marR="73152" marT="27432" marB="27432">
                    <a:solidFill>
                      <a:srgbClr val="FFF6E0"/>
                    </a:solidFill>
                  </a:tcPr>
                </a:tc>
                <a:tc>
                  <a:txBody>
                    <a:bodyPr/>
                    <a:lstStyle/>
                    <a:p>
                      <a:pPr algn="l"/>
                      <a:r>
                        <a:rPr sz="1100" b="1">
                          <a:solidFill>
                            <a:srgbClr val="78350F"/>
                          </a:solidFill>
                          <a:latin typeface="Liberation Sans"/>
                        </a:rPr>
                        <a:t>0.70</a:t>
                      </a:r>
                    </a:p>
                  </a:txBody>
                  <a:tcPr anchor="ctr" marL="73152" marR="73152" marT="27432" marB="27432">
                    <a:solidFill>
                      <a:srgbClr val="FFF6E0"/>
                    </a:solidFill>
                  </a:tcPr>
                </a:tc>
                <a:tc>
                  <a:txBody>
                    <a:bodyPr/>
                    <a:lstStyle/>
                    <a:p>
                      <a:pPr algn="l"/>
                      <a:r>
                        <a:rPr sz="1100" b="1">
                          <a:solidFill>
                            <a:srgbClr val="78350F"/>
                          </a:solidFill>
                          <a:latin typeface="Liberation Sans"/>
                        </a:rPr>
                        <a:t>1.2%</a:t>
                      </a:r>
                    </a:p>
                  </a:txBody>
                  <a:tcPr anchor="ctr" marL="73152" marR="73152" marT="27432" marB="27432">
                    <a:solidFill>
                      <a:srgbClr val="FFF6E0"/>
                    </a:solidFill>
                  </a:tcPr>
                </a:tc>
                <a:tc>
                  <a:txBody>
                    <a:bodyPr/>
                    <a:lstStyle/>
                    <a:p>
                      <a:pPr algn="l"/>
                      <a:r>
                        <a:rPr sz="1100" b="1">
                          <a:solidFill>
                            <a:srgbClr val="78350F"/>
                          </a:solidFill>
                          <a:latin typeface="Liberation Sans"/>
                        </a:rPr>
                        <a:t>0.48</a:t>
                      </a:r>
                    </a:p>
                  </a:txBody>
                  <a:tcPr anchor="ctr" marL="73152" marR="73152" marT="27432" marB="27432">
                    <a:solidFill>
                      <a:srgbClr val="FFF6E0"/>
                    </a:solidFill>
                  </a:tcPr>
                </a:tc>
                <a:tc>
                  <a:txBody>
                    <a:bodyPr/>
                    <a:lstStyle/>
                    <a:p>
                      <a:pPr algn="l"/>
                      <a:r>
                        <a:rPr sz="1100" b="1">
                          <a:solidFill>
                            <a:srgbClr val="78350F"/>
                          </a:solidFill>
                          <a:latin typeface="Liberation Sans"/>
                        </a:rPr>
                        <a:t>0.97 / 2.76 / 5.27</a:t>
                      </a:r>
                    </a:p>
                  </a:txBody>
                  <a:tcPr anchor="ctr" marL="73152" marR="73152" marT="27432" marB="27432">
                    <a:solidFill>
                      <a:srgbClr val="FFF6E0"/>
                    </a:solidFill>
                  </a:tcPr>
                </a:tc>
                <a:tc>
                  <a:txBody>
                    <a:bodyPr/>
                    <a:lstStyle/>
                    <a:p>
                      <a:pPr algn="l"/>
                      <a:r>
                        <a:rPr sz="1100" b="1">
                          <a:solidFill>
                            <a:srgbClr val="78350F"/>
                          </a:solidFill>
                          <a:latin typeface="Liberation Sans"/>
                        </a:rPr>
                        <a:t>fail (1.10) / PASS / fail</a:t>
                      </a:r>
                    </a:p>
                  </a:txBody>
                  <a:tcPr anchor="ctr" marL="73152" marR="73152" marT="27432" marB="27432">
                    <a:solidFill>
                      <a:srgbClr val="FFF6E0"/>
                    </a:solidFill>
                  </a:tcPr>
                </a:tc>
              </a:tr>
              <a:tr h="310896">
                <a:tc>
                  <a:txBody>
                    <a:bodyPr/>
                    <a:lstStyle/>
                    <a:p>
                      <a:pPr algn="l"/>
                      <a:r>
                        <a:rPr sz="1100" b="1">
                          <a:solidFill>
                            <a:srgbClr val="78350F"/>
                          </a:solidFill>
                          <a:latin typeface="Liberation Sans"/>
                        </a:rPr>
                        <a:t>ESKF + pos fixes (sim)</a:t>
                      </a:r>
                    </a:p>
                  </a:txBody>
                  <a:tcPr anchor="ctr" marL="73152" marR="73152" marT="27432" marB="27432">
                    <a:solidFill>
                      <a:srgbClr val="FFF6E0"/>
                    </a:solidFill>
                  </a:tcPr>
                </a:tc>
                <a:tc>
                  <a:txBody>
                    <a:bodyPr/>
                    <a:lstStyle/>
                    <a:p>
                      <a:pPr algn="l"/>
                      <a:r>
                        <a:rPr sz="1100" b="1">
                          <a:solidFill>
                            <a:srgbClr val="78350F"/>
                          </a:solidFill>
                          <a:latin typeface="Liberation Sans"/>
                        </a:rPr>
                        <a:t>1.12</a:t>
                      </a:r>
                    </a:p>
                  </a:txBody>
                  <a:tcPr anchor="ctr" marL="73152" marR="73152" marT="27432" marB="27432">
                    <a:solidFill>
                      <a:srgbClr val="FFF6E0"/>
                    </a:solidFill>
                  </a:tcPr>
                </a:tc>
                <a:tc>
                  <a:txBody>
                    <a:bodyPr/>
                    <a:lstStyle/>
                    <a:p>
                      <a:pPr algn="l"/>
                      <a:r>
                        <a:rPr sz="1100" b="1">
                          <a:solidFill>
                            <a:srgbClr val="78350F"/>
                          </a:solidFill>
                          <a:latin typeface="Liberation Sans"/>
                        </a:rPr>
                        <a:t>0.34</a:t>
                      </a:r>
                    </a:p>
                  </a:txBody>
                  <a:tcPr anchor="ctr" marL="73152" marR="73152" marT="27432" marB="27432">
                    <a:solidFill>
                      <a:srgbClr val="FFF6E0"/>
                    </a:solidFill>
                  </a:tcPr>
                </a:tc>
                <a:tc>
                  <a:txBody>
                    <a:bodyPr/>
                    <a:lstStyle/>
                    <a:p>
                      <a:pPr algn="l"/>
                      <a:r>
                        <a:rPr sz="1100" b="1">
                          <a:solidFill>
                            <a:srgbClr val="78350F"/>
                          </a:solidFill>
                          <a:latin typeface="Liberation Sans"/>
                        </a:rPr>
                        <a:t>0.36</a:t>
                      </a:r>
                    </a:p>
                  </a:txBody>
                  <a:tcPr anchor="ctr" marL="73152" marR="73152" marT="27432" marB="27432">
                    <a:solidFill>
                      <a:srgbClr val="FFF6E0"/>
                    </a:solidFill>
                  </a:tcPr>
                </a:tc>
                <a:tc>
                  <a:txBody>
                    <a:bodyPr/>
                    <a:lstStyle/>
                    <a:p>
                      <a:pPr algn="l"/>
                      <a:r>
                        <a:rPr sz="1100" b="1">
                          <a:solidFill>
                            <a:srgbClr val="78350F"/>
                          </a:solidFill>
                          <a:latin typeface="Liberation Sans"/>
                        </a:rPr>
                        <a:t>0.6%</a:t>
                      </a:r>
                    </a:p>
                  </a:txBody>
                  <a:tcPr anchor="ctr" marL="73152" marR="73152" marT="27432" marB="27432">
                    <a:solidFill>
                      <a:srgbClr val="FFF6E0"/>
                    </a:solidFill>
                  </a:tcPr>
                </a:tc>
                <a:tc>
                  <a:txBody>
                    <a:bodyPr/>
                    <a:lstStyle/>
                    <a:p>
                      <a:pPr algn="l"/>
                      <a:r>
                        <a:rPr sz="1100" b="1">
                          <a:solidFill>
                            <a:srgbClr val="78350F"/>
                          </a:solidFill>
                          <a:latin typeface="Liberation Sans"/>
                        </a:rPr>
                        <a:t>0.72</a:t>
                      </a:r>
                    </a:p>
                  </a:txBody>
                  <a:tcPr anchor="ctr" marL="73152" marR="73152" marT="27432" marB="27432">
                    <a:solidFill>
                      <a:srgbClr val="FFF6E0"/>
                    </a:solidFill>
                  </a:tcPr>
                </a:tc>
                <a:tc>
                  <a:txBody>
                    <a:bodyPr/>
                    <a:lstStyle/>
                    <a:p>
                      <a:pPr algn="l"/>
                      <a:r>
                        <a:rPr sz="1100" b="1">
                          <a:solidFill>
                            <a:srgbClr val="78350F"/>
                          </a:solidFill>
                          <a:latin typeface="Liberation Sans"/>
                        </a:rPr>
                        <a:t>0.48 / 1.10 / 1.95</a:t>
                      </a:r>
                    </a:p>
                  </a:txBody>
                  <a:tcPr anchor="ctr" marL="73152" marR="73152" marT="27432" marB="27432">
                    <a:solidFill>
                      <a:srgbClr val="FFF6E0"/>
                    </a:solidFill>
                  </a:tcPr>
                </a:tc>
                <a:tc>
                  <a:txBody>
                    <a:bodyPr/>
                    <a:lstStyle/>
                    <a:p>
                      <a:pPr algn="l"/>
                      <a:r>
                        <a:rPr sz="1100" b="1">
                          <a:solidFill>
                            <a:srgbClr val="78350F"/>
                          </a:solidFill>
                          <a:latin typeface="Liberation Sans"/>
                        </a:rPr>
                        <a:t>PASS / PASS / fail</a:t>
                      </a:r>
                    </a:p>
                  </a:txBody>
                  <a:tcPr anchor="ctr" marL="73152" marR="73152" marT="27432" marB="27432">
                    <a:solidFill>
                      <a:srgbClr val="FFF6E0"/>
                    </a:solidFill>
                  </a:tcPr>
                </a:tc>
              </a:tr>
              <a:tr h="310896">
                <a:tc>
                  <a:txBody>
                    <a:bodyPr/>
                    <a:lstStyle/>
                    <a:p>
                      <a:pPr algn="l"/>
                      <a:r>
                        <a:rPr sz="1100" b="1">
                          <a:solidFill>
                            <a:srgbClr val="78350F"/>
                          </a:solidFill>
                          <a:latin typeface="Liberation Sans"/>
                        </a:rPr>
                        <a:t>ESKF + fixes, low-pass (sim)</a:t>
                      </a:r>
                    </a:p>
                  </a:txBody>
                  <a:tcPr anchor="ctr" marL="73152" marR="73152" marT="27432" marB="27432">
                    <a:solidFill>
                      <a:srgbClr val="FFF6E0"/>
                    </a:solidFill>
                  </a:tcPr>
                </a:tc>
                <a:tc>
                  <a:txBody>
                    <a:bodyPr/>
                    <a:lstStyle/>
                    <a:p>
                      <a:pPr algn="l"/>
                      <a:r>
                        <a:rPr sz="1100" b="1">
                          <a:solidFill>
                            <a:srgbClr val="78350F"/>
                          </a:solidFill>
                          <a:latin typeface="Liberation Sans"/>
                        </a:rPr>
                        <a:t>0.43</a:t>
                      </a:r>
                    </a:p>
                  </a:txBody>
                  <a:tcPr anchor="ctr" marL="73152" marR="73152" marT="27432" marB="27432">
                    <a:solidFill>
                      <a:srgbClr val="FFF6E0"/>
                    </a:solidFill>
                  </a:tcPr>
                </a:tc>
                <a:tc>
                  <a:txBody>
                    <a:bodyPr/>
                    <a:lstStyle/>
                    <a:p>
                      <a:pPr algn="l"/>
                      <a:r>
                        <a:rPr sz="1100" b="1">
                          <a:solidFill>
                            <a:srgbClr val="78350F"/>
                          </a:solidFill>
                          <a:latin typeface="Liberation Sans"/>
                        </a:rPr>
                        <a:t>0.33</a:t>
                      </a:r>
                    </a:p>
                  </a:txBody>
                  <a:tcPr anchor="ctr" marL="73152" marR="73152" marT="27432" marB="27432">
                    <a:solidFill>
                      <a:srgbClr val="FFF6E0"/>
                    </a:solidFill>
                  </a:tcPr>
                </a:tc>
                <a:tc>
                  <a:txBody>
                    <a:bodyPr/>
                    <a:lstStyle/>
                    <a:p>
                      <a:pPr algn="l"/>
                      <a:r>
                        <a:rPr sz="1100" b="1">
                          <a:solidFill>
                            <a:srgbClr val="78350F"/>
                          </a:solidFill>
                          <a:latin typeface="Liberation Sans"/>
                        </a:rPr>
                        <a:t>0.39</a:t>
                      </a:r>
                    </a:p>
                  </a:txBody>
                  <a:tcPr anchor="ctr" marL="73152" marR="73152" marT="27432" marB="27432">
                    <a:solidFill>
                      <a:srgbClr val="FFF6E0"/>
                    </a:solidFill>
                  </a:tcPr>
                </a:tc>
                <a:tc>
                  <a:txBody>
                    <a:bodyPr/>
                    <a:lstStyle/>
                    <a:p>
                      <a:pPr algn="l"/>
                      <a:r>
                        <a:rPr sz="1100" b="1">
                          <a:solidFill>
                            <a:srgbClr val="78350F"/>
                          </a:solidFill>
                          <a:latin typeface="Liberation Sans"/>
                        </a:rPr>
                        <a:t>0.7%</a:t>
                      </a:r>
                    </a:p>
                  </a:txBody>
                  <a:tcPr anchor="ctr" marL="73152" marR="73152" marT="27432" marB="27432">
                    <a:solidFill>
                      <a:srgbClr val="FFF6E0"/>
                    </a:solidFill>
                  </a:tcPr>
                </a:tc>
                <a:tc>
                  <a:txBody>
                    <a:bodyPr/>
                    <a:lstStyle/>
                    <a:p>
                      <a:pPr algn="l"/>
                      <a:r>
                        <a:rPr sz="1100" b="1">
                          <a:solidFill>
                            <a:srgbClr val="78350F"/>
                          </a:solidFill>
                          <a:latin typeface="Liberation Sans"/>
                        </a:rPr>
                        <a:t>0.71</a:t>
                      </a:r>
                    </a:p>
                  </a:txBody>
                  <a:tcPr anchor="ctr" marL="73152" marR="73152" marT="27432" marB="27432">
                    <a:solidFill>
                      <a:srgbClr val="FFF6E0"/>
                    </a:solidFill>
                  </a:tcPr>
                </a:tc>
                <a:tc>
                  <a:txBody>
                    <a:bodyPr/>
                    <a:lstStyle/>
                    <a:p>
                      <a:pPr algn="l"/>
                      <a:r>
                        <a:rPr sz="1100" b="1">
                          <a:solidFill>
                            <a:srgbClr val="78350F"/>
                          </a:solidFill>
                          <a:latin typeface="Liberation Sans"/>
                        </a:rPr>
                        <a:t>0.46 / 1.08 / 1.73</a:t>
                      </a:r>
                    </a:p>
                  </a:txBody>
                  <a:tcPr anchor="ctr" marL="73152" marR="73152" marT="27432" marB="27432">
                    <a:solidFill>
                      <a:srgbClr val="FFF6E0"/>
                    </a:solidFill>
                  </a:tcPr>
                </a:tc>
                <a:tc>
                  <a:txBody>
                    <a:bodyPr/>
                    <a:lstStyle/>
                    <a:p>
                      <a:pPr algn="l"/>
                      <a:r>
                        <a:rPr sz="1100" b="1">
                          <a:solidFill>
                            <a:srgbClr val="78350F"/>
                          </a:solidFill>
                          <a:latin typeface="Liberation Sans"/>
                        </a:rPr>
                        <a:t>PASS / PASS / fail</a:t>
                      </a:r>
                    </a:p>
                  </a:txBody>
                  <a:tcPr anchor="ctr" marL="73152" marR="73152" marT="27432" marB="27432">
                    <a:solidFill>
                      <a:srgbClr val="FFF6E0"/>
                    </a:solidFill>
                  </a:tcPr>
                </a:tc>
              </a:tr>
              <a:tr h="310896">
                <a:tc>
                  <a:txBody>
                    <a:bodyPr/>
                    <a:lstStyle/>
                    <a:p>
                      <a:pPr algn="l"/>
                      <a:r>
                        <a:rPr sz="1100" b="1">
                          <a:solidFill>
                            <a:srgbClr val="78350F"/>
                          </a:solidFill>
                          <a:latin typeface="Liberation Sans"/>
                        </a:rPr>
                        <a:t>ESKF + fixes, no grav (sim)</a:t>
                      </a:r>
                    </a:p>
                  </a:txBody>
                  <a:tcPr anchor="ctr" marL="73152" marR="73152" marT="27432" marB="27432">
                    <a:solidFill>
                      <a:srgbClr val="FFF6E0"/>
                    </a:solidFill>
                  </a:tcPr>
                </a:tc>
                <a:tc>
                  <a:txBody>
                    <a:bodyPr/>
                    <a:lstStyle/>
                    <a:p>
                      <a:pPr algn="l"/>
                      <a:r>
                        <a:rPr sz="1100" b="1">
                          <a:solidFill>
                            <a:srgbClr val="78350F"/>
                          </a:solidFill>
                          <a:latin typeface="Liberation Sans"/>
                        </a:rPr>
                        <a:t>0.85</a:t>
                      </a:r>
                    </a:p>
                  </a:txBody>
                  <a:tcPr anchor="ctr" marL="73152" marR="73152" marT="27432" marB="27432">
                    <a:solidFill>
                      <a:srgbClr val="FFF6E0"/>
                    </a:solidFill>
                  </a:tcPr>
                </a:tc>
                <a:tc>
                  <a:txBody>
                    <a:bodyPr/>
                    <a:lstStyle/>
                    <a:p>
                      <a:pPr algn="l"/>
                      <a:r>
                        <a:rPr sz="1100" b="1">
                          <a:solidFill>
                            <a:srgbClr val="78350F"/>
                          </a:solidFill>
                          <a:latin typeface="Liberation Sans"/>
                        </a:rPr>
                        <a:t>0.37</a:t>
                      </a:r>
                    </a:p>
                  </a:txBody>
                  <a:tcPr anchor="ctr" marL="73152" marR="73152" marT="27432" marB="27432">
                    <a:solidFill>
                      <a:srgbClr val="FFF6E0"/>
                    </a:solidFill>
                  </a:tcPr>
                </a:tc>
                <a:tc>
                  <a:txBody>
                    <a:bodyPr/>
                    <a:lstStyle/>
                    <a:p>
                      <a:pPr algn="l"/>
                      <a:r>
                        <a:rPr sz="1100" b="1">
                          <a:solidFill>
                            <a:srgbClr val="78350F"/>
                          </a:solidFill>
                          <a:latin typeface="Liberation Sans"/>
                        </a:rPr>
                        <a:t>0.41</a:t>
                      </a:r>
                    </a:p>
                  </a:txBody>
                  <a:tcPr anchor="ctr" marL="73152" marR="73152" marT="27432" marB="27432">
                    <a:solidFill>
                      <a:srgbClr val="FFF6E0"/>
                    </a:solidFill>
                  </a:tcPr>
                </a:tc>
                <a:tc>
                  <a:txBody>
                    <a:bodyPr/>
                    <a:lstStyle/>
                    <a:p>
                      <a:pPr algn="l"/>
                      <a:r>
                        <a:rPr sz="1100" b="1">
                          <a:solidFill>
                            <a:srgbClr val="78350F"/>
                          </a:solidFill>
                          <a:latin typeface="Liberation Sans"/>
                        </a:rPr>
                        <a:t>0.7%</a:t>
                      </a:r>
                    </a:p>
                  </a:txBody>
                  <a:tcPr anchor="ctr" marL="73152" marR="73152" marT="27432" marB="27432">
                    <a:solidFill>
                      <a:srgbClr val="FFF6E0"/>
                    </a:solidFill>
                  </a:tcPr>
                </a:tc>
                <a:tc>
                  <a:txBody>
                    <a:bodyPr/>
                    <a:lstStyle/>
                    <a:p>
                      <a:pPr algn="l"/>
                      <a:r>
                        <a:rPr sz="1100" b="1">
                          <a:solidFill>
                            <a:srgbClr val="78350F"/>
                          </a:solidFill>
                          <a:latin typeface="Liberation Sans"/>
                        </a:rPr>
                        <a:t>0.75</a:t>
                      </a:r>
                    </a:p>
                  </a:txBody>
                  <a:tcPr anchor="ctr" marL="73152" marR="73152" marT="27432" marB="27432">
                    <a:solidFill>
                      <a:srgbClr val="FFF6E0"/>
                    </a:solidFill>
                  </a:tcPr>
                </a:tc>
                <a:tc>
                  <a:txBody>
                    <a:bodyPr/>
                    <a:lstStyle/>
                    <a:p>
                      <a:pPr algn="l"/>
                      <a:r>
                        <a:rPr sz="1100" b="1">
                          <a:solidFill>
                            <a:srgbClr val="78350F"/>
                          </a:solidFill>
                          <a:latin typeface="Liberation Sans"/>
                        </a:rPr>
                        <a:t>0.48 / 1.11 / 1.91</a:t>
                      </a:r>
                    </a:p>
                  </a:txBody>
                  <a:tcPr anchor="ctr" marL="73152" marR="73152" marT="27432" marB="27432">
                    <a:solidFill>
                      <a:srgbClr val="FFF6E0"/>
                    </a:solidFill>
                  </a:tcPr>
                </a:tc>
                <a:tc>
                  <a:txBody>
                    <a:bodyPr/>
                    <a:lstStyle/>
                    <a:p>
                      <a:pPr algn="l"/>
                      <a:r>
                        <a:rPr sz="1100" b="1">
                          <a:solidFill>
                            <a:srgbClr val="78350F"/>
                          </a:solidFill>
                          <a:latin typeface="Liberation Sans"/>
                        </a:rPr>
                        <a:t>PASS / PASS / fail</a:t>
                      </a:r>
                    </a:p>
                  </a:txBody>
                  <a:tcPr anchor="ctr" marL="73152" marR="73152" marT="27432" marB="27432">
                    <a:solidFill>
                      <a:srgbClr val="FFF6E0"/>
                    </a:solidFill>
                  </a:tcPr>
                </a:tc>
              </a:tr>
              <a:tr h="310896">
                <a:tc>
                  <a:txBody>
                    <a:bodyPr/>
                    <a:lstStyle/>
                    <a:p>
                      <a:pPr algn="l"/>
                      <a:r>
                        <a:rPr sz="1100" b="1">
                          <a:solidFill>
                            <a:srgbClr val="78350F"/>
                          </a:solidFill>
                          <a:latin typeface="Liberation Sans"/>
                        </a:rPr>
                        <a:t>ESKF + UWB (gated, sim)</a:t>
                      </a:r>
                    </a:p>
                  </a:txBody>
                  <a:tcPr anchor="ctr" marL="73152" marR="73152" marT="27432" marB="27432">
                    <a:solidFill>
                      <a:srgbClr val="FFF6E0"/>
                    </a:solidFill>
                  </a:tcPr>
                </a:tc>
                <a:tc>
                  <a:txBody>
                    <a:bodyPr/>
                    <a:lstStyle/>
                    <a:p>
                      <a:pPr algn="l"/>
                      <a:r>
                        <a:rPr sz="1100" b="1">
                          <a:solidFill>
                            <a:srgbClr val="78350F"/>
                          </a:solidFill>
                          <a:latin typeface="Liberation Sans"/>
                        </a:rPr>
                        <a:t>0.12</a:t>
                      </a:r>
                    </a:p>
                  </a:txBody>
                  <a:tcPr anchor="ctr" marL="73152" marR="73152" marT="27432" marB="27432">
                    <a:solidFill>
                      <a:srgbClr val="FFF6E0"/>
                    </a:solidFill>
                  </a:tcPr>
                </a:tc>
                <a:tc>
                  <a:txBody>
                    <a:bodyPr/>
                    <a:lstStyle/>
                    <a:p>
                      <a:pPr algn="l"/>
                      <a:r>
                        <a:rPr sz="1100" b="1">
                          <a:solidFill>
                            <a:srgbClr val="78350F"/>
                          </a:solidFill>
                          <a:latin typeface="Liberation Sans"/>
                        </a:rPr>
                        <a:t>0.08</a:t>
                      </a:r>
                    </a:p>
                  </a:txBody>
                  <a:tcPr anchor="ctr" marL="73152" marR="73152" marT="27432" marB="27432">
                    <a:solidFill>
                      <a:srgbClr val="FFF6E0"/>
                    </a:solidFill>
                  </a:tcPr>
                </a:tc>
                <a:tc>
                  <a:txBody>
                    <a:bodyPr/>
                    <a:lstStyle/>
                    <a:p>
                      <a:pPr algn="l"/>
                      <a:r>
                        <a:rPr sz="1100" b="1">
                          <a:solidFill>
                            <a:srgbClr val="78350F"/>
                          </a:solidFill>
                          <a:latin typeface="Liberation Sans"/>
                        </a:rPr>
                        <a:t>0.16</a:t>
                      </a:r>
                    </a:p>
                  </a:txBody>
                  <a:tcPr anchor="ctr" marL="73152" marR="73152" marT="27432" marB="27432">
                    <a:solidFill>
                      <a:srgbClr val="FFF6E0"/>
                    </a:solidFill>
                  </a:tcPr>
                </a:tc>
                <a:tc>
                  <a:txBody>
                    <a:bodyPr/>
                    <a:lstStyle/>
                    <a:p>
                      <a:pPr algn="l"/>
                      <a:r>
                        <a:rPr sz="1100" b="1">
                          <a:solidFill>
                            <a:srgbClr val="78350F"/>
                          </a:solidFill>
                          <a:latin typeface="Liberation Sans"/>
                        </a:rPr>
                        <a:t>0.3%</a:t>
                      </a:r>
                    </a:p>
                  </a:txBody>
                  <a:tcPr anchor="ctr" marL="73152" marR="73152" marT="27432" marB="27432">
                    <a:solidFill>
                      <a:srgbClr val="FFF6E0"/>
                    </a:solidFill>
                  </a:tcPr>
                </a:tc>
                <a:tc>
                  <a:txBody>
                    <a:bodyPr/>
                    <a:lstStyle/>
                    <a:p>
                      <a:pPr algn="l"/>
                      <a:r>
                        <a:rPr sz="1100" b="1">
                          <a:solidFill>
                            <a:srgbClr val="78350F"/>
                          </a:solidFill>
                          <a:latin typeface="Liberation Sans"/>
                        </a:rPr>
                        <a:t>0.45</a:t>
                      </a:r>
                    </a:p>
                  </a:txBody>
                  <a:tcPr anchor="ctr" marL="73152" marR="73152" marT="27432" marB="27432">
                    <a:solidFill>
                      <a:srgbClr val="FFF6E0"/>
                    </a:solidFill>
                  </a:tcPr>
                </a:tc>
                <a:tc>
                  <a:txBody>
                    <a:bodyPr/>
                    <a:lstStyle/>
                    <a:p>
                      <a:pPr algn="l"/>
                      <a:r>
                        <a:rPr sz="1100" b="1">
                          <a:solidFill>
                            <a:srgbClr val="78350F"/>
                          </a:solidFill>
                          <a:latin typeface="Liberation Sans"/>
                        </a:rPr>
                        <a:t>0.12 / 0.24 / 0.43</a:t>
                      </a:r>
                    </a:p>
                  </a:txBody>
                  <a:tcPr anchor="ctr" marL="73152" marR="73152" marT="27432" marB="27432">
                    <a:solidFill>
                      <a:srgbClr val="FFF6E0"/>
                    </a:solidFill>
                  </a:tcPr>
                </a:tc>
                <a:tc>
                  <a:txBody>
                    <a:bodyPr/>
                    <a:lstStyle/>
                    <a:p>
                      <a:pPr algn="l"/>
                      <a:r>
                        <a:rPr sz="1100" b="1">
                          <a:solidFill>
                            <a:srgbClr val="78350F"/>
                          </a:solidFill>
                          <a:latin typeface="Liberation Sans"/>
                        </a:rPr>
                        <a:t>PASS / PASS / fail (0.43)</a:t>
                      </a:r>
                    </a:p>
                  </a:txBody>
                  <a:tcPr anchor="ctr" marL="73152" marR="73152" marT="27432" marB="27432">
                    <a:solidFill>
                      <a:srgbClr val="FFF6E0"/>
                    </a:solidFill>
                  </a:tcPr>
                </a:tc>
              </a:tr>
              <a:tr h="310896">
                <a:tc>
                  <a:txBody>
                    <a:bodyPr/>
                    <a:lstStyle/>
                    <a:p>
                      <a:pPr algn="l"/>
                      <a:r>
                        <a:rPr sz="1100" b="1">
                          <a:solidFill>
                            <a:srgbClr val="78350F"/>
                          </a:solidFill>
                          <a:latin typeface="Liberation Sans"/>
                        </a:rPr>
                        <a:t>ESKF + UWB (no gate, sim)</a:t>
                      </a:r>
                    </a:p>
                  </a:txBody>
                  <a:tcPr anchor="ctr" marL="73152" marR="73152" marT="27432" marB="27432">
                    <a:solidFill>
                      <a:srgbClr val="FFF6E0"/>
                    </a:solidFill>
                  </a:tcPr>
                </a:tc>
                <a:tc>
                  <a:txBody>
                    <a:bodyPr/>
                    <a:lstStyle/>
                    <a:p>
                      <a:pPr algn="l"/>
                      <a:r>
                        <a:rPr sz="1100" b="1">
                          <a:solidFill>
                            <a:srgbClr val="78350F"/>
                          </a:solidFill>
                          <a:latin typeface="Liberation Sans"/>
                        </a:rPr>
                        <a:t>0.09</a:t>
                      </a:r>
                    </a:p>
                  </a:txBody>
                  <a:tcPr anchor="ctr" marL="73152" marR="73152" marT="27432" marB="27432">
                    <a:solidFill>
                      <a:srgbClr val="FFF6E0"/>
                    </a:solidFill>
                  </a:tcPr>
                </a:tc>
                <a:tc>
                  <a:txBody>
                    <a:bodyPr/>
                    <a:lstStyle/>
                    <a:p>
                      <a:pPr algn="l"/>
                      <a:r>
                        <a:rPr sz="1100" b="1">
                          <a:solidFill>
                            <a:srgbClr val="78350F"/>
                          </a:solidFill>
                          <a:latin typeface="Liberation Sans"/>
                        </a:rPr>
                        <a:t>0.10</a:t>
                      </a:r>
                    </a:p>
                  </a:txBody>
                  <a:tcPr anchor="ctr" marL="73152" marR="73152" marT="27432" marB="27432">
                    <a:solidFill>
                      <a:srgbClr val="FFF6E0"/>
                    </a:solidFill>
                  </a:tcPr>
                </a:tc>
                <a:tc>
                  <a:txBody>
                    <a:bodyPr/>
                    <a:lstStyle/>
                    <a:p>
                      <a:pPr algn="l"/>
                      <a:r>
                        <a:rPr sz="1100" b="1">
                          <a:solidFill>
                            <a:srgbClr val="78350F"/>
                          </a:solidFill>
                          <a:latin typeface="Liberation Sans"/>
                        </a:rPr>
                        <a:t>0.28</a:t>
                      </a:r>
                    </a:p>
                  </a:txBody>
                  <a:tcPr anchor="ctr" marL="73152" marR="73152" marT="27432" marB="27432">
                    <a:solidFill>
                      <a:srgbClr val="FFF6E0"/>
                    </a:solidFill>
                  </a:tcPr>
                </a:tc>
                <a:tc>
                  <a:txBody>
                    <a:bodyPr/>
                    <a:lstStyle/>
                    <a:p>
                      <a:pPr algn="l"/>
                      <a:r>
                        <a:rPr sz="1100" b="1">
                          <a:solidFill>
                            <a:srgbClr val="78350F"/>
                          </a:solidFill>
                          <a:latin typeface="Liberation Sans"/>
                        </a:rPr>
                        <a:t>0.5%</a:t>
                      </a:r>
                    </a:p>
                  </a:txBody>
                  <a:tcPr anchor="ctr" marL="73152" marR="73152" marT="27432" marB="27432">
                    <a:solidFill>
                      <a:srgbClr val="FFF6E0"/>
                    </a:solidFill>
                  </a:tcPr>
                </a:tc>
                <a:tc>
                  <a:txBody>
                    <a:bodyPr/>
                    <a:lstStyle/>
                    <a:p>
                      <a:pPr algn="l"/>
                      <a:r>
                        <a:rPr sz="1100" b="1">
                          <a:solidFill>
                            <a:srgbClr val="78350F"/>
                          </a:solidFill>
                          <a:latin typeface="Liberation Sans"/>
                        </a:rPr>
                        <a:t>0.48</a:t>
                      </a:r>
                    </a:p>
                  </a:txBody>
                  <a:tcPr anchor="ctr" marL="73152" marR="73152" marT="27432" marB="27432">
                    <a:solidFill>
                      <a:srgbClr val="FFF6E0"/>
                    </a:solidFill>
                  </a:tcPr>
                </a:tc>
                <a:tc>
                  <a:txBody>
                    <a:bodyPr/>
                    <a:lstStyle/>
                    <a:p>
                      <a:pPr algn="l"/>
                      <a:r>
                        <a:rPr sz="1100" b="1">
                          <a:solidFill>
                            <a:srgbClr val="78350F"/>
                          </a:solidFill>
                          <a:latin typeface="Liberation Sans"/>
                        </a:rPr>
                        <a:t>0.19 / 0.40 / 0.80</a:t>
                      </a:r>
                    </a:p>
                  </a:txBody>
                  <a:tcPr anchor="ctr" marL="73152" marR="73152" marT="27432" marB="27432">
                    <a:solidFill>
                      <a:srgbClr val="FFF6E0"/>
                    </a:solidFill>
                  </a:tcPr>
                </a:tc>
                <a:tc>
                  <a:txBody>
                    <a:bodyPr/>
                    <a:lstStyle/>
                    <a:p>
                      <a:pPr algn="l"/>
                      <a:r>
                        <a:rPr sz="1100" b="1">
                          <a:solidFill>
                            <a:srgbClr val="78350F"/>
                          </a:solidFill>
                          <a:latin typeface="Liberation Sans"/>
                        </a:rPr>
                        <a:t>PASS / PASS / fail (0.80)</a:t>
                      </a:r>
                    </a:p>
                  </a:txBody>
                  <a:tcPr anchor="ctr" marL="73152" marR="73152" marT="27432" marB="27432">
                    <a:solidFill>
                      <a:srgbClr val="FFF6E0"/>
                    </a:solidFill>
                  </a:tcPr>
                </a:tc>
              </a:tr>
            </a:tbl>
          </a:graphicData>
        </a:graphic>
      </p:graphicFrame>
      <p:sp>
        <p:nvSpPr>
          <p:cNvPr id="6" name="TextBox 5"/>
          <p:cNvSpPr txBox="1"/>
          <p:nvPr/>
        </p:nvSpPr>
        <p:spPr>
          <a:xfrm>
            <a:off x="594360" y="6364224"/>
            <a:ext cx="11002975" cy="310896"/>
          </a:xfrm>
          <a:prstGeom prst="rect">
            <a:avLst/>
          </a:prstGeom>
          <a:noFill/>
        </p:spPr>
        <p:txBody>
          <a:bodyPr wrap="square" anchor="t" lIns="0" tIns="0" rIns="0" bIns="0">
            <a:spAutoFit/>
          </a:bodyPr>
          <a:lstStyle/>
          <a:p>
            <a:pPr algn="l"/>
            <a:r>
              <a:rPr sz="1400">
                <a:solidFill>
                  <a:srgbClr val="334155"/>
                </a:solidFill>
                <a:latin typeface="Liberation Sans"/>
              </a:rPr>
              <a:t>Team Pineapple | Appendix A4: Complete EuRoC V1_01 Error &amp; Tier Scorecard Table (All Aided Rows = Simulated) (24/25)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F4B7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3474720"/>
          </a:xfrm>
          <a:prstGeom prst="rect">
            <a:avLst/>
          </a:prstGeom>
          <a:noFill/>
        </p:spPr>
        <p:txBody>
          <a:bodyPr wrap="square">
            <a:spAutoFit/>
          </a:bodyPr>
          <a:lstStyle/>
          <a:p>
            <a:pPr>
              <a:spcAft>
                <a:spcPts val="1800"/>
              </a:spcAft>
            </a:pPr>
            <a:r>
              <a:rPr sz="3600" b="1">
                <a:solidFill>
                  <a:srgbClr val="F8FAFC"/>
                </a:solidFill>
                <a:latin typeface="Liberation Sans"/>
              </a:rPr>
              <a:t>Staged IMU calibration and filtering cut drift by two orders of magnitude.</a:t>
            </a:r>
          </a:p>
          <a:p>
            <a:pPr>
              <a:spcAft>
                <a:spcPts val="2800"/>
              </a:spcAft>
            </a:pPr>
            <a:r>
              <a:rPr sz="2200">
                <a:solidFill>
                  <a:srgbClr val="CBD5E1"/>
                </a:solidFill>
                <a:latin typeface="Liberation Sans"/>
              </a:rPr>
              <a:t>Thank You  —  Questions &amp; Discussion</a:t>
            </a:r>
          </a:p>
          <a:p>
            <a:r>
              <a:rPr sz="1600" b="1">
                <a:solidFill>
                  <a:srgbClr val="93C5FD"/>
                </a:solidFill>
                <a:latin typeface="Liberation Sans"/>
              </a:rPr>
              <a:t>Team Pineapple  |  Problem 4: IMU-Based Indoor Positioning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